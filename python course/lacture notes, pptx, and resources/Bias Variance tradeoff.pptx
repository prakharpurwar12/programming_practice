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2" r:id="rId6"/>
    <p:sldId id="263" r:id="rId7"/>
    <p:sldId id="258" r:id="rId8"/>
    <p:sldId id="259" r:id="rId9"/>
    <p:sldId id="260"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76AEE-3ED9-6049-89D2-DA213E4503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E639CF-2A79-D365-74CB-55E7CA8CB3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F8AB5C5-F8EB-0211-A7C0-EBE0F745CF1C}"/>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5" name="Footer Placeholder 4">
            <a:extLst>
              <a:ext uri="{FF2B5EF4-FFF2-40B4-BE49-F238E27FC236}">
                <a16:creationId xmlns:a16="http://schemas.microsoft.com/office/drawing/2014/main" id="{6664344B-9A35-4979-BC7A-77D818E724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C78883-B416-5DF9-C657-631C32B78BF7}"/>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4128793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8FCC4-8F82-7E98-A24A-4A1263FC86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45F405-0DAC-3878-1B5E-60D58211D0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CA89AB-B1D1-83DC-51A3-84BC077DC0F4}"/>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5" name="Footer Placeholder 4">
            <a:extLst>
              <a:ext uri="{FF2B5EF4-FFF2-40B4-BE49-F238E27FC236}">
                <a16:creationId xmlns:a16="http://schemas.microsoft.com/office/drawing/2014/main" id="{7D609C4D-E694-BFD1-9B90-89D89AFFDB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B79C8D-B44D-ED6F-A3A2-4F64295E3F45}"/>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1852947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3065-9047-9667-8003-B7632E0B10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6BE04E-BF1F-3C8B-4C11-747FD2F279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6D1900-1102-0CF6-D133-D4AA6E1AA51B}"/>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5" name="Footer Placeholder 4">
            <a:extLst>
              <a:ext uri="{FF2B5EF4-FFF2-40B4-BE49-F238E27FC236}">
                <a16:creationId xmlns:a16="http://schemas.microsoft.com/office/drawing/2014/main" id="{757E921E-4EB3-2AAD-427D-FE389E7246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D13F97-82B9-C921-B5CB-7CA5EDD5C747}"/>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2866554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D9EB-5C16-76E4-9AC6-297A212F2E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63FAE9-A76E-A1EA-8242-188E697E86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2563B5-9E8D-5994-9EB4-498937467E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9BD803-5453-D80D-D4B8-E6B3B3F72A98}"/>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6" name="Footer Placeholder 5">
            <a:extLst>
              <a:ext uri="{FF2B5EF4-FFF2-40B4-BE49-F238E27FC236}">
                <a16:creationId xmlns:a16="http://schemas.microsoft.com/office/drawing/2014/main" id="{26899B40-D2FA-CC75-F222-A4CC6A0689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1AD171-FD14-5B6F-FAF3-425ACA390A38}"/>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275629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F12FB-9192-7B80-DD62-A6BFB46014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199CC6-92C1-4EF4-39D2-9A288BD5F1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5EB9AA-7A78-243B-37ED-8CA77C82B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31712E7-262B-F49C-5EEC-47D3B2AA0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B1DA79-7630-BDD0-850C-356E909E38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7FFA23-4BEA-1865-EB7B-6B8BE5E77101}"/>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8" name="Footer Placeholder 7">
            <a:extLst>
              <a:ext uri="{FF2B5EF4-FFF2-40B4-BE49-F238E27FC236}">
                <a16:creationId xmlns:a16="http://schemas.microsoft.com/office/drawing/2014/main" id="{45020665-9E13-59B3-7998-947045EF2C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034C7C-2156-DADC-2B2C-AFF238A8F99F}"/>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126098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9D413-00DF-8FF0-5C14-BA259DDF47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0A4778-F80E-D90B-B86E-AB842CE87BBE}"/>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4" name="Footer Placeholder 3">
            <a:extLst>
              <a:ext uri="{FF2B5EF4-FFF2-40B4-BE49-F238E27FC236}">
                <a16:creationId xmlns:a16="http://schemas.microsoft.com/office/drawing/2014/main" id="{2E90A3D4-0C32-968B-6404-3845349483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E776283-2F63-A761-8936-B0DDBBEA3790}"/>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2657877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7D171A-AA3F-07D0-A321-77A0829BC3BE}"/>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3" name="Footer Placeholder 2">
            <a:extLst>
              <a:ext uri="{FF2B5EF4-FFF2-40B4-BE49-F238E27FC236}">
                <a16:creationId xmlns:a16="http://schemas.microsoft.com/office/drawing/2014/main" id="{3AC62810-D068-D249-9A4F-D30900738B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D2EECC-DFC9-7870-DA18-60FA61BE1156}"/>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316089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F332-4EF1-3274-9869-1FE5F4DCC1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6F52A3-0051-7795-7F93-8A9FF5E67C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AB80CD-E388-5CED-B7BC-51BE1C4792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381361-1C9A-9DBF-2805-7D831CE95EE0}"/>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6" name="Footer Placeholder 5">
            <a:extLst>
              <a:ext uri="{FF2B5EF4-FFF2-40B4-BE49-F238E27FC236}">
                <a16:creationId xmlns:a16="http://schemas.microsoft.com/office/drawing/2014/main" id="{7E3E437C-9601-E3C4-0BFB-64CBE3082C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64BC8B-E470-DA88-CE7C-97B550BCCF5A}"/>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3419325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93B57-8986-F2E0-2317-2ADD313E27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09A345-903C-E381-544B-4BC4DF5D8B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01FEE3-092F-73E7-78A8-32BFE8415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27B806-A276-FE96-C2F0-E72823A33ECC}"/>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6" name="Footer Placeholder 5">
            <a:extLst>
              <a:ext uri="{FF2B5EF4-FFF2-40B4-BE49-F238E27FC236}">
                <a16:creationId xmlns:a16="http://schemas.microsoft.com/office/drawing/2014/main" id="{A2AF8403-5D57-A4B1-5C5F-BD12AE4626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4AB654-B5BB-7C3A-8AA8-EBDA0FB0BFB3}"/>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2782028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DD526-8AC2-A0DB-D4B6-D644CB06373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14560C-6FF0-2B49-B937-DE07B9E326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5DFC49-3C2D-2FC7-39FA-D946776A4A41}"/>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5" name="Footer Placeholder 4">
            <a:extLst>
              <a:ext uri="{FF2B5EF4-FFF2-40B4-BE49-F238E27FC236}">
                <a16:creationId xmlns:a16="http://schemas.microsoft.com/office/drawing/2014/main" id="{53EED6D7-6335-29F2-AD43-474173EF7B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6A9889-8619-3CFD-47D5-5E1FB66016EB}"/>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618117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604441-3CCE-95EB-6D09-AEF73AFE60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3BFCB9-DB4E-8A49-BFA9-87FB24D9C6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5C4C22-E42B-9150-2E59-129EC85E188F}"/>
              </a:ext>
            </a:extLst>
          </p:cNvPr>
          <p:cNvSpPr>
            <a:spLocks noGrp="1"/>
          </p:cNvSpPr>
          <p:nvPr>
            <p:ph type="dt" sz="half" idx="10"/>
          </p:nvPr>
        </p:nvSpPr>
        <p:spPr/>
        <p:txBody>
          <a:bodyPr/>
          <a:lstStyle/>
          <a:p>
            <a:fld id="{FE3990DC-0FF9-48EE-BF3C-7087E7231CE8}" type="datetimeFigureOut">
              <a:rPr lang="en-IN" smtClean="0"/>
              <a:t>26-06-2025</a:t>
            </a:fld>
            <a:endParaRPr lang="en-IN"/>
          </a:p>
        </p:txBody>
      </p:sp>
      <p:sp>
        <p:nvSpPr>
          <p:cNvPr id="5" name="Footer Placeholder 4">
            <a:extLst>
              <a:ext uri="{FF2B5EF4-FFF2-40B4-BE49-F238E27FC236}">
                <a16:creationId xmlns:a16="http://schemas.microsoft.com/office/drawing/2014/main" id="{E7B923FA-0BAC-EC84-95E5-44284198EF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92DA60-0A11-2E3B-67FD-122AE490C6BE}"/>
              </a:ext>
            </a:extLst>
          </p:cNvPr>
          <p:cNvSpPr>
            <a:spLocks noGrp="1"/>
          </p:cNvSpPr>
          <p:nvPr>
            <p:ph type="sldNum" sz="quarter" idx="12"/>
          </p:nvPr>
        </p:nvSpPr>
        <p:spPr/>
        <p:txBody>
          <a:bodyPr/>
          <a:lstStyle/>
          <a:p>
            <a:fld id="{19A25094-8356-4124-A472-A84F4919D633}" type="slidenum">
              <a:rPr lang="en-IN" smtClean="0"/>
              <a:t>‹#›</a:t>
            </a:fld>
            <a:endParaRPr lang="en-IN"/>
          </a:p>
        </p:txBody>
      </p:sp>
    </p:spTree>
    <p:extLst>
      <p:ext uri="{BB962C8B-B14F-4D97-AF65-F5344CB8AC3E}">
        <p14:creationId xmlns:p14="http://schemas.microsoft.com/office/powerpoint/2010/main" val="2137383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239FDE-A733-7A9A-0C62-7A41B997C2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EDAF59-B964-D765-33E4-F94D00A6D4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4929D5-C88B-4DEF-7D6E-30689725B0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3990DC-0FF9-48EE-BF3C-7087E7231CE8}" type="datetimeFigureOut">
              <a:rPr lang="en-IN" smtClean="0"/>
              <a:t>26-06-2025</a:t>
            </a:fld>
            <a:endParaRPr lang="en-IN"/>
          </a:p>
        </p:txBody>
      </p:sp>
      <p:sp>
        <p:nvSpPr>
          <p:cNvPr id="5" name="Footer Placeholder 4">
            <a:extLst>
              <a:ext uri="{FF2B5EF4-FFF2-40B4-BE49-F238E27FC236}">
                <a16:creationId xmlns:a16="http://schemas.microsoft.com/office/drawing/2014/main" id="{F1FC1DC3-803D-4585-C2F6-6D76CF3924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224E068-8EAB-3887-C6C5-553A8830A5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A25094-8356-4124-A472-A84F4919D633}" type="slidenum">
              <a:rPr lang="en-IN" smtClean="0"/>
              <a:t>‹#›</a:t>
            </a:fld>
            <a:endParaRPr lang="en-IN"/>
          </a:p>
        </p:txBody>
      </p:sp>
    </p:spTree>
    <p:extLst>
      <p:ext uri="{BB962C8B-B14F-4D97-AF65-F5344CB8AC3E}">
        <p14:creationId xmlns:p14="http://schemas.microsoft.com/office/powerpoint/2010/main" val="3519988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813E1-32F3-D8FB-30D7-9D224E1B4DD6}"/>
              </a:ext>
            </a:extLst>
          </p:cNvPr>
          <p:cNvSpPr>
            <a:spLocks noGrp="1"/>
          </p:cNvSpPr>
          <p:nvPr>
            <p:ph type="ctrTitle"/>
          </p:nvPr>
        </p:nvSpPr>
        <p:spPr/>
        <p:txBody>
          <a:bodyPr/>
          <a:lstStyle/>
          <a:p>
            <a:r>
              <a:rPr lang="en-US" dirty="0"/>
              <a:t>Bias Variance tradeoff</a:t>
            </a:r>
            <a:endParaRPr lang="en-IN" dirty="0"/>
          </a:p>
        </p:txBody>
      </p:sp>
      <p:sp>
        <p:nvSpPr>
          <p:cNvPr id="3" name="Subtitle 2">
            <a:extLst>
              <a:ext uri="{FF2B5EF4-FFF2-40B4-BE49-F238E27FC236}">
                <a16:creationId xmlns:a16="http://schemas.microsoft.com/office/drawing/2014/main" id="{16D9923E-FBA2-3F70-65B8-AA2E768FBD49}"/>
              </a:ext>
            </a:extLst>
          </p:cNvPr>
          <p:cNvSpPr>
            <a:spLocks noGrp="1"/>
          </p:cNvSpPr>
          <p:nvPr>
            <p:ph type="subTitle" idx="1"/>
          </p:nvPr>
        </p:nvSpPr>
        <p:spPr/>
        <p:txBody>
          <a:bodyPr/>
          <a:lstStyle/>
          <a:p>
            <a:r>
              <a:rPr lang="en-US" dirty="0"/>
              <a:t>Mahipal Singh</a:t>
            </a:r>
            <a:endParaRPr lang="en-IN" dirty="0"/>
          </a:p>
        </p:txBody>
      </p:sp>
    </p:spTree>
    <p:extLst>
      <p:ext uri="{BB962C8B-B14F-4D97-AF65-F5344CB8AC3E}">
        <p14:creationId xmlns:p14="http://schemas.microsoft.com/office/powerpoint/2010/main" val="337415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13841-C440-C690-E2A4-9011D84D6F4B}"/>
              </a:ext>
            </a:extLst>
          </p:cNvPr>
          <p:cNvSpPr>
            <a:spLocks noGrp="1"/>
          </p:cNvSpPr>
          <p:nvPr>
            <p:ph type="title"/>
          </p:nvPr>
        </p:nvSpPr>
        <p:spPr/>
        <p:txBody>
          <a:bodyPr/>
          <a:lstStyle/>
          <a:p>
            <a:r>
              <a:rPr lang="en-US" b="1" dirty="0"/>
              <a:t>Bias (Underfitting)</a:t>
            </a:r>
            <a:br>
              <a:rPr lang="en-US" b="1" dirty="0"/>
            </a:br>
            <a:endParaRPr lang="en-IN" dirty="0"/>
          </a:p>
        </p:txBody>
      </p:sp>
      <p:sp>
        <p:nvSpPr>
          <p:cNvPr id="3" name="Content Placeholder 2">
            <a:extLst>
              <a:ext uri="{FF2B5EF4-FFF2-40B4-BE49-F238E27FC236}">
                <a16:creationId xmlns:a16="http://schemas.microsoft.com/office/drawing/2014/main" id="{6D6FA189-F44A-5D25-4C6D-C3078F286A5D}"/>
              </a:ext>
            </a:extLst>
          </p:cNvPr>
          <p:cNvSpPr>
            <a:spLocks noGrp="1"/>
          </p:cNvSpPr>
          <p:nvPr>
            <p:ph idx="1"/>
          </p:nvPr>
        </p:nvSpPr>
        <p:spPr/>
        <p:txBody>
          <a:bodyPr/>
          <a:lstStyle/>
          <a:p>
            <a:r>
              <a:rPr lang="en-US" dirty="0"/>
              <a:t>Bias refers to the error due to overly simplistic assumptions in the learning algorithm. A model with high bias tends to underfit the data, meaning it oversimplifies the underlying patterns. This leads to poor predictive performance as the model cannot capture the complexity of the real-world problem.</a:t>
            </a:r>
          </a:p>
          <a:p>
            <a:endParaRPr lang="en-IN" dirty="0"/>
          </a:p>
        </p:txBody>
      </p:sp>
    </p:spTree>
    <p:extLst>
      <p:ext uri="{BB962C8B-B14F-4D97-AF65-F5344CB8AC3E}">
        <p14:creationId xmlns:p14="http://schemas.microsoft.com/office/powerpoint/2010/main" val="2208090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70837-2976-5A27-E931-D1C07437E561}"/>
              </a:ext>
            </a:extLst>
          </p:cNvPr>
          <p:cNvSpPr>
            <a:spLocks noGrp="1"/>
          </p:cNvSpPr>
          <p:nvPr>
            <p:ph type="title"/>
          </p:nvPr>
        </p:nvSpPr>
        <p:spPr/>
        <p:txBody>
          <a:bodyPr/>
          <a:lstStyle/>
          <a:p>
            <a:r>
              <a:rPr lang="en-US" b="1" dirty="0"/>
              <a:t>Variance (Overfitting)</a:t>
            </a:r>
            <a:br>
              <a:rPr lang="en-US" b="1" dirty="0"/>
            </a:br>
            <a:endParaRPr lang="en-IN" dirty="0"/>
          </a:p>
        </p:txBody>
      </p:sp>
      <p:sp>
        <p:nvSpPr>
          <p:cNvPr id="3" name="Content Placeholder 2">
            <a:extLst>
              <a:ext uri="{FF2B5EF4-FFF2-40B4-BE49-F238E27FC236}">
                <a16:creationId xmlns:a16="http://schemas.microsoft.com/office/drawing/2014/main" id="{B3AEA6F1-F6A1-83E8-3BAD-E11A3E2213E4}"/>
              </a:ext>
            </a:extLst>
          </p:cNvPr>
          <p:cNvSpPr>
            <a:spLocks noGrp="1"/>
          </p:cNvSpPr>
          <p:nvPr>
            <p:ph idx="1"/>
          </p:nvPr>
        </p:nvSpPr>
        <p:spPr/>
        <p:txBody>
          <a:bodyPr/>
          <a:lstStyle/>
          <a:p>
            <a:r>
              <a:rPr lang="en-US" dirty="0"/>
              <a:t>Variance, on the other hand, is the error due to excessive complexity in the learning algorithm. A model with high variance captures not only the underlying patterns but also the noise in the training data. This leads to poor generalization to unseen data.</a:t>
            </a:r>
          </a:p>
          <a:p>
            <a:endParaRPr lang="en-IN" dirty="0"/>
          </a:p>
        </p:txBody>
      </p:sp>
    </p:spTree>
    <p:extLst>
      <p:ext uri="{BB962C8B-B14F-4D97-AF65-F5344CB8AC3E}">
        <p14:creationId xmlns:p14="http://schemas.microsoft.com/office/powerpoint/2010/main" val="2533352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870DC-0DC5-EC3E-6F8F-8736420D5185}"/>
              </a:ext>
            </a:extLst>
          </p:cNvPr>
          <p:cNvSpPr>
            <a:spLocks noGrp="1"/>
          </p:cNvSpPr>
          <p:nvPr>
            <p:ph type="title"/>
          </p:nvPr>
        </p:nvSpPr>
        <p:spPr/>
        <p:txBody>
          <a:bodyPr/>
          <a:lstStyle/>
          <a:p>
            <a:r>
              <a:rPr lang="en-US" dirty="0"/>
              <a:t>The bias-variance tradeoff</a:t>
            </a:r>
            <a:endParaRPr lang="en-IN" dirty="0"/>
          </a:p>
        </p:txBody>
      </p:sp>
      <p:sp>
        <p:nvSpPr>
          <p:cNvPr id="3" name="Content Placeholder 2">
            <a:extLst>
              <a:ext uri="{FF2B5EF4-FFF2-40B4-BE49-F238E27FC236}">
                <a16:creationId xmlns:a16="http://schemas.microsoft.com/office/drawing/2014/main" id="{B2C78DC3-E478-5557-DADD-ABA9518BA2B4}"/>
              </a:ext>
            </a:extLst>
          </p:cNvPr>
          <p:cNvSpPr>
            <a:spLocks noGrp="1"/>
          </p:cNvSpPr>
          <p:nvPr>
            <p:ph idx="1"/>
          </p:nvPr>
        </p:nvSpPr>
        <p:spPr/>
        <p:txBody>
          <a:bodyPr/>
          <a:lstStyle/>
          <a:p>
            <a:r>
              <a:rPr lang="en-US" dirty="0"/>
              <a:t>If our model is too simple and has very few parameters then it may have high bias and low variance. </a:t>
            </a:r>
          </a:p>
          <a:p>
            <a:r>
              <a:rPr lang="en-US" dirty="0"/>
              <a:t>On the other hand if our model has large number of parameters then it’s going to have high variance and low bias. So we need to find the right/good balance without overfitting and underfitting the data.</a:t>
            </a:r>
          </a:p>
          <a:p>
            <a:r>
              <a:rPr lang="en-US" dirty="0"/>
              <a:t>This tradeoff in complexity is why there is a tradeoff between bias and variance. An algorithm can’t be more complex and less complex at the same time.</a:t>
            </a:r>
          </a:p>
        </p:txBody>
      </p:sp>
    </p:spTree>
    <p:extLst>
      <p:ext uri="{BB962C8B-B14F-4D97-AF65-F5344CB8AC3E}">
        <p14:creationId xmlns:p14="http://schemas.microsoft.com/office/powerpoint/2010/main" val="3765714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a:extLst>
              <a:ext uri="{FF2B5EF4-FFF2-40B4-BE49-F238E27FC236}">
                <a16:creationId xmlns:a16="http://schemas.microsoft.com/office/drawing/2014/main" id="{4DA002D9-955D-AE9B-F96E-E94739B510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8924"/>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697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341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6D4F741F-2368-2872-92B9-DC1C5EE3F3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302513"/>
            <a:ext cx="10905066" cy="4252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588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8BDFE-974C-85F6-1D7D-88AA183318B4}"/>
              </a:ext>
            </a:extLst>
          </p:cNvPr>
          <p:cNvSpPr>
            <a:spLocks noGrp="1"/>
          </p:cNvSpPr>
          <p:nvPr>
            <p:ph type="title"/>
          </p:nvPr>
        </p:nvSpPr>
        <p:spPr/>
        <p:txBody>
          <a:bodyPr>
            <a:normAutofit fontScale="90000"/>
          </a:bodyPr>
          <a:lstStyle/>
          <a:p>
            <a:r>
              <a:rPr lang="en-IN" dirty="0"/>
              <a:t>Bias-Variance </a:t>
            </a:r>
            <a:r>
              <a:rPr lang="en-IN" dirty="0" err="1"/>
              <a:t>Tradeoff</a:t>
            </a:r>
            <a:r>
              <a:rPr lang="en-IN" dirty="0"/>
              <a:t> is applicable in various machine learning use cases, including:</a:t>
            </a:r>
            <a:br>
              <a:rPr lang="en-IN" dirty="0"/>
            </a:br>
            <a:endParaRPr lang="en-IN" dirty="0"/>
          </a:p>
        </p:txBody>
      </p:sp>
      <p:sp>
        <p:nvSpPr>
          <p:cNvPr id="3" name="Content Placeholder 2">
            <a:extLst>
              <a:ext uri="{FF2B5EF4-FFF2-40B4-BE49-F238E27FC236}">
                <a16:creationId xmlns:a16="http://schemas.microsoft.com/office/drawing/2014/main" id="{1E585B23-1F03-2FAC-9776-91478E73A0E5}"/>
              </a:ext>
            </a:extLst>
          </p:cNvPr>
          <p:cNvSpPr>
            <a:spLocks noGrp="1"/>
          </p:cNvSpPr>
          <p:nvPr>
            <p:ph idx="1"/>
          </p:nvPr>
        </p:nvSpPr>
        <p:spPr/>
        <p:txBody>
          <a:bodyPr>
            <a:normAutofit/>
          </a:bodyPr>
          <a:lstStyle/>
          <a:p>
            <a:pPr fontAlgn="base"/>
            <a:r>
              <a:rPr lang="en-IN" b="1" dirty="0"/>
              <a:t>Financial Forecasting: </a:t>
            </a:r>
            <a:r>
              <a:rPr lang="en-IN" dirty="0"/>
              <a:t>Achieving accurate predictions for stock prices, market trends, and investment opportunities.</a:t>
            </a:r>
          </a:p>
          <a:p>
            <a:pPr fontAlgn="base"/>
            <a:r>
              <a:rPr lang="en-IN" b="1" dirty="0"/>
              <a:t>Medical Diagnostics: </a:t>
            </a:r>
            <a:r>
              <a:rPr lang="en-IN" dirty="0"/>
              <a:t>Building reliable models for disease diagnosis and patient risk assessment.</a:t>
            </a:r>
          </a:p>
          <a:p>
            <a:pPr fontAlgn="base"/>
            <a:r>
              <a:rPr lang="en-IN" b="1" dirty="0"/>
              <a:t>Customer </a:t>
            </a:r>
            <a:r>
              <a:rPr lang="en-IN" b="1" dirty="0" err="1"/>
              <a:t>Behavior</a:t>
            </a:r>
            <a:r>
              <a:rPr lang="en-IN" b="1" dirty="0"/>
              <a:t> Analysis: </a:t>
            </a:r>
            <a:r>
              <a:rPr lang="en-IN" dirty="0"/>
              <a:t>Understanding customer preferences and optimizing marketing strategies.</a:t>
            </a:r>
          </a:p>
          <a:p>
            <a:pPr fontAlgn="base"/>
            <a:r>
              <a:rPr lang="en-IN" b="1" dirty="0"/>
              <a:t>Natural Language Processing: </a:t>
            </a:r>
            <a:r>
              <a:rPr lang="en-IN" dirty="0"/>
              <a:t>Developing language models for sentiment analysis, chatbots, and text generation.</a:t>
            </a:r>
          </a:p>
          <a:p>
            <a:endParaRPr lang="en-IN" dirty="0"/>
          </a:p>
        </p:txBody>
      </p:sp>
    </p:spTree>
    <p:extLst>
      <p:ext uri="{BB962C8B-B14F-4D97-AF65-F5344CB8AC3E}">
        <p14:creationId xmlns:p14="http://schemas.microsoft.com/office/powerpoint/2010/main" val="2865238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6622C-BDFA-8E52-61E4-632DC48A4AFB}"/>
              </a:ext>
            </a:extLst>
          </p:cNvPr>
          <p:cNvSpPr>
            <a:spLocks noGrp="1"/>
          </p:cNvSpPr>
          <p:nvPr>
            <p:ph type="title"/>
          </p:nvPr>
        </p:nvSpPr>
        <p:spPr>
          <a:xfrm>
            <a:off x="838200" y="1540932"/>
            <a:ext cx="10515600" cy="149755"/>
          </a:xfrm>
        </p:spPr>
        <p:txBody>
          <a:bodyPr>
            <a:normAutofit fontScale="90000"/>
          </a:bodyPr>
          <a:lstStyle/>
          <a:p>
            <a:r>
              <a:rPr lang="en-US" dirty="0"/>
              <a:t>Several related concepts and techniques contribute to understanding and managing the bias-variance tradeoff:</a:t>
            </a:r>
            <a:br>
              <a:rPr lang="en-US" dirty="0"/>
            </a:br>
            <a:endParaRPr lang="en-IN" dirty="0"/>
          </a:p>
        </p:txBody>
      </p:sp>
      <p:sp>
        <p:nvSpPr>
          <p:cNvPr id="3" name="Content Placeholder 2">
            <a:extLst>
              <a:ext uri="{FF2B5EF4-FFF2-40B4-BE49-F238E27FC236}">
                <a16:creationId xmlns:a16="http://schemas.microsoft.com/office/drawing/2014/main" id="{9A9284AB-1BF4-062A-9619-20CF816C9B04}"/>
              </a:ext>
            </a:extLst>
          </p:cNvPr>
          <p:cNvSpPr>
            <a:spLocks noGrp="1"/>
          </p:cNvSpPr>
          <p:nvPr>
            <p:ph idx="1"/>
          </p:nvPr>
        </p:nvSpPr>
        <p:spPr>
          <a:xfrm>
            <a:off x="838200" y="2650067"/>
            <a:ext cx="10515600" cy="3526896"/>
          </a:xfrm>
        </p:spPr>
        <p:txBody>
          <a:bodyPr>
            <a:normAutofit lnSpcReduction="10000"/>
          </a:bodyPr>
          <a:lstStyle/>
          <a:p>
            <a:pPr fontAlgn="base"/>
            <a:r>
              <a:rPr lang="en-US" b="1" dirty="0"/>
              <a:t>Regularization: </a:t>
            </a:r>
            <a:r>
              <a:rPr lang="en-US" dirty="0"/>
              <a:t>A technique used to control model complexity and prevent overfitting by penalizing large parameter values.</a:t>
            </a:r>
          </a:p>
          <a:p>
            <a:pPr fontAlgn="base"/>
            <a:r>
              <a:rPr lang="en-US" b="1" dirty="0"/>
              <a:t>Cross-Validation: </a:t>
            </a:r>
            <a:r>
              <a:rPr lang="en-US" dirty="0"/>
              <a:t>A method to evaluate a model's performance on multiple data subsets, helping to estimate bias and variance.</a:t>
            </a:r>
          </a:p>
          <a:p>
            <a:pPr fontAlgn="base"/>
            <a:r>
              <a:rPr lang="en-US" b="1" dirty="0"/>
              <a:t>Ensemble Methods: </a:t>
            </a:r>
            <a:r>
              <a:rPr lang="en-US" dirty="0"/>
              <a:t>Combining multiple models to reduce variance and improve overall predictive performance.</a:t>
            </a:r>
          </a:p>
          <a:p>
            <a:r>
              <a:rPr lang="en-US" b="1" dirty="0"/>
              <a:t>Feature Selection: </a:t>
            </a:r>
            <a:r>
              <a:rPr lang="en-US" dirty="0"/>
              <a:t>Choose relevant features.</a:t>
            </a:r>
          </a:p>
          <a:p>
            <a:r>
              <a:rPr lang="en-IN" b="1" dirty="0"/>
              <a:t>Collect More Data: </a:t>
            </a:r>
            <a:endParaRPr lang="en-US" b="1" dirty="0"/>
          </a:p>
          <a:p>
            <a:endParaRPr lang="en-US" b="1" dirty="0"/>
          </a:p>
          <a:p>
            <a:pPr fontAlgn="base"/>
            <a:endParaRPr lang="en-US" dirty="0"/>
          </a:p>
          <a:p>
            <a:endParaRPr lang="en-IN" dirty="0"/>
          </a:p>
        </p:txBody>
      </p:sp>
    </p:spTree>
    <p:extLst>
      <p:ext uri="{BB962C8B-B14F-4D97-AF65-F5344CB8AC3E}">
        <p14:creationId xmlns:p14="http://schemas.microsoft.com/office/powerpoint/2010/main" val="556443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587D2-432F-ACED-B759-80792CDFC9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B6131F-7D2C-7DD4-325C-6A78F500DEE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84537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A039-7C37-148D-F77A-0CF190C121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052D5EB-D500-3E67-7328-402A3DE3BDC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92088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TotalTime>
  <Words>361</Words>
  <Application>Microsoft Office PowerPoint</Application>
  <PresentationFormat>Widescreen</PresentationFormat>
  <Paragraphs>22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Bias Variance tradeoff</vt:lpstr>
      <vt:lpstr>Bias (Underfitting) </vt:lpstr>
      <vt:lpstr>Variance (Overfitting) </vt:lpstr>
      <vt:lpstr>The bias-variance tradeoff</vt:lpstr>
      <vt:lpstr>PowerPoint Presentation</vt:lpstr>
      <vt:lpstr>PowerPoint Presentation</vt:lpstr>
      <vt:lpstr>Bias-Variance Tradeoff is applicable in various machine learning use cases, including: </vt:lpstr>
      <vt:lpstr>Several related concepts and techniques contribute to understanding and managing the bias-variance tradeoff: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Mahipal Singh</dc:creator>
  <cp:lastModifiedBy>Mahipal Singh</cp:lastModifiedBy>
  <cp:revision>1</cp:revision>
  <dcterms:created xsi:type="dcterms:W3CDTF">2025-06-26T04:12:31Z</dcterms:created>
  <dcterms:modified xsi:type="dcterms:W3CDTF">2025-06-26T08:40:21Z</dcterms:modified>
</cp:coreProperties>
</file>