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62" r:id="rId3"/>
    <p:sldId id="257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0AF9E5-7230-461E-BE30-54C97B66D136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06D8F1F-278A-431E-81F9-C3A71F8EA48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Should You learn SQL in an AI/ML Course Today?</a:t>
          </a:r>
          <a:endParaRPr lang="en-US"/>
        </a:p>
      </dgm:t>
    </dgm:pt>
    <dgm:pt modelId="{725072EE-1437-41FF-BC63-BDDD6AD5961F}" type="parTrans" cxnId="{51142787-A49A-4D2F-B037-725CE072B848}">
      <dgm:prSet/>
      <dgm:spPr/>
      <dgm:t>
        <a:bodyPr/>
        <a:lstStyle/>
        <a:p>
          <a:endParaRPr lang="en-US"/>
        </a:p>
      </dgm:t>
    </dgm:pt>
    <dgm:pt modelId="{E18F0356-4374-4D65-B57F-F01E4DC474B5}" type="sibTrans" cxnId="{51142787-A49A-4D2F-B037-725CE072B848}">
      <dgm:prSet/>
      <dgm:spPr/>
      <dgm:t>
        <a:bodyPr/>
        <a:lstStyle/>
        <a:p>
          <a:endParaRPr lang="en-US"/>
        </a:p>
      </dgm:t>
    </dgm:pt>
    <dgm:pt modelId="{6BC64FFA-13CC-4DC1-90F0-551F81A000B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Answer:</a:t>
          </a:r>
          <a:endParaRPr lang="en-US"/>
        </a:p>
      </dgm:t>
    </dgm:pt>
    <dgm:pt modelId="{32AE896C-FC48-4B4A-A372-B4A02178E6AD}" type="parTrans" cxnId="{BF73AFD2-16B4-4323-A577-5923946C4A11}">
      <dgm:prSet/>
      <dgm:spPr/>
      <dgm:t>
        <a:bodyPr/>
        <a:lstStyle/>
        <a:p>
          <a:endParaRPr lang="en-US"/>
        </a:p>
      </dgm:t>
    </dgm:pt>
    <dgm:pt modelId="{EA2FD097-5E96-4E9C-A704-F7237EA802F1}" type="sibTrans" cxnId="{BF73AFD2-16B4-4323-A577-5923946C4A11}">
      <dgm:prSet/>
      <dgm:spPr/>
      <dgm:t>
        <a:bodyPr/>
        <a:lstStyle/>
        <a:p>
          <a:endParaRPr lang="en-US"/>
        </a:p>
      </dgm:t>
    </dgm:pt>
    <dgm:pt modelId="{BF344FB5-C9A9-4287-B769-2FDCB0977B5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Learn basic SQL</a:t>
          </a:r>
          <a:r>
            <a:rPr lang="en-IN"/>
            <a:t>, but </a:t>
          </a:r>
          <a:r>
            <a:rPr lang="en-IN" b="1"/>
            <a:t>keep it minimal</a:t>
          </a:r>
          <a:r>
            <a:rPr lang="en-IN"/>
            <a:t> and </a:t>
          </a:r>
          <a:r>
            <a:rPr lang="en-IN" b="1"/>
            <a:t>contextual to AI/ML workflows</a:t>
          </a:r>
          <a:endParaRPr lang="en-US"/>
        </a:p>
      </dgm:t>
    </dgm:pt>
    <dgm:pt modelId="{B6691BA9-F1A6-419D-A69F-873634C5B65A}" type="parTrans" cxnId="{B693AE80-09A4-4BC7-B09A-C4FDD0C90D5C}">
      <dgm:prSet/>
      <dgm:spPr/>
      <dgm:t>
        <a:bodyPr/>
        <a:lstStyle/>
        <a:p>
          <a:endParaRPr lang="en-US"/>
        </a:p>
      </dgm:t>
    </dgm:pt>
    <dgm:pt modelId="{DD2C14F9-B4BD-44D7-875E-39E8C3BC07DA}" type="sibTrans" cxnId="{B693AE80-09A4-4BC7-B09A-C4FDD0C90D5C}">
      <dgm:prSet/>
      <dgm:spPr/>
      <dgm:t>
        <a:bodyPr/>
        <a:lstStyle/>
        <a:p>
          <a:endParaRPr lang="en-US"/>
        </a:p>
      </dgm:t>
    </dgm:pt>
    <dgm:pt modelId="{78AEE27F-C327-4367-9C90-4537EEA04EC7}" type="pres">
      <dgm:prSet presAssocID="{E90AF9E5-7230-461E-BE30-54C97B66D136}" presName="root" presStyleCnt="0">
        <dgm:presLayoutVars>
          <dgm:dir/>
          <dgm:resizeHandles val="exact"/>
        </dgm:presLayoutVars>
      </dgm:prSet>
      <dgm:spPr/>
    </dgm:pt>
    <dgm:pt modelId="{977BC124-F7FE-4E3B-A30E-261F4A49F4ED}" type="pres">
      <dgm:prSet presAssocID="{D06D8F1F-278A-431E-81F9-C3A71F8EA48F}" presName="compNode" presStyleCnt="0"/>
      <dgm:spPr/>
    </dgm:pt>
    <dgm:pt modelId="{2DE2D01A-8DB4-41D7-8909-2DFBEBA34A3E}" type="pres">
      <dgm:prSet presAssocID="{D06D8F1F-278A-431E-81F9-C3A71F8EA48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40948AA-1E18-46FD-B828-2BB9B3A9D07D}" type="pres">
      <dgm:prSet presAssocID="{D06D8F1F-278A-431E-81F9-C3A71F8EA48F}" presName="spaceRect" presStyleCnt="0"/>
      <dgm:spPr/>
    </dgm:pt>
    <dgm:pt modelId="{3B519FC8-234E-4F79-8362-2C76FDC8FEEC}" type="pres">
      <dgm:prSet presAssocID="{D06D8F1F-278A-431E-81F9-C3A71F8EA48F}" presName="textRect" presStyleLbl="revTx" presStyleIdx="0" presStyleCnt="3">
        <dgm:presLayoutVars>
          <dgm:chMax val="1"/>
          <dgm:chPref val="1"/>
        </dgm:presLayoutVars>
      </dgm:prSet>
      <dgm:spPr/>
    </dgm:pt>
    <dgm:pt modelId="{E53FD89E-81BB-45FD-92B4-6911F175C425}" type="pres">
      <dgm:prSet presAssocID="{E18F0356-4374-4D65-B57F-F01E4DC474B5}" presName="sibTrans" presStyleCnt="0"/>
      <dgm:spPr/>
    </dgm:pt>
    <dgm:pt modelId="{A9E6949C-F35B-4983-9769-95F67102F46E}" type="pres">
      <dgm:prSet presAssocID="{6BC64FFA-13CC-4DC1-90F0-551F81A000B7}" presName="compNode" presStyleCnt="0"/>
      <dgm:spPr/>
    </dgm:pt>
    <dgm:pt modelId="{C3773FEB-75CC-42CE-B4C8-4AE2744B0F36}" type="pres">
      <dgm:prSet presAssocID="{6BC64FFA-13CC-4DC1-90F0-551F81A000B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CA2F5203-369A-4232-B7CC-67381031BE8A}" type="pres">
      <dgm:prSet presAssocID="{6BC64FFA-13CC-4DC1-90F0-551F81A000B7}" presName="spaceRect" presStyleCnt="0"/>
      <dgm:spPr/>
    </dgm:pt>
    <dgm:pt modelId="{32145AB2-2E59-4E49-93D5-24F7C52E165C}" type="pres">
      <dgm:prSet presAssocID="{6BC64FFA-13CC-4DC1-90F0-551F81A000B7}" presName="textRect" presStyleLbl="revTx" presStyleIdx="1" presStyleCnt="3">
        <dgm:presLayoutVars>
          <dgm:chMax val="1"/>
          <dgm:chPref val="1"/>
        </dgm:presLayoutVars>
      </dgm:prSet>
      <dgm:spPr/>
    </dgm:pt>
    <dgm:pt modelId="{D4896384-C09E-4D0C-8C33-1FBB322BBA0D}" type="pres">
      <dgm:prSet presAssocID="{EA2FD097-5E96-4E9C-A704-F7237EA802F1}" presName="sibTrans" presStyleCnt="0"/>
      <dgm:spPr/>
    </dgm:pt>
    <dgm:pt modelId="{8EE8F801-A425-4A84-9AA6-22BFA56244D5}" type="pres">
      <dgm:prSet presAssocID="{BF344FB5-C9A9-4287-B769-2FDCB0977B5E}" presName="compNode" presStyleCnt="0"/>
      <dgm:spPr/>
    </dgm:pt>
    <dgm:pt modelId="{BE5163AE-22AD-4547-949D-0785BC8AC42A}" type="pres">
      <dgm:prSet presAssocID="{BF344FB5-C9A9-4287-B769-2FDCB0977B5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9CB0036-574E-4C47-995A-D9DAA7737BE0}" type="pres">
      <dgm:prSet presAssocID="{BF344FB5-C9A9-4287-B769-2FDCB0977B5E}" presName="spaceRect" presStyleCnt="0"/>
      <dgm:spPr/>
    </dgm:pt>
    <dgm:pt modelId="{78558F4A-9EDB-4635-9E54-D207267F6CE1}" type="pres">
      <dgm:prSet presAssocID="{BF344FB5-C9A9-4287-B769-2FDCB0977B5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091651F-0B58-4ACE-A668-CB41E27889AB}" type="presOf" srcId="{E90AF9E5-7230-461E-BE30-54C97B66D136}" destId="{78AEE27F-C327-4367-9C90-4537EEA04EC7}" srcOrd="0" destOrd="0" presId="urn:microsoft.com/office/officeart/2018/2/layout/IconLabelList"/>
    <dgm:cxn modelId="{B693AE80-09A4-4BC7-B09A-C4FDD0C90D5C}" srcId="{E90AF9E5-7230-461E-BE30-54C97B66D136}" destId="{BF344FB5-C9A9-4287-B769-2FDCB0977B5E}" srcOrd="2" destOrd="0" parTransId="{B6691BA9-F1A6-419D-A69F-873634C5B65A}" sibTransId="{DD2C14F9-B4BD-44D7-875E-39E8C3BC07DA}"/>
    <dgm:cxn modelId="{51142787-A49A-4D2F-B037-725CE072B848}" srcId="{E90AF9E5-7230-461E-BE30-54C97B66D136}" destId="{D06D8F1F-278A-431E-81F9-C3A71F8EA48F}" srcOrd="0" destOrd="0" parTransId="{725072EE-1437-41FF-BC63-BDDD6AD5961F}" sibTransId="{E18F0356-4374-4D65-B57F-F01E4DC474B5}"/>
    <dgm:cxn modelId="{3BBD1A91-AC90-4118-925F-3198B2A70F89}" type="presOf" srcId="{D06D8F1F-278A-431E-81F9-C3A71F8EA48F}" destId="{3B519FC8-234E-4F79-8362-2C76FDC8FEEC}" srcOrd="0" destOrd="0" presId="urn:microsoft.com/office/officeart/2018/2/layout/IconLabelList"/>
    <dgm:cxn modelId="{314D07C0-A5C8-4E86-BF1F-B92A001CA70F}" type="presOf" srcId="{6BC64FFA-13CC-4DC1-90F0-551F81A000B7}" destId="{32145AB2-2E59-4E49-93D5-24F7C52E165C}" srcOrd="0" destOrd="0" presId="urn:microsoft.com/office/officeart/2018/2/layout/IconLabelList"/>
    <dgm:cxn modelId="{BF73AFD2-16B4-4323-A577-5923946C4A11}" srcId="{E90AF9E5-7230-461E-BE30-54C97B66D136}" destId="{6BC64FFA-13CC-4DC1-90F0-551F81A000B7}" srcOrd="1" destOrd="0" parTransId="{32AE896C-FC48-4B4A-A372-B4A02178E6AD}" sibTransId="{EA2FD097-5E96-4E9C-A704-F7237EA802F1}"/>
    <dgm:cxn modelId="{304955EC-28DA-4EC4-B22E-6198CA9F9C0E}" type="presOf" srcId="{BF344FB5-C9A9-4287-B769-2FDCB0977B5E}" destId="{78558F4A-9EDB-4635-9E54-D207267F6CE1}" srcOrd="0" destOrd="0" presId="urn:microsoft.com/office/officeart/2018/2/layout/IconLabelList"/>
    <dgm:cxn modelId="{0AC95AD9-93F2-4B76-803D-D8FA768527EA}" type="presParOf" srcId="{78AEE27F-C327-4367-9C90-4537EEA04EC7}" destId="{977BC124-F7FE-4E3B-A30E-261F4A49F4ED}" srcOrd="0" destOrd="0" presId="urn:microsoft.com/office/officeart/2018/2/layout/IconLabelList"/>
    <dgm:cxn modelId="{56EFF5DA-1651-4672-9CF4-10723DC86826}" type="presParOf" srcId="{977BC124-F7FE-4E3B-A30E-261F4A49F4ED}" destId="{2DE2D01A-8DB4-41D7-8909-2DFBEBA34A3E}" srcOrd="0" destOrd="0" presId="urn:microsoft.com/office/officeart/2018/2/layout/IconLabelList"/>
    <dgm:cxn modelId="{D2E07471-9F48-4BAE-B325-55F3712A4B1F}" type="presParOf" srcId="{977BC124-F7FE-4E3B-A30E-261F4A49F4ED}" destId="{140948AA-1E18-46FD-B828-2BB9B3A9D07D}" srcOrd="1" destOrd="0" presId="urn:microsoft.com/office/officeart/2018/2/layout/IconLabelList"/>
    <dgm:cxn modelId="{098CD8FF-3BCA-4034-AE4E-C62C59F85DF7}" type="presParOf" srcId="{977BC124-F7FE-4E3B-A30E-261F4A49F4ED}" destId="{3B519FC8-234E-4F79-8362-2C76FDC8FEEC}" srcOrd="2" destOrd="0" presId="urn:microsoft.com/office/officeart/2018/2/layout/IconLabelList"/>
    <dgm:cxn modelId="{342F4A60-F705-4012-8ECD-8829A3BE2717}" type="presParOf" srcId="{78AEE27F-C327-4367-9C90-4537EEA04EC7}" destId="{E53FD89E-81BB-45FD-92B4-6911F175C425}" srcOrd="1" destOrd="0" presId="urn:microsoft.com/office/officeart/2018/2/layout/IconLabelList"/>
    <dgm:cxn modelId="{C0500450-EA00-4970-8155-CA7B7375DFAF}" type="presParOf" srcId="{78AEE27F-C327-4367-9C90-4537EEA04EC7}" destId="{A9E6949C-F35B-4983-9769-95F67102F46E}" srcOrd="2" destOrd="0" presId="urn:microsoft.com/office/officeart/2018/2/layout/IconLabelList"/>
    <dgm:cxn modelId="{2F23DAC0-0699-4D71-94EC-730528451CA5}" type="presParOf" srcId="{A9E6949C-F35B-4983-9769-95F67102F46E}" destId="{C3773FEB-75CC-42CE-B4C8-4AE2744B0F36}" srcOrd="0" destOrd="0" presId="urn:microsoft.com/office/officeart/2018/2/layout/IconLabelList"/>
    <dgm:cxn modelId="{4F802536-3260-4A41-B02B-A0EFAAA86963}" type="presParOf" srcId="{A9E6949C-F35B-4983-9769-95F67102F46E}" destId="{CA2F5203-369A-4232-B7CC-67381031BE8A}" srcOrd="1" destOrd="0" presId="urn:microsoft.com/office/officeart/2018/2/layout/IconLabelList"/>
    <dgm:cxn modelId="{C609A773-C546-4E00-8FF5-F88072C19B63}" type="presParOf" srcId="{A9E6949C-F35B-4983-9769-95F67102F46E}" destId="{32145AB2-2E59-4E49-93D5-24F7C52E165C}" srcOrd="2" destOrd="0" presId="urn:microsoft.com/office/officeart/2018/2/layout/IconLabelList"/>
    <dgm:cxn modelId="{3F3499A8-9925-4F49-A510-AC75EB4CC6BD}" type="presParOf" srcId="{78AEE27F-C327-4367-9C90-4537EEA04EC7}" destId="{D4896384-C09E-4D0C-8C33-1FBB322BBA0D}" srcOrd="3" destOrd="0" presId="urn:microsoft.com/office/officeart/2018/2/layout/IconLabelList"/>
    <dgm:cxn modelId="{5DD7F590-564B-4D73-9983-F4683876BF66}" type="presParOf" srcId="{78AEE27F-C327-4367-9C90-4537EEA04EC7}" destId="{8EE8F801-A425-4A84-9AA6-22BFA56244D5}" srcOrd="4" destOrd="0" presId="urn:microsoft.com/office/officeart/2018/2/layout/IconLabelList"/>
    <dgm:cxn modelId="{142846E3-8E03-40D7-8F61-63387DEBA3C4}" type="presParOf" srcId="{8EE8F801-A425-4A84-9AA6-22BFA56244D5}" destId="{BE5163AE-22AD-4547-949D-0785BC8AC42A}" srcOrd="0" destOrd="0" presId="urn:microsoft.com/office/officeart/2018/2/layout/IconLabelList"/>
    <dgm:cxn modelId="{5BE18F56-3304-4683-8298-C7C84160171B}" type="presParOf" srcId="{8EE8F801-A425-4A84-9AA6-22BFA56244D5}" destId="{C9CB0036-574E-4C47-995A-D9DAA7737BE0}" srcOrd="1" destOrd="0" presId="urn:microsoft.com/office/officeart/2018/2/layout/IconLabelList"/>
    <dgm:cxn modelId="{61459328-D834-4A57-B641-E36D9550C95E}" type="presParOf" srcId="{8EE8F801-A425-4A84-9AA6-22BFA56244D5}" destId="{78558F4A-9EDB-4635-9E54-D207267F6CE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E66348-534C-4376-B0A6-2E21EF4E17B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8CDC98C-2276-4043-BC2E-B931ECC2AB4E}">
      <dgm:prSet/>
      <dgm:spPr/>
      <dgm:t>
        <a:bodyPr/>
        <a:lstStyle/>
        <a:p>
          <a:r>
            <a:rPr lang="en-IN" b="1"/>
            <a:t>SQL is how we “ask” for data</a:t>
          </a:r>
          <a:r>
            <a:rPr lang="en-IN"/>
            <a:t>, and </a:t>
          </a:r>
          <a:r>
            <a:rPr lang="en-IN" b="1"/>
            <a:t>Pandas is how we “prepare” and “model” it</a:t>
          </a:r>
          <a:r>
            <a:rPr lang="en-IN"/>
            <a:t>.</a:t>
          </a:r>
          <a:endParaRPr lang="en-US"/>
        </a:p>
      </dgm:t>
    </dgm:pt>
    <dgm:pt modelId="{2F55F0D6-F6A2-4703-A922-5FFD70BED6A2}" type="parTrans" cxnId="{F85DCA88-BF72-4566-AE72-D0031887AF35}">
      <dgm:prSet/>
      <dgm:spPr/>
      <dgm:t>
        <a:bodyPr/>
        <a:lstStyle/>
        <a:p>
          <a:endParaRPr lang="en-US"/>
        </a:p>
      </dgm:t>
    </dgm:pt>
    <dgm:pt modelId="{F59280A7-24E5-47A5-9D3E-AB3B0AB6FB77}" type="sibTrans" cxnId="{F85DCA88-BF72-4566-AE72-D0031887AF35}">
      <dgm:prSet/>
      <dgm:spPr/>
      <dgm:t>
        <a:bodyPr/>
        <a:lstStyle/>
        <a:p>
          <a:endParaRPr lang="en-US"/>
        </a:p>
      </dgm:t>
    </dgm:pt>
    <dgm:pt modelId="{E4A0FE57-0BBE-48DA-B075-10E934C2F392}">
      <dgm:prSet/>
      <dgm:spPr/>
      <dgm:t>
        <a:bodyPr/>
        <a:lstStyle/>
        <a:p>
          <a:r>
            <a:rPr lang="en-IN" b="1"/>
            <a:t>Example:</a:t>
          </a:r>
          <a:endParaRPr lang="en-US"/>
        </a:p>
      </dgm:t>
    </dgm:pt>
    <dgm:pt modelId="{75F6AEFC-F166-4618-AA82-D972E6D54071}" type="parTrans" cxnId="{A0522F32-2365-4D09-A7CF-06F530B5A64B}">
      <dgm:prSet/>
      <dgm:spPr/>
      <dgm:t>
        <a:bodyPr/>
        <a:lstStyle/>
        <a:p>
          <a:endParaRPr lang="en-US"/>
        </a:p>
      </dgm:t>
    </dgm:pt>
    <dgm:pt modelId="{AE7A9988-352A-4507-945D-6ADFCCD60F88}" type="sibTrans" cxnId="{A0522F32-2365-4D09-A7CF-06F530B5A64B}">
      <dgm:prSet/>
      <dgm:spPr/>
      <dgm:t>
        <a:bodyPr/>
        <a:lstStyle/>
        <a:p>
          <a:endParaRPr lang="en-US"/>
        </a:p>
      </dgm:t>
    </dgm:pt>
    <dgm:pt modelId="{75DC1959-58D8-47BD-AF3F-6603AF78367C}">
      <dgm:prSet/>
      <dgm:spPr/>
      <dgm:t>
        <a:bodyPr/>
        <a:lstStyle/>
        <a:p>
          <a:r>
            <a:rPr lang="en-IN"/>
            <a:t>Think of SQL as the waiter taking your order </a:t>
          </a:r>
          <a:br>
            <a:rPr lang="en-IN"/>
          </a:br>
          <a:r>
            <a:rPr lang="en-IN"/>
            <a:t>Pandas is the chef in the kitchen </a:t>
          </a:r>
          <a:endParaRPr lang="en-US"/>
        </a:p>
      </dgm:t>
    </dgm:pt>
    <dgm:pt modelId="{22270BBF-D147-4FB8-BA64-BDB17EDA6C08}" type="parTrans" cxnId="{A73129A8-C97E-4BA1-BB7B-2C0E7BBF9E45}">
      <dgm:prSet/>
      <dgm:spPr/>
      <dgm:t>
        <a:bodyPr/>
        <a:lstStyle/>
        <a:p>
          <a:endParaRPr lang="en-US"/>
        </a:p>
      </dgm:t>
    </dgm:pt>
    <dgm:pt modelId="{E3312226-2561-469A-A6D3-2B38C3740EE6}" type="sibTrans" cxnId="{A73129A8-C97E-4BA1-BB7B-2C0E7BBF9E45}">
      <dgm:prSet/>
      <dgm:spPr/>
      <dgm:t>
        <a:bodyPr/>
        <a:lstStyle/>
        <a:p>
          <a:endParaRPr lang="en-US"/>
        </a:p>
      </dgm:t>
    </dgm:pt>
    <dgm:pt modelId="{C0319141-D5E9-4585-8B25-450FDAC19EF5}" type="pres">
      <dgm:prSet presAssocID="{2FE66348-534C-4376-B0A6-2E21EF4E17BA}" presName="root" presStyleCnt="0">
        <dgm:presLayoutVars>
          <dgm:dir/>
          <dgm:resizeHandles val="exact"/>
        </dgm:presLayoutVars>
      </dgm:prSet>
      <dgm:spPr/>
    </dgm:pt>
    <dgm:pt modelId="{E095EC7B-973A-42AF-A8B2-DA4C344B3A6A}" type="pres">
      <dgm:prSet presAssocID="{F8CDC98C-2276-4043-BC2E-B931ECC2AB4E}" presName="compNode" presStyleCnt="0"/>
      <dgm:spPr/>
    </dgm:pt>
    <dgm:pt modelId="{F62B4B12-D057-4B2D-8C0F-D9F4456E7ECD}" type="pres">
      <dgm:prSet presAssocID="{F8CDC98C-2276-4043-BC2E-B931ECC2AB4E}" presName="bgRect" presStyleLbl="bgShp" presStyleIdx="0" presStyleCnt="3"/>
      <dgm:spPr/>
    </dgm:pt>
    <dgm:pt modelId="{22321871-24A5-4525-B750-9A89E0F025A6}" type="pres">
      <dgm:prSet presAssocID="{F8CDC98C-2276-4043-BC2E-B931ECC2AB4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975D32B8-E444-4CA8-BF72-2DDEDFCF6B2B}" type="pres">
      <dgm:prSet presAssocID="{F8CDC98C-2276-4043-BC2E-B931ECC2AB4E}" presName="spaceRect" presStyleCnt="0"/>
      <dgm:spPr/>
    </dgm:pt>
    <dgm:pt modelId="{5AB66C6A-741C-4682-83C0-153DACABE878}" type="pres">
      <dgm:prSet presAssocID="{F8CDC98C-2276-4043-BC2E-B931ECC2AB4E}" presName="parTx" presStyleLbl="revTx" presStyleIdx="0" presStyleCnt="3">
        <dgm:presLayoutVars>
          <dgm:chMax val="0"/>
          <dgm:chPref val="0"/>
        </dgm:presLayoutVars>
      </dgm:prSet>
      <dgm:spPr/>
    </dgm:pt>
    <dgm:pt modelId="{15D62983-DE5D-443A-9A18-CB69A2469389}" type="pres">
      <dgm:prSet presAssocID="{F59280A7-24E5-47A5-9D3E-AB3B0AB6FB77}" presName="sibTrans" presStyleCnt="0"/>
      <dgm:spPr/>
    </dgm:pt>
    <dgm:pt modelId="{1526465A-2C24-45EE-BECC-A886E809339D}" type="pres">
      <dgm:prSet presAssocID="{E4A0FE57-0BBE-48DA-B075-10E934C2F392}" presName="compNode" presStyleCnt="0"/>
      <dgm:spPr/>
    </dgm:pt>
    <dgm:pt modelId="{452B1D4C-7B4D-48FD-A82D-721F40A0D8DF}" type="pres">
      <dgm:prSet presAssocID="{E4A0FE57-0BBE-48DA-B075-10E934C2F392}" presName="bgRect" presStyleLbl="bgShp" presStyleIdx="1" presStyleCnt="3"/>
      <dgm:spPr/>
    </dgm:pt>
    <dgm:pt modelId="{942C1B90-4028-407B-A5F1-BE9C6361458E}" type="pres">
      <dgm:prSet presAssocID="{E4A0FE57-0BBE-48DA-B075-10E934C2F39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EA0BC75-CF1C-42D8-823D-8007E4AACD70}" type="pres">
      <dgm:prSet presAssocID="{E4A0FE57-0BBE-48DA-B075-10E934C2F392}" presName="spaceRect" presStyleCnt="0"/>
      <dgm:spPr/>
    </dgm:pt>
    <dgm:pt modelId="{1FBB3872-B0CB-4F91-A3D9-80F50C35AF2C}" type="pres">
      <dgm:prSet presAssocID="{E4A0FE57-0BBE-48DA-B075-10E934C2F392}" presName="parTx" presStyleLbl="revTx" presStyleIdx="1" presStyleCnt="3">
        <dgm:presLayoutVars>
          <dgm:chMax val="0"/>
          <dgm:chPref val="0"/>
        </dgm:presLayoutVars>
      </dgm:prSet>
      <dgm:spPr/>
    </dgm:pt>
    <dgm:pt modelId="{654FEBC6-2088-4787-B6BD-AA467FECF2EA}" type="pres">
      <dgm:prSet presAssocID="{AE7A9988-352A-4507-945D-6ADFCCD60F88}" presName="sibTrans" presStyleCnt="0"/>
      <dgm:spPr/>
    </dgm:pt>
    <dgm:pt modelId="{0AC228CC-4231-40A5-A669-512F25065D08}" type="pres">
      <dgm:prSet presAssocID="{75DC1959-58D8-47BD-AF3F-6603AF78367C}" presName="compNode" presStyleCnt="0"/>
      <dgm:spPr/>
    </dgm:pt>
    <dgm:pt modelId="{7088B101-7331-403B-ABE4-12D67E1242D6}" type="pres">
      <dgm:prSet presAssocID="{75DC1959-58D8-47BD-AF3F-6603AF78367C}" presName="bgRect" presStyleLbl="bgShp" presStyleIdx="2" presStyleCnt="3"/>
      <dgm:spPr/>
    </dgm:pt>
    <dgm:pt modelId="{0D199A10-D9A1-4297-8E11-DF3187A263B2}" type="pres">
      <dgm:prSet presAssocID="{75DC1959-58D8-47BD-AF3F-6603AF78367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DD18BD5C-975F-42EE-8CEB-D721D5B89042}" type="pres">
      <dgm:prSet presAssocID="{75DC1959-58D8-47BD-AF3F-6603AF78367C}" presName="spaceRect" presStyleCnt="0"/>
      <dgm:spPr/>
    </dgm:pt>
    <dgm:pt modelId="{3B13616E-5617-42CD-B497-FCD63289AE08}" type="pres">
      <dgm:prSet presAssocID="{75DC1959-58D8-47BD-AF3F-6603AF78367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FDCA50D-ADD4-4086-BA6D-425B020E10C7}" type="presOf" srcId="{2FE66348-534C-4376-B0A6-2E21EF4E17BA}" destId="{C0319141-D5E9-4585-8B25-450FDAC19EF5}" srcOrd="0" destOrd="0" presId="urn:microsoft.com/office/officeart/2018/2/layout/IconVerticalSolidList"/>
    <dgm:cxn modelId="{A0522F32-2365-4D09-A7CF-06F530B5A64B}" srcId="{2FE66348-534C-4376-B0A6-2E21EF4E17BA}" destId="{E4A0FE57-0BBE-48DA-B075-10E934C2F392}" srcOrd="1" destOrd="0" parTransId="{75F6AEFC-F166-4618-AA82-D972E6D54071}" sibTransId="{AE7A9988-352A-4507-945D-6ADFCCD60F88}"/>
    <dgm:cxn modelId="{1976CA3A-312C-47B8-92D6-A3A801B69F83}" type="presOf" srcId="{F8CDC98C-2276-4043-BC2E-B931ECC2AB4E}" destId="{5AB66C6A-741C-4682-83C0-153DACABE878}" srcOrd="0" destOrd="0" presId="urn:microsoft.com/office/officeart/2018/2/layout/IconVerticalSolidList"/>
    <dgm:cxn modelId="{F85DCA88-BF72-4566-AE72-D0031887AF35}" srcId="{2FE66348-534C-4376-B0A6-2E21EF4E17BA}" destId="{F8CDC98C-2276-4043-BC2E-B931ECC2AB4E}" srcOrd="0" destOrd="0" parTransId="{2F55F0D6-F6A2-4703-A922-5FFD70BED6A2}" sibTransId="{F59280A7-24E5-47A5-9D3E-AB3B0AB6FB77}"/>
    <dgm:cxn modelId="{6D7C579F-9C26-4ACA-8E96-9B539CDC6104}" type="presOf" srcId="{75DC1959-58D8-47BD-AF3F-6603AF78367C}" destId="{3B13616E-5617-42CD-B497-FCD63289AE08}" srcOrd="0" destOrd="0" presId="urn:microsoft.com/office/officeart/2018/2/layout/IconVerticalSolidList"/>
    <dgm:cxn modelId="{A73129A8-C97E-4BA1-BB7B-2C0E7BBF9E45}" srcId="{2FE66348-534C-4376-B0A6-2E21EF4E17BA}" destId="{75DC1959-58D8-47BD-AF3F-6603AF78367C}" srcOrd="2" destOrd="0" parTransId="{22270BBF-D147-4FB8-BA64-BDB17EDA6C08}" sibTransId="{E3312226-2561-469A-A6D3-2B38C3740EE6}"/>
    <dgm:cxn modelId="{4B1EDBF1-666E-4B62-AF4B-E02C8AB4235B}" type="presOf" srcId="{E4A0FE57-0BBE-48DA-B075-10E934C2F392}" destId="{1FBB3872-B0CB-4F91-A3D9-80F50C35AF2C}" srcOrd="0" destOrd="0" presId="urn:microsoft.com/office/officeart/2018/2/layout/IconVerticalSolidList"/>
    <dgm:cxn modelId="{98AB73C5-2615-4140-9F25-0B27DFABDFFD}" type="presParOf" srcId="{C0319141-D5E9-4585-8B25-450FDAC19EF5}" destId="{E095EC7B-973A-42AF-A8B2-DA4C344B3A6A}" srcOrd="0" destOrd="0" presId="urn:microsoft.com/office/officeart/2018/2/layout/IconVerticalSolidList"/>
    <dgm:cxn modelId="{FAABDD77-566C-407B-BFCD-B89AAF966237}" type="presParOf" srcId="{E095EC7B-973A-42AF-A8B2-DA4C344B3A6A}" destId="{F62B4B12-D057-4B2D-8C0F-D9F4456E7ECD}" srcOrd="0" destOrd="0" presId="urn:microsoft.com/office/officeart/2018/2/layout/IconVerticalSolidList"/>
    <dgm:cxn modelId="{2E852B50-B4C2-4F56-A4F8-70425323B5FB}" type="presParOf" srcId="{E095EC7B-973A-42AF-A8B2-DA4C344B3A6A}" destId="{22321871-24A5-4525-B750-9A89E0F025A6}" srcOrd="1" destOrd="0" presId="urn:microsoft.com/office/officeart/2018/2/layout/IconVerticalSolidList"/>
    <dgm:cxn modelId="{32836577-E4C9-4C68-AB4A-31D2D8E20A17}" type="presParOf" srcId="{E095EC7B-973A-42AF-A8B2-DA4C344B3A6A}" destId="{975D32B8-E444-4CA8-BF72-2DDEDFCF6B2B}" srcOrd="2" destOrd="0" presId="urn:microsoft.com/office/officeart/2018/2/layout/IconVerticalSolidList"/>
    <dgm:cxn modelId="{BA189BA6-6CB0-4B78-9787-BE37B0011A0B}" type="presParOf" srcId="{E095EC7B-973A-42AF-A8B2-DA4C344B3A6A}" destId="{5AB66C6A-741C-4682-83C0-153DACABE878}" srcOrd="3" destOrd="0" presId="urn:microsoft.com/office/officeart/2018/2/layout/IconVerticalSolidList"/>
    <dgm:cxn modelId="{6C3EB348-0846-4A09-9698-0F2453938CE4}" type="presParOf" srcId="{C0319141-D5E9-4585-8B25-450FDAC19EF5}" destId="{15D62983-DE5D-443A-9A18-CB69A2469389}" srcOrd="1" destOrd="0" presId="urn:microsoft.com/office/officeart/2018/2/layout/IconVerticalSolidList"/>
    <dgm:cxn modelId="{519C7A9B-C883-442F-87C8-DFBCE68D550E}" type="presParOf" srcId="{C0319141-D5E9-4585-8B25-450FDAC19EF5}" destId="{1526465A-2C24-45EE-BECC-A886E809339D}" srcOrd="2" destOrd="0" presId="urn:microsoft.com/office/officeart/2018/2/layout/IconVerticalSolidList"/>
    <dgm:cxn modelId="{F6E4F36C-E170-4830-B4C9-63FC44F9F9F3}" type="presParOf" srcId="{1526465A-2C24-45EE-BECC-A886E809339D}" destId="{452B1D4C-7B4D-48FD-A82D-721F40A0D8DF}" srcOrd="0" destOrd="0" presId="urn:microsoft.com/office/officeart/2018/2/layout/IconVerticalSolidList"/>
    <dgm:cxn modelId="{BA93A6AB-0373-469C-8FC6-2BE7638A1EFF}" type="presParOf" srcId="{1526465A-2C24-45EE-BECC-A886E809339D}" destId="{942C1B90-4028-407B-A5F1-BE9C6361458E}" srcOrd="1" destOrd="0" presId="urn:microsoft.com/office/officeart/2018/2/layout/IconVerticalSolidList"/>
    <dgm:cxn modelId="{E625FDAA-1B4C-46EB-A6F3-8DF2E70B2877}" type="presParOf" srcId="{1526465A-2C24-45EE-BECC-A886E809339D}" destId="{6EA0BC75-CF1C-42D8-823D-8007E4AACD70}" srcOrd="2" destOrd="0" presId="urn:microsoft.com/office/officeart/2018/2/layout/IconVerticalSolidList"/>
    <dgm:cxn modelId="{BEA6C666-1980-4753-BEA7-88DBDCE35406}" type="presParOf" srcId="{1526465A-2C24-45EE-BECC-A886E809339D}" destId="{1FBB3872-B0CB-4F91-A3D9-80F50C35AF2C}" srcOrd="3" destOrd="0" presId="urn:microsoft.com/office/officeart/2018/2/layout/IconVerticalSolidList"/>
    <dgm:cxn modelId="{6F4785D7-8C8D-4079-9D01-DB75CBBB6FC8}" type="presParOf" srcId="{C0319141-D5E9-4585-8B25-450FDAC19EF5}" destId="{654FEBC6-2088-4787-B6BD-AA467FECF2EA}" srcOrd="3" destOrd="0" presId="urn:microsoft.com/office/officeart/2018/2/layout/IconVerticalSolidList"/>
    <dgm:cxn modelId="{31CF64A7-B7E0-4396-B177-E4CA9BEBA7BA}" type="presParOf" srcId="{C0319141-D5E9-4585-8B25-450FDAC19EF5}" destId="{0AC228CC-4231-40A5-A669-512F25065D08}" srcOrd="4" destOrd="0" presId="urn:microsoft.com/office/officeart/2018/2/layout/IconVerticalSolidList"/>
    <dgm:cxn modelId="{0CBBBB56-282B-4C49-98B9-3BD778FE5819}" type="presParOf" srcId="{0AC228CC-4231-40A5-A669-512F25065D08}" destId="{7088B101-7331-403B-ABE4-12D67E1242D6}" srcOrd="0" destOrd="0" presId="urn:microsoft.com/office/officeart/2018/2/layout/IconVerticalSolidList"/>
    <dgm:cxn modelId="{B7422C36-81AC-4B87-829D-507961447847}" type="presParOf" srcId="{0AC228CC-4231-40A5-A669-512F25065D08}" destId="{0D199A10-D9A1-4297-8E11-DF3187A263B2}" srcOrd="1" destOrd="0" presId="urn:microsoft.com/office/officeart/2018/2/layout/IconVerticalSolidList"/>
    <dgm:cxn modelId="{89E1D485-A91C-440B-8E3B-C6F5145E200E}" type="presParOf" srcId="{0AC228CC-4231-40A5-A669-512F25065D08}" destId="{DD18BD5C-975F-42EE-8CEB-D721D5B89042}" srcOrd="2" destOrd="0" presId="urn:microsoft.com/office/officeart/2018/2/layout/IconVerticalSolidList"/>
    <dgm:cxn modelId="{6F1F2A2A-AD87-46BA-8F1D-AF2E57989373}" type="presParOf" srcId="{0AC228CC-4231-40A5-A669-512F25065D08}" destId="{3B13616E-5617-42CD-B497-FCD63289AE0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E2D01A-8DB4-41D7-8909-2DFBEBA34A3E}">
      <dsp:nvSpPr>
        <dsp:cNvPr id="0" name=""/>
        <dsp:cNvSpPr/>
      </dsp:nvSpPr>
      <dsp:spPr>
        <a:xfrm>
          <a:off x="1030942" y="933108"/>
          <a:ext cx="1268817" cy="12688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519FC8-234E-4F79-8362-2C76FDC8FEEC}">
      <dsp:nvSpPr>
        <dsp:cNvPr id="0" name=""/>
        <dsp:cNvSpPr/>
      </dsp:nvSpPr>
      <dsp:spPr>
        <a:xfrm>
          <a:off x="255554" y="2553130"/>
          <a:ext cx="281959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Should You learn SQL in an AI/ML Course Today?</a:t>
          </a:r>
          <a:endParaRPr lang="en-US" sz="1400" kern="1200"/>
        </a:p>
      </dsp:txBody>
      <dsp:txXfrm>
        <a:off x="255554" y="2553130"/>
        <a:ext cx="2819593" cy="720000"/>
      </dsp:txXfrm>
    </dsp:sp>
    <dsp:sp modelId="{C3773FEB-75CC-42CE-B4C8-4AE2744B0F36}">
      <dsp:nvSpPr>
        <dsp:cNvPr id="0" name=""/>
        <dsp:cNvSpPr/>
      </dsp:nvSpPr>
      <dsp:spPr>
        <a:xfrm>
          <a:off x="4343964" y="933108"/>
          <a:ext cx="1268817" cy="12688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145AB2-2E59-4E49-93D5-24F7C52E165C}">
      <dsp:nvSpPr>
        <dsp:cNvPr id="0" name=""/>
        <dsp:cNvSpPr/>
      </dsp:nvSpPr>
      <dsp:spPr>
        <a:xfrm>
          <a:off x="3568576" y="2553130"/>
          <a:ext cx="281959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Answer:</a:t>
          </a:r>
          <a:endParaRPr lang="en-US" sz="1400" kern="1200"/>
        </a:p>
      </dsp:txBody>
      <dsp:txXfrm>
        <a:off x="3568576" y="2553130"/>
        <a:ext cx="2819593" cy="720000"/>
      </dsp:txXfrm>
    </dsp:sp>
    <dsp:sp modelId="{BE5163AE-22AD-4547-949D-0785BC8AC42A}">
      <dsp:nvSpPr>
        <dsp:cNvPr id="0" name=""/>
        <dsp:cNvSpPr/>
      </dsp:nvSpPr>
      <dsp:spPr>
        <a:xfrm>
          <a:off x="7656987" y="933108"/>
          <a:ext cx="1268817" cy="12688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558F4A-9EDB-4635-9E54-D207267F6CE1}">
      <dsp:nvSpPr>
        <dsp:cNvPr id="0" name=""/>
        <dsp:cNvSpPr/>
      </dsp:nvSpPr>
      <dsp:spPr>
        <a:xfrm>
          <a:off x="6881599" y="2553130"/>
          <a:ext cx="281959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Learn basic SQL</a:t>
          </a:r>
          <a:r>
            <a:rPr lang="en-IN" sz="1400" kern="1200"/>
            <a:t>, but </a:t>
          </a:r>
          <a:r>
            <a:rPr lang="en-IN" sz="1400" b="1" kern="1200"/>
            <a:t>keep it minimal</a:t>
          </a:r>
          <a:r>
            <a:rPr lang="en-IN" sz="1400" kern="1200"/>
            <a:t> and </a:t>
          </a:r>
          <a:r>
            <a:rPr lang="en-IN" sz="1400" b="1" kern="1200"/>
            <a:t>contextual to AI/ML workflows</a:t>
          </a:r>
          <a:endParaRPr lang="en-US" sz="1400" kern="1200"/>
        </a:p>
      </dsp:txBody>
      <dsp:txXfrm>
        <a:off x="6881599" y="2553130"/>
        <a:ext cx="2819593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2B4B12-D057-4B2D-8C0F-D9F4456E7ECD}">
      <dsp:nvSpPr>
        <dsp:cNvPr id="0" name=""/>
        <dsp:cNvSpPr/>
      </dsp:nvSpPr>
      <dsp:spPr>
        <a:xfrm>
          <a:off x="0" y="633"/>
          <a:ext cx="6388331" cy="14828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321871-24A5-4525-B750-9A89E0F025A6}">
      <dsp:nvSpPr>
        <dsp:cNvPr id="0" name=""/>
        <dsp:cNvSpPr/>
      </dsp:nvSpPr>
      <dsp:spPr>
        <a:xfrm>
          <a:off x="448576" y="334285"/>
          <a:ext cx="815593" cy="8155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B66C6A-741C-4682-83C0-153DACABE878}">
      <dsp:nvSpPr>
        <dsp:cNvPr id="0" name=""/>
        <dsp:cNvSpPr/>
      </dsp:nvSpPr>
      <dsp:spPr>
        <a:xfrm>
          <a:off x="1712746" y="633"/>
          <a:ext cx="4675584" cy="1482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940" tIns="156940" rIns="156940" bIns="15694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/>
            <a:t>SQL is how we “ask” for data</a:t>
          </a:r>
          <a:r>
            <a:rPr lang="en-IN" sz="2200" kern="1200"/>
            <a:t>, and </a:t>
          </a:r>
          <a:r>
            <a:rPr lang="en-IN" sz="2200" b="1" kern="1200"/>
            <a:t>Pandas is how we “prepare” and “model” it</a:t>
          </a:r>
          <a:r>
            <a:rPr lang="en-IN" sz="2200" kern="1200"/>
            <a:t>.</a:t>
          </a:r>
          <a:endParaRPr lang="en-US" sz="2200" kern="1200"/>
        </a:p>
      </dsp:txBody>
      <dsp:txXfrm>
        <a:off x="1712746" y="633"/>
        <a:ext cx="4675584" cy="1482897"/>
      </dsp:txXfrm>
    </dsp:sp>
    <dsp:sp modelId="{452B1D4C-7B4D-48FD-A82D-721F40A0D8DF}">
      <dsp:nvSpPr>
        <dsp:cNvPr id="0" name=""/>
        <dsp:cNvSpPr/>
      </dsp:nvSpPr>
      <dsp:spPr>
        <a:xfrm>
          <a:off x="0" y="1854255"/>
          <a:ext cx="6388331" cy="14828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2C1B90-4028-407B-A5F1-BE9C6361458E}">
      <dsp:nvSpPr>
        <dsp:cNvPr id="0" name=""/>
        <dsp:cNvSpPr/>
      </dsp:nvSpPr>
      <dsp:spPr>
        <a:xfrm>
          <a:off x="448576" y="2187907"/>
          <a:ext cx="815593" cy="8155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BB3872-B0CB-4F91-A3D9-80F50C35AF2C}">
      <dsp:nvSpPr>
        <dsp:cNvPr id="0" name=""/>
        <dsp:cNvSpPr/>
      </dsp:nvSpPr>
      <dsp:spPr>
        <a:xfrm>
          <a:off x="1712746" y="1854255"/>
          <a:ext cx="4675584" cy="1482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940" tIns="156940" rIns="156940" bIns="15694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/>
            <a:t>Example:</a:t>
          </a:r>
          <a:endParaRPr lang="en-US" sz="2200" kern="1200"/>
        </a:p>
      </dsp:txBody>
      <dsp:txXfrm>
        <a:off x="1712746" y="1854255"/>
        <a:ext cx="4675584" cy="1482897"/>
      </dsp:txXfrm>
    </dsp:sp>
    <dsp:sp modelId="{7088B101-7331-403B-ABE4-12D67E1242D6}">
      <dsp:nvSpPr>
        <dsp:cNvPr id="0" name=""/>
        <dsp:cNvSpPr/>
      </dsp:nvSpPr>
      <dsp:spPr>
        <a:xfrm>
          <a:off x="0" y="3707876"/>
          <a:ext cx="6388331" cy="14828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199A10-D9A1-4297-8E11-DF3187A263B2}">
      <dsp:nvSpPr>
        <dsp:cNvPr id="0" name=""/>
        <dsp:cNvSpPr/>
      </dsp:nvSpPr>
      <dsp:spPr>
        <a:xfrm>
          <a:off x="448576" y="4041528"/>
          <a:ext cx="815593" cy="8155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13616E-5617-42CD-B497-FCD63289AE08}">
      <dsp:nvSpPr>
        <dsp:cNvPr id="0" name=""/>
        <dsp:cNvSpPr/>
      </dsp:nvSpPr>
      <dsp:spPr>
        <a:xfrm>
          <a:off x="1712746" y="3707876"/>
          <a:ext cx="4675584" cy="1482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940" tIns="156940" rIns="156940" bIns="15694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Think of SQL as the waiter taking your order </a:t>
          </a:r>
          <a:br>
            <a:rPr lang="en-IN" sz="2200" kern="1200"/>
          </a:br>
          <a:r>
            <a:rPr lang="en-IN" sz="2200" kern="1200"/>
            <a:t>Pandas is the chef in the kitchen </a:t>
          </a:r>
          <a:endParaRPr lang="en-US" sz="2200" kern="1200"/>
        </a:p>
      </dsp:txBody>
      <dsp:txXfrm>
        <a:off x="1712746" y="3707876"/>
        <a:ext cx="4675584" cy="14828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1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168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46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1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17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1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63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1">
              <a:rPr lang="en-US" smtClean="0"/>
              <a:t>6/20/2025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063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1">
              <a:rPr lang="en-US" smtClean="0"/>
              <a:t>6/20/2025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644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1">
              <a:rPr lang="en-US" smtClean="0"/>
              <a:t>6/20/2025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34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1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24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1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920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1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1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1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497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1">
              <a:rPr lang="en-US" smtClean="0"/>
              <a:t>6/20/2025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9675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19" r:id="rId6"/>
    <p:sldLayoutId id="2147483715" r:id="rId7"/>
    <p:sldLayoutId id="2147483716" r:id="rId8"/>
    <p:sldLayoutId id="2147483717" r:id="rId9"/>
    <p:sldLayoutId id="2147483718" r:id="rId10"/>
    <p:sldLayoutId id="214748372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F61B21B-C704-8330-6871-65617F45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F402AB-8466-9154-0691-6D2BC1169C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252" y="752136"/>
            <a:ext cx="3944703" cy="3638795"/>
          </a:xfrm>
        </p:spPr>
        <p:txBody>
          <a:bodyPr anchor="t">
            <a:normAutofit/>
          </a:bodyPr>
          <a:lstStyle/>
          <a:p>
            <a:r>
              <a:rPr lang="en-US" sz="4800"/>
              <a:t>SQL</a:t>
            </a:r>
            <a:endParaRPr lang="en-IN" sz="4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DA555C-C608-7A7C-6163-B922D111B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252" y="4676011"/>
            <a:ext cx="3698627" cy="1343789"/>
          </a:xfrm>
        </p:spPr>
        <p:txBody>
          <a:bodyPr anchor="b">
            <a:normAutofit/>
          </a:bodyPr>
          <a:lstStyle/>
          <a:p>
            <a:r>
              <a:rPr lang="en-US" dirty="0"/>
              <a:t>CRATED BY: MAHIPAL SINGH</a:t>
            </a:r>
            <a:endParaRPr lang="en-IN" dirty="0"/>
          </a:p>
        </p:txBody>
      </p:sp>
      <p:pic>
        <p:nvPicPr>
          <p:cNvPr id="4" name="Picture 3" descr="Cloudy oil paint art">
            <a:extLst>
              <a:ext uri="{FF2B5EF4-FFF2-40B4-BE49-F238E27FC236}">
                <a16:creationId xmlns:a16="http://schemas.microsoft.com/office/drawing/2014/main" id="{2C551947-50A8-5688-63E6-6E449FCB87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195"/>
          <a:stretch>
            <a:fillRect/>
          </a:stretch>
        </p:blipFill>
        <p:spPr>
          <a:xfrm>
            <a:off x="5096608" y="72874"/>
            <a:ext cx="7018782" cy="6711603"/>
          </a:xfrm>
          <a:custGeom>
            <a:avLst/>
            <a:gdLst/>
            <a:ahLst/>
            <a:cxnLst/>
            <a:rect l="l" t="t" r="r" b="b"/>
            <a:pathLst>
              <a:path w="7018782" h="6732093">
                <a:moveTo>
                  <a:pt x="697647" y="0"/>
                </a:moveTo>
                <a:lnTo>
                  <a:pt x="6321135" y="0"/>
                </a:lnTo>
                <a:cubicBezTo>
                  <a:pt x="6706435" y="0"/>
                  <a:pt x="7018782" y="312347"/>
                  <a:pt x="7018782" y="697647"/>
                </a:cubicBezTo>
                <a:lnTo>
                  <a:pt x="7018782" y="6034446"/>
                </a:lnTo>
                <a:cubicBezTo>
                  <a:pt x="7018782" y="6419746"/>
                  <a:pt x="6706435" y="6732093"/>
                  <a:pt x="6321135" y="6732093"/>
                </a:cubicBezTo>
                <a:lnTo>
                  <a:pt x="697647" y="6732093"/>
                </a:lnTo>
                <a:cubicBezTo>
                  <a:pt x="312347" y="6732093"/>
                  <a:pt x="0" y="6419746"/>
                  <a:pt x="0" y="6034446"/>
                </a:cubicBezTo>
                <a:lnTo>
                  <a:pt x="0" y="697647"/>
                </a:lnTo>
                <a:cubicBezTo>
                  <a:pt x="0" y="312347"/>
                  <a:pt x="312347" y="0"/>
                  <a:pt x="697647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94592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A8D6FBB0-A2F1-17AE-FFB4-91C8610D2C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3034742"/>
              </p:ext>
            </p:extLst>
          </p:nvPr>
        </p:nvGraphicFramePr>
        <p:xfrm>
          <a:off x="335467" y="1178561"/>
          <a:ext cx="9956747" cy="42062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F5695-3FB3-DC5D-E6DB-C734C1F13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6/20/2025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985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24720-EC23-C738-0B00-220EFFE54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293" y="976544"/>
            <a:ext cx="9705841" cy="1091952"/>
          </a:xfrm>
        </p:spPr>
        <p:txBody>
          <a:bodyPr>
            <a:normAutofit fontScale="90000"/>
          </a:bodyPr>
          <a:lstStyle/>
          <a:p>
            <a:r>
              <a:rPr lang="en-IN" dirty="0"/>
              <a:t>Why You </a:t>
            </a:r>
            <a:r>
              <a:rPr lang="en-IN" i="1" dirty="0"/>
              <a:t>Should</a:t>
            </a:r>
            <a:r>
              <a:rPr lang="en-IN" dirty="0"/>
              <a:t> Include Basic SQL (But Lightly)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B021663-04F2-9218-20A8-5CCA32A317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7969381"/>
              </p:ext>
            </p:extLst>
          </p:nvPr>
        </p:nvGraphicFramePr>
        <p:xfrm>
          <a:off x="559292" y="1802168"/>
          <a:ext cx="10582183" cy="41813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76039">
                  <a:extLst>
                    <a:ext uri="{9D8B030D-6E8A-4147-A177-3AD203B41FA5}">
                      <a16:colId xmlns:a16="http://schemas.microsoft.com/office/drawing/2014/main" val="3250014189"/>
                    </a:ext>
                  </a:extLst>
                </a:gridCol>
                <a:gridCol w="6506144">
                  <a:extLst>
                    <a:ext uri="{9D8B030D-6E8A-4147-A177-3AD203B41FA5}">
                      <a16:colId xmlns:a16="http://schemas.microsoft.com/office/drawing/2014/main" val="935915326"/>
                    </a:ext>
                  </a:extLst>
                </a:gridCol>
              </a:tblGrid>
              <a:tr h="5963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solidFill>
                            <a:srgbClr val="FF0000"/>
                          </a:solidFill>
                          <a:effectLst/>
                        </a:rPr>
                        <a:t>Reason</a:t>
                      </a:r>
                      <a:endParaRPr lang="en-IN" sz="1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solidFill>
                            <a:srgbClr val="FF0000"/>
                          </a:solidFill>
                          <a:effectLst/>
                        </a:rPr>
                        <a:t>Why It Matters</a:t>
                      </a:r>
                      <a:endParaRPr lang="en-IN" sz="160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39106214"/>
                  </a:ext>
                </a:extLst>
              </a:tr>
              <a:tr h="7458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</a:rPr>
                        <a:t>Data is still in SQL databases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</a:rPr>
                        <a:t>Many AI/ML workflows start by extracting data from relational databases.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10793528"/>
                  </a:ext>
                </a:extLst>
              </a:tr>
              <a:tr h="6016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</a:rPr>
                        <a:t>Industry relevance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</a:rPr>
                        <a:t>Most data science jobs expect basic SQL fluency.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90649098"/>
                  </a:ext>
                </a:extLst>
              </a:tr>
              <a:tr h="7458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</a:rPr>
                        <a:t>Integrates with tools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</a:rPr>
                        <a:t>RAG pipelines often use vector stores that look like SQL (e.g., </a:t>
                      </a:r>
                      <a:r>
                        <a:rPr lang="en-IN" sz="1400" kern="100" dirty="0" err="1">
                          <a:effectLst/>
                        </a:rPr>
                        <a:t>pgvector</a:t>
                      </a:r>
                      <a:r>
                        <a:rPr lang="en-IN" sz="1400" kern="100" dirty="0">
                          <a:effectLst/>
                        </a:rPr>
                        <a:t> in PostgreSQL).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66738278"/>
                  </a:ext>
                </a:extLst>
              </a:tr>
              <a:tr h="7458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 </a:t>
                      </a:r>
                      <a:r>
                        <a:rPr lang="en-IN" sz="1400" kern="100" dirty="0">
                          <a:effectLst/>
                        </a:rPr>
                        <a:t>Use with </a:t>
                      </a:r>
                      <a:r>
                        <a:rPr lang="en-IN" sz="1400" kern="100" dirty="0" err="1">
                          <a:effectLst/>
                        </a:rPr>
                        <a:t>LangChain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 err="1">
                          <a:effectLst/>
                        </a:rPr>
                        <a:t>LangChain</a:t>
                      </a:r>
                      <a:r>
                        <a:rPr lang="en-IN" sz="1400" kern="100" dirty="0">
                          <a:effectLst/>
                        </a:rPr>
                        <a:t> can query SQL databases via LLM agents—students should understand what the agent is doing.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84067564"/>
                  </a:ext>
                </a:extLst>
              </a:tr>
              <a:tr h="7458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D</a:t>
                      </a:r>
                      <a:r>
                        <a:rPr lang="en-IN" sz="1400" kern="100" dirty="0">
                          <a:effectLst/>
                        </a:rPr>
                        <a:t>ata pre-processing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</a:rPr>
                        <a:t>Real-world ETL often starts with SQL queries before entering Python/Pandas.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3131738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248F4-4A42-1536-8AB3-72D06B2A5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6/20/2025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267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BACB578-9F18-1F13-E0A5-6901B2797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F232A9-D45A-8E65-4532-48FB1C36D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067" y="444625"/>
            <a:ext cx="11206313" cy="71721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dirty="0"/>
              <a:t>SQL vs Pandas: Key Difference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68699-9905-9F0A-6894-744E5710F6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6/20/2025</a:t>
            </a:fld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0FC8B1D-77DB-F8D0-4950-7AFA58513D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0434331"/>
              </p:ext>
            </p:extLst>
          </p:nvPr>
        </p:nvGraphicFramePr>
        <p:xfrm>
          <a:off x="1016001" y="1456267"/>
          <a:ext cx="9670802" cy="5381733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1896509">
                  <a:extLst>
                    <a:ext uri="{9D8B030D-6E8A-4147-A177-3AD203B41FA5}">
                      <a16:colId xmlns:a16="http://schemas.microsoft.com/office/drawing/2014/main" val="4000218657"/>
                    </a:ext>
                  </a:extLst>
                </a:gridCol>
                <a:gridCol w="3818820">
                  <a:extLst>
                    <a:ext uri="{9D8B030D-6E8A-4147-A177-3AD203B41FA5}">
                      <a16:colId xmlns:a16="http://schemas.microsoft.com/office/drawing/2014/main" val="533672885"/>
                    </a:ext>
                  </a:extLst>
                </a:gridCol>
                <a:gridCol w="3955473">
                  <a:extLst>
                    <a:ext uri="{9D8B030D-6E8A-4147-A177-3AD203B41FA5}">
                      <a16:colId xmlns:a16="http://schemas.microsoft.com/office/drawing/2014/main" val="2712394882"/>
                    </a:ext>
                  </a:extLst>
                </a:gridCol>
              </a:tblGrid>
              <a:tr h="7242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Aspect</a:t>
                      </a:r>
                      <a:endParaRPr lang="en-IN" sz="16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9914" marR="101949" marT="101949" marB="1019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SQL</a:t>
                      </a:r>
                      <a:endParaRPr lang="en-IN" sz="1600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9914" marR="101949" marT="101949" marB="1019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Pandas</a:t>
                      </a:r>
                      <a:endParaRPr lang="en-IN" sz="1600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9914" marR="101949" marT="101949" marB="1019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336007"/>
                  </a:ext>
                </a:extLst>
              </a:tr>
              <a:tr h="6019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Purpose</a:t>
                      </a:r>
                      <a:endParaRPr lang="en-IN" sz="16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9914" marR="88355" marT="88355" marB="88355" anchor="ctr">
                    <a:lnL w="12700" cmpd="sng">
                      <a:noFill/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Querying and managing structured data in databases</a:t>
                      </a:r>
                      <a:endParaRPr lang="en-IN" sz="16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9914" marR="88355" marT="88355" marB="88355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Data analysis and manipulation in memory (Python)</a:t>
                      </a:r>
                      <a:endParaRPr lang="en-IN" sz="1600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9914" marR="88355" marT="88355" marB="88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915089"/>
                  </a:ext>
                </a:extLst>
              </a:tr>
              <a:tr h="6019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 Environment</a:t>
                      </a:r>
                      <a:endParaRPr lang="en-IN" sz="16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9914" marR="88355" marT="88355" marB="88355" anchor="ctr">
                    <a:lnL w="12700" cmpd="sng">
                      <a:noFill/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Server-side (DBMS like PostgreSQL, SQLite)</a:t>
                      </a:r>
                      <a:endParaRPr lang="en-IN" sz="1600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9914" marR="88355" marT="88355" marB="88355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Client-side (</a:t>
                      </a:r>
                      <a:r>
                        <a:rPr lang="en-IN" sz="1600" kern="1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Jupyter</a:t>
                      </a:r>
                      <a:r>
                        <a:rPr lang="en-IN" sz="16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, </a:t>
                      </a:r>
                      <a:r>
                        <a:rPr lang="en-IN" sz="1600" kern="1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Colab</a:t>
                      </a:r>
                      <a:r>
                        <a:rPr lang="en-IN" sz="16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, Python scripts)</a:t>
                      </a:r>
                      <a:endParaRPr lang="en-IN" sz="16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9914" marR="88355" marT="88355" marB="88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085084"/>
                  </a:ext>
                </a:extLst>
              </a:tr>
              <a:tr h="72234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 Language Type</a:t>
                      </a:r>
                      <a:endParaRPr lang="en-IN" sz="16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9914" marR="88355" marT="88355" marB="88355" anchor="ctr">
                    <a:lnL w="12700" cmpd="sng">
                      <a:noFill/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Declarative (describe what you want)</a:t>
                      </a:r>
                      <a:endParaRPr lang="en-IN" sz="16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9914" marR="88355" marT="88355" marB="88355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Imperative/Procedural (tell how to do it)</a:t>
                      </a:r>
                      <a:endParaRPr lang="en-IN" sz="1600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9914" marR="88355" marT="88355" marB="88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138758"/>
                  </a:ext>
                </a:extLst>
              </a:tr>
              <a:tr h="8747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 Performance</a:t>
                      </a:r>
                      <a:endParaRPr lang="en-IN" sz="16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9914" marR="88355" marT="88355" marB="88355" anchor="ctr">
                    <a:lnL w="12700" cmpd="sng">
                      <a:noFill/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Optimized for large data with indexing</a:t>
                      </a:r>
                      <a:endParaRPr lang="en-IN" sz="16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9914" marR="88355" marT="88355" marB="88355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Fast in-memory ops, but can be slow for big data</a:t>
                      </a:r>
                      <a:endParaRPr lang="en-IN" sz="1600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9914" marR="88355" marT="88355" marB="88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779730"/>
                  </a:ext>
                </a:extLst>
              </a:tr>
              <a:tr h="8940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 Integration</a:t>
                      </a:r>
                      <a:endParaRPr lang="en-IN" sz="16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9914" marR="88355" marT="88355" marB="88355" anchor="ctr">
                    <a:lnL w="12700" cmpd="sng">
                      <a:noFill/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Used before pulling data into ML workflows</a:t>
                      </a:r>
                      <a:endParaRPr lang="en-IN" sz="16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9914" marR="88355" marT="88355" marB="88355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Used during ML pipelines for feature engineering, cleaning</a:t>
                      </a:r>
                      <a:endParaRPr lang="en-IN" sz="16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9914" marR="88355" marT="88355" marB="88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433936"/>
                  </a:ext>
                </a:extLst>
              </a:tr>
              <a:tr h="6019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 Storage</a:t>
                      </a:r>
                      <a:endParaRPr lang="en-IN" sz="16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9914" marR="88355" marT="88355" marB="88355" anchor="ctr">
                    <a:lnL w="12700" cmpd="sng">
                      <a:noFill/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Works directly on disk-based databases</a:t>
                      </a:r>
                      <a:endParaRPr lang="en-IN" sz="1600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9914" marR="88355" marT="88355" marB="88355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Works on data already loaded into RAM</a:t>
                      </a:r>
                      <a:endParaRPr lang="en-IN" sz="16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9914" marR="88355" marT="88355" marB="8835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950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8650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8CA9E9D-6A76-A56D-C4DE-0910EA872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FB7E5ED-F72A-DBA0-549D-BABA6DAC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406604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406593 h 6858000"/>
              <a:gd name="connsiteX3" fmla="*/ 12178573 w 12192000"/>
              <a:gd name="connsiteY3" fmla="*/ 2273403 h 6858000"/>
              <a:gd name="connsiteX4" fmla="*/ 11531070 w 12192000"/>
              <a:gd name="connsiteY4" fmla="*/ 1745673 h 6858000"/>
              <a:gd name="connsiteX5" fmla="*/ 660932 w 12192000"/>
              <a:gd name="connsiteY5" fmla="*/ 1745673 h 6858000"/>
              <a:gd name="connsiteX6" fmla="*/ 1 w 12192000"/>
              <a:gd name="connsiteY6" fmla="*/ 2406604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406593 h 6858000"/>
              <a:gd name="connsiteX3" fmla="*/ 12178573 w 12192000"/>
              <a:gd name="connsiteY3" fmla="*/ 2273403 h 6858000"/>
              <a:gd name="connsiteX4" fmla="*/ 11531070 w 12192000"/>
              <a:gd name="connsiteY4" fmla="*/ 1745673 h 6858000"/>
              <a:gd name="connsiteX5" fmla="*/ 660932 w 12192000"/>
              <a:gd name="connsiteY5" fmla="*/ 1745673 h 6858000"/>
              <a:gd name="connsiteX6" fmla="*/ 1 w 12192000"/>
              <a:gd name="connsiteY6" fmla="*/ 2406604 h 6858000"/>
              <a:gd name="connsiteX7" fmla="*/ 1 w 12192000"/>
              <a:gd name="connsiteY7" fmla="*/ 6858000 h 6858000"/>
              <a:gd name="connsiteX8" fmla="*/ 0 w 12192000"/>
              <a:gd name="connsiteY8" fmla="*/ 0 h 6858000"/>
              <a:gd name="connsiteX0" fmla="*/ 0 w 12192000"/>
              <a:gd name="connsiteY0" fmla="*/ 0 h 2406604"/>
              <a:gd name="connsiteX1" fmla="*/ 12192000 w 12192000"/>
              <a:gd name="connsiteY1" fmla="*/ 0 h 2406604"/>
              <a:gd name="connsiteX2" fmla="*/ 12192000 w 12192000"/>
              <a:gd name="connsiteY2" fmla="*/ 2406593 h 2406604"/>
              <a:gd name="connsiteX3" fmla="*/ 12178573 w 12192000"/>
              <a:gd name="connsiteY3" fmla="*/ 2273403 h 2406604"/>
              <a:gd name="connsiteX4" fmla="*/ 11531070 w 12192000"/>
              <a:gd name="connsiteY4" fmla="*/ 1745673 h 2406604"/>
              <a:gd name="connsiteX5" fmla="*/ 660932 w 12192000"/>
              <a:gd name="connsiteY5" fmla="*/ 1745673 h 2406604"/>
              <a:gd name="connsiteX6" fmla="*/ 1 w 12192000"/>
              <a:gd name="connsiteY6" fmla="*/ 2406604 h 2406604"/>
              <a:gd name="connsiteX7" fmla="*/ 0 w 12192000"/>
              <a:gd name="connsiteY7" fmla="*/ 0 h 240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406604">
                <a:moveTo>
                  <a:pt x="0" y="0"/>
                </a:moveTo>
                <a:lnTo>
                  <a:pt x="12192000" y="0"/>
                </a:lnTo>
                <a:lnTo>
                  <a:pt x="12192000" y="2406593"/>
                </a:lnTo>
                <a:lnTo>
                  <a:pt x="12178573" y="2273403"/>
                </a:lnTo>
                <a:cubicBezTo>
                  <a:pt x="12116944" y="1972228"/>
                  <a:pt x="11850464" y="1745673"/>
                  <a:pt x="11531070" y="1745673"/>
                </a:cubicBezTo>
                <a:lnTo>
                  <a:pt x="660932" y="1745673"/>
                </a:lnTo>
                <a:cubicBezTo>
                  <a:pt x="295910" y="1745673"/>
                  <a:pt x="1" y="2041582"/>
                  <a:pt x="1" y="2406604"/>
                </a:cubicBezTo>
                <a:cubicBezTo>
                  <a:pt x="1" y="1604403"/>
                  <a:pt x="0" y="802201"/>
                  <a:pt x="0" y="0"/>
                </a:cubicBez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067F09-5D3F-DC5C-3294-B59CD5539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817" y="264120"/>
            <a:ext cx="9971451" cy="1014347"/>
          </a:xfrm>
        </p:spPr>
        <p:txBody>
          <a:bodyPr anchor="ctr">
            <a:norm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When to Use What?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0582FEF-A3FD-780B-6058-F4CA1AF4F6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5988598"/>
              </p:ext>
            </p:extLst>
          </p:nvPr>
        </p:nvGraphicFramePr>
        <p:xfrm>
          <a:off x="1566658" y="1971040"/>
          <a:ext cx="9081805" cy="44526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319893">
                  <a:extLst>
                    <a:ext uri="{9D8B030D-6E8A-4147-A177-3AD203B41FA5}">
                      <a16:colId xmlns:a16="http://schemas.microsoft.com/office/drawing/2014/main" val="3264205112"/>
                    </a:ext>
                  </a:extLst>
                </a:gridCol>
                <a:gridCol w="1512998">
                  <a:extLst>
                    <a:ext uri="{9D8B030D-6E8A-4147-A177-3AD203B41FA5}">
                      <a16:colId xmlns:a16="http://schemas.microsoft.com/office/drawing/2014/main" val="659966120"/>
                    </a:ext>
                  </a:extLst>
                </a:gridCol>
                <a:gridCol w="3248914">
                  <a:extLst>
                    <a:ext uri="{9D8B030D-6E8A-4147-A177-3AD203B41FA5}">
                      <a16:colId xmlns:a16="http://schemas.microsoft.com/office/drawing/2014/main" val="1233400743"/>
                    </a:ext>
                  </a:extLst>
                </a:gridCol>
              </a:tblGrid>
              <a:tr h="5209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100" kern="100">
                          <a:effectLst/>
                        </a:rPr>
                        <a:t>Use Case</a:t>
                      </a:r>
                      <a:endParaRPr lang="en-IN" sz="21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351" marR="16351" marT="16351" marB="1635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100" kern="100" dirty="0">
                          <a:effectLst/>
                        </a:rPr>
                        <a:t>Prefer SQL</a:t>
                      </a:r>
                      <a:endParaRPr lang="en-IN" sz="21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351" marR="16351" marT="16351" marB="1635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100" kern="100">
                          <a:effectLst/>
                        </a:rPr>
                        <a:t>Prefer Pandas</a:t>
                      </a:r>
                      <a:endParaRPr lang="en-IN" sz="21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351" marR="16351" marT="16351" marB="16351" anchor="ctr"/>
                </a:tc>
                <a:extLst>
                  <a:ext uri="{0D108BD9-81ED-4DB2-BD59-A6C34878D82A}">
                    <a16:rowId xmlns:a16="http://schemas.microsoft.com/office/drawing/2014/main" val="446619264"/>
                  </a:ext>
                </a:extLst>
              </a:tr>
              <a:tr h="5209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100" kern="100">
                          <a:effectLst/>
                        </a:rPr>
                        <a:t>Large-scale production DB</a:t>
                      </a:r>
                      <a:endParaRPr lang="en-IN" sz="21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351" marR="16351" marT="16351" marB="1635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100" kern="100">
                          <a:effectLst/>
                        </a:rPr>
                        <a:t>✅</a:t>
                      </a:r>
                      <a:endParaRPr lang="en-IN" sz="21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351" marR="16351" marT="16351" marB="1635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100" kern="100">
                          <a:effectLst/>
                        </a:rPr>
                        <a:t>❌</a:t>
                      </a:r>
                      <a:endParaRPr lang="en-IN" sz="21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351" marR="16351" marT="16351" marB="16351" anchor="ctr"/>
                </a:tc>
                <a:extLst>
                  <a:ext uri="{0D108BD9-81ED-4DB2-BD59-A6C34878D82A}">
                    <a16:rowId xmlns:a16="http://schemas.microsoft.com/office/drawing/2014/main" val="1242248149"/>
                  </a:ext>
                </a:extLst>
              </a:tr>
              <a:tr h="8953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100" kern="100">
                          <a:effectLst/>
                        </a:rPr>
                        <a:t>Data stored in a relational database</a:t>
                      </a:r>
                      <a:endParaRPr lang="en-IN" sz="21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351" marR="16351" marT="16351" marB="1635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100" kern="100">
                          <a:effectLst/>
                        </a:rPr>
                        <a:t>✅</a:t>
                      </a:r>
                      <a:endParaRPr lang="en-IN" sz="21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351" marR="16351" marT="16351" marB="1635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100" kern="100">
                          <a:effectLst/>
                        </a:rPr>
                        <a:t>❌</a:t>
                      </a:r>
                      <a:endParaRPr lang="en-IN" sz="21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351" marR="16351" marT="16351" marB="16351" anchor="ctr"/>
                </a:tc>
                <a:extLst>
                  <a:ext uri="{0D108BD9-81ED-4DB2-BD59-A6C34878D82A}">
                    <a16:rowId xmlns:a16="http://schemas.microsoft.com/office/drawing/2014/main" val="4262758091"/>
                  </a:ext>
                </a:extLst>
              </a:tr>
              <a:tr h="5209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100" kern="100">
                          <a:effectLst/>
                        </a:rPr>
                        <a:t>Quick filtering or joins in Jupyter</a:t>
                      </a:r>
                      <a:endParaRPr lang="en-IN" sz="21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351" marR="16351" marT="16351" marB="1635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100" kern="100">
                          <a:effectLst/>
                        </a:rPr>
                        <a:t>❌</a:t>
                      </a:r>
                      <a:endParaRPr lang="en-IN" sz="21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351" marR="16351" marT="16351" marB="1635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100" kern="100">
                          <a:effectLst/>
                        </a:rPr>
                        <a:t>✅</a:t>
                      </a:r>
                      <a:endParaRPr lang="en-IN" sz="21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351" marR="16351" marT="16351" marB="16351" anchor="ctr"/>
                </a:tc>
                <a:extLst>
                  <a:ext uri="{0D108BD9-81ED-4DB2-BD59-A6C34878D82A}">
                    <a16:rowId xmlns:a16="http://schemas.microsoft.com/office/drawing/2014/main" val="3104590829"/>
                  </a:ext>
                </a:extLst>
              </a:tr>
              <a:tr h="5209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100" kern="100">
                          <a:effectLst/>
                        </a:rPr>
                        <a:t>Feature engineering for ML</a:t>
                      </a:r>
                      <a:endParaRPr lang="en-IN" sz="21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351" marR="16351" marT="16351" marB="1635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100" kern="100">
                          <a:effectLst/>
                        </a:rPr>
                        <a:t>❌</a:t>
                      </a:r>
                      <a:endParaRPr lang="en-IN" sz="21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351" marR="16351" marT="16351" marB="1635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100" kern="100">
                          <a:effectLst/>
                        </a:rPr>
                        <a:t>✅</a:t>
                      </a:r>
                      <a:endParaRPr lang="en-IN" sz="21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351" marR="16351" marT="16351" marB="16351" anchor="ctr"/>
                </a:tc>
                <a:extLst>
                  <a:ext uri="{0D108BD9-81ED-4DB2-BD59-A6C34878D82A}">
                    <a16:rowId xmlns:a16="http://schemas.microsoft.com/office/drawing/2014/main" val="1169446832"/>
                  </a:ext>
                </a:extLst>
              </a:tr>
              <a:tr h="9525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100" kern="100">
                          <a:effectLst/>
                        </a:rPr>
                        <a:t>Integrated workflows (LangChain, SQL agents)</a:t>
                      </a:r>
                      <a:endParaRPr lang="en-IN" sz="21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351" marR="16351" marT="16351" marB="1635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100" kern="100">
                          <a:effectLst/>
                        </a:rPr>
                        <a:t>✅</a:t>
                      </a:r>
                      <a:endParaRPr lang="en-IN" sz="21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351" marR="16351" marT="16351" marB="1635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100" kern="100" dirty="0">
                          <a:effectLst/>
                        </a:rPr>
                        <a:t>✅ </a:t>
                      </a:r>
                      <a:endParaRPr lang="en-IN" sz="21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351" marR="16351" marT="16351" marB="16351" anchor="ctr"/>
                </a:tc>
                <a:extLst>
                  <a:ext uri="{0D108BD9-81ED-4DB2-BD59-A6C34878D82A}">
                    <a16:rowId xmlns:a16="http://schemas.microsoft.com/office/drawing/2014/main" val="4224371793"/>
                  </a:ext>
                </a:extLst>
              </a:tr>
              <a:tr h="5209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100" kern="100">
                          <a:effectLst/>
                        </a:rPr>
                        <a:t>Data science notebooks &amp; EDA</a:t>
                      </a:r>
                      <a:endParaRPr lang="en-IN" sz="21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351" marR="16351" marT="16351" marB="1635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100" kern="100">
                          <a:effectLst/>
                        </a:rPr>
                        <a:t>❌</a:t>
                      </a:r>
                      <a:endParaRPr lang="en-IN" sz="21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351" marR="16351" marT="16351" marB="1635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100" kern="100" dirty="0">
                          <a:effectLst/>
                        </a:rPr>
                        <a:t>✅</a:t>
                      </a:r>
                      <a:endParaRPr lang="en-IN" sz="21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351" marR="16351" marT="16351" marB="16351" anchor="ctr"/>
                </a:tc>
                <a:extLst>
                  <a:ext uri="{0D108BD9-81ED-4DB2-BD59-A6C34878D82A}">
                    <a16:rowId xmlns:a16="http://schemas.microsoft.com/office/drawing/2014/main" val="3282134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573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F904DB4-22D2-4F22-B1B8-ADDDBB7FF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60C5463-4C1F-6EA2-5253-B3A2FE16A3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4076698" cy="6858000"/>
          </a:xfrm>
          <a:custGeom>
            <a:avLst/>
            <a:gdLst>
              <a:gd name="connsiteX0" fmla="*/ 4076698 w 4076698"/>
              <a:gd name="connsiteY0" fmla="*/ 6858000 h 6858000"/>
              <a:gd name="connsiteX1" fmla="*/ 677913 w 4076698"/>
              <a:gd name="connsiteY1" fmla="*/ 6858000 h 6858000"/>
              <a:gd name="connsiteX2" fmla="*/ 0 w 4076698"/>
              <a:gd name="connsiteY2" fmla="*/ 6180087 h 6858000"/>
              <a:gd name="connsiteX3" fmla="*/ 0 w 4076698"/>
              <a:gd name="connsiteY3" fmla="*/ 677913 h 6858000"/>
              <a:gd name="connsiteX4" fmla="*/ 677913 w 4076698"/>
              <a:gd name="connsiteY4" fmla="*/ 0 h 6858000"/>
              <a:gd name="connsiteX5" fmla="*/ 4076698 w 4076698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76698" h="6858000">
                <a:moveTo>
                  <a:pt x="4076698" y="6858000"/>
                </a:move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lnTo>
                  <a:pt x="4076698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BE1AAB-529A-6B68-65B8-2D3D1D6E7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057" y="753762"/>
            <a:ext cx="3229942" cy="5436609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Summary</a:t>
            </a:r>
            <a:endParaRPr lang="en-IN" sz="400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69B8E-7058-0921-831D-CBEE2AC840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6/20/2025</a:t>
            </a:fld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7E25B0FD-034C-C07D-F4A8-065E327595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2351962"/>
              </p:ext>
            </p:extLst>
          </p:nvPr>
        </p:nvGraphicFramePr>
        <p:xfrm>
          <a:off x="5015619" y="838201"/>
          <a:ext cx="6388331" cy="5191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1340093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Custom 8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602636BD-A055-489B-83EC-AD971B7E5F9C}" vid="{CD33A9BC-C4B5-4F36-8A14-490DC4E38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358</Words>
  <Application>Microsoft Office PowerPoint</Application>
  <PresentationFormat>Widescreen</PresentationFormat>
  <Paragraphs>70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Neue Haas Grotesk Text Pro</vt:lpstr>
      <vt:lpstr>DylanVTI</vt:lpstr>
      <vt:lpstr>SQL</vt:lpstr>
      <vt:lpstr>PowerPoint Presentation</vt:lpstr>
      <vt:lpstr>Why You Should Include Basic SQL (But Lightly) </vt:lpstr>
      <vt:lpstr>SQL vs Pandas: Key Difference</vt:lpstr>
      <vt:lpstr>When to Use What?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Mahipal Singh</dc:creator>
  <cp:lastModifiedBy>Mahipal Singh</cp:lastModifiedBy>
  <cp:revision>3</cp:revision>
  <dcterms:created xsi:type="dcterms:W3CDTF">2025-06-20T06:28:58Z</dcterms:created>
  <dcterms:modified xsi:type="dcterms:W3CDTF">2025-06-20T13:01:27Z</dcterms:modified>
</cp:coreProperties>
</file>