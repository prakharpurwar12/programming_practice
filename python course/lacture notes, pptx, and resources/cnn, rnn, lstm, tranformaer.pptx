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68" r:id="rId5"/>
    <p:sldId id="265" r:id="rId6"/>
    <p:sldId id="269" r:id="rId7"/>
    <p:sldId id="266" r:id="rId8"/>
    <p:sldId id="267" r:id="rId9"/>
    <p:sldId id="258" r:id="rId10"/>
    <p:sldId id="263" r:id="rId11"/>
    <p:sldId id="264" r:id="rId12"/>
    <p:sldId id="261" r:id="rId13"/>
    <p:sldId id="274" r:id="rId14"/>
    <p:sldId id="259" r:id="rId15"/>
    <p:sldId id="26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546A70-B984-44DD-B383-E2A981B26A1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631093B-489E-45DE-893F-1B265F15DC5E}">
      <dgm:prSet/>
      <dgm:spPr/>
      <dgm:t>
        <a:bodyPr/>
        <a:lstStyle/>
        <a:p>
          <a:pPr>
            <a:defRPr cap="all"/>
          </a:pPr>
          <a:r>
            <a:rPr lang="en-US" b="0" i="0" baseline="0"/>
            <a:t>CNN: Convolutional Neural Network (for images)</a:t>
          </a:r>
          <a:endParaRPr lang="en-US"/>
        </a:p>
      </dgm:t>
    </dgm:pt>
    <dgm:pt modelId="{ED953240-058C-4C48-8031-4072ADB17AE9}" type="parTrans" cxnId="{C94A4923-E6A6-469A-9CDA-80201944FDC4}">
      <dgm:prSet/>
      <dgm:spPr/>
      <dgm:t>
        <a:bodyPr/>
        <a:lstStyle/>
        <a:p>
          <a:endParaRPr lang="en-US"/>
        </a:p>
      </dgm:t>
    </dgm:pt>
    <dgm:pt modelId="{FBC27802-A7DC-46B0-BDF1-C11C5415E5C7}" type="sibTrans" cxnId="{C94A4923-E6A6-469A-9CDA-80201944FDC4}">
      <dgm:prSet/>
      <dgm:spPr/>
      <dgm:t>
        <a:bodyPr/>
        <a:lstStyle/>
        <a:p>
          <a:endParaRPr lang="en-US"/>
        </a:p>
      </dgm:t>
    </dgm:pt>
    <dgm:pt modelId="{B4DE4139-DC8A-4334-9901-8D7434BF9135}">
      <dgm:prSet/>
      <dgm:spPr/>
      <dgm:t>
        <a:bodyPr/>
        <a:lstStyle/>
        <a:p>
          <a:pPr>
            <a:defRPr cap="all"/>
          </a:pPr>
          <a:r>
            <a:rPr lang="en-US" b="0" i="0" baseline="0"/>
            <a:t>RNN: Recurrent Neural Network (for sequences)</a:t>
          </a:r>
          <a:endParaRPr lang="en-US"/>
        </a:p>
      </dgm:t>
    </dgm:pt>
    <dgm:pt modelId="{A108F594-31CB-4ACB-BB55-BAC5DE0848D3}" type="parTrans" cxnId="{9AB9C291-EE12-4233-A81D-A5E827A5C2CC}">
      <dgm:prSet/>
      <dgm:spPr/>
      <dgm:t>
        <a:bodyPr/>
        <a:lstStyle/>
        <a:p>
          <a:endParaRPr lang="en-US"/>
        </a:p>
      </dgm:t>
    </dgm:pt>
    <dgm:pt modelId="{DDDF3D9E-BE00-40BD-83EE-0ACCE2D13FDD}" type="sibTrans" cxnId="{9AB9C291-EE12-4233-A81D-A5E827A5C2CC}">
      <dgm:prSet/>
      <dgm:spPr/>
      <dgm:t>
        <a:bodyPr/>
        <a:lstStyle/>
        <a:p>
          <a:endParaRPr lang="en-US"/>
        </a:p>
      </dgm:t>
    </dgm:pt>
    <dgm:pt modelId="{250DCE4B-CFA5-4747-B5BF-13C167919D34}">
      <dgm:prSet/>
      <dgm:spPr/>
      <dgm:t>
        <a:bodyPr/>
        <a:lstStyle/>
        <a:p>
          <a:pPr>
            <a:defRPr cap="all"/>
          </a:pPr>
          <a:r>
            <a:rPr lang="en-US" b="0" i="0" baseline="0"/>
            <a:t>LSTM: Long Short-Term Memory (fixes RNN issues)</a:t>
          </a:r>
          <a:endParaRPr lang="en-US"/>
        </a:p>
      </dgm:t>
    </dgm:pt>
    <dgm:pt modelId="{BDAE49F2-B615-43A4-BA17-6A71C3C3AE56}" type="parTrans" cxnId="{CBE76D2F-E192-4497-8C77-6A5F41BAEABD}">
      <dgm:prSet/>
      <dgm:spPr/>
      <dgm:t>
        <a:bodyPr/>
        <a:lstStyle/>
        <a:p>
          <a:endParaRPr lang="en-US"/>
        </a:p>
      </dgm:t>
    </dgm:pt>
    <dgm:pt modelId="{6B097161-A5A5-4D7C-9C84-03BFF6D49F45}" type="sibTrans" cxnId="{CBE76D2F-E192-4497-8C77-6A5F41BAEABD}">
      <dgm:prSet/>
      <dgm:spPr/>
      <dgm:t>
        <a:bodyPr/>
        <a:lstStyle/>
        <a:p>
          <a:endParaRPr lang="en-US"/>
        </a:p>
      </dgm:t>
    </dgm:pt>
    <dgm:pt modelId="{72E03218-567B-41BE-AC93-D9136333DB3C}">
      <dgm:prSet/>
      <dgm:spPr/>
      <dgm:t>
        <a:bodyPr/>
        <a:lstStyle/>
        <a:p>
          <a:pPr>
            <a:defRPr cap="all"/>
          </a:pPr>
          <a:r>
            <a:rPr lang="en-US" b="0" i="0" baseline="0"/>
            <a:t>Key Question: Are they still relevant in the Transformer era?</a:t>
          </a:r>
          <a:endParaRPr lang="en-US"/>
        </a:p>
      </dgm:t>
    </dgm:pt>
    <dgm:pt modelId="{2280C62A-C6BD-4C1A-B04B-6D7597D203B6}" type="parTrans" cxnId="{E67C714E-AA0F-4A28-96D8-E5B513A2EC1E}">
      <dgm:prSet/>
      <dgm:spPr/>
      <dgm:t>
        <a:bodyPr/>
        <a:lstStyle/>
        <a:p>
          <a:endParaRPr lang="en-US"/>
        </a:p>
      </dgm:t>
    </dgm:pt>
    <dgm:pt modelId="{454D1E25-CCE0-40A4-950D-BF009AF3DB49}" type="sibTrans" cxnId="{E67C714E-AA0F-4A28-96D8-E5B513A2EC1E}">
      <dgm:prSet/>
      <dgm:spPr/>
      <dgm:t>
        <a:bodyPr/>
        <a:lstStyle/>
        <a:p>
          <a:endParaRPr lang="en-US"/>
        </a:p>
      </dgm:t>
    </dgm:pt>
    <dgm:pt modelId="{7A57DBB4-2BCF-465F-AEBE-BAD6CAA6A3F2}" type="pres">
      <dgm:prSet presAssocID="{8E546A70-B984-44DD-B383-E2A981B26A17}" presName="root" presStyleCnt="0">
        <dgm:presLayoutVars>
          <dgm:dir/>
          <dgm:resizeHandles val="exact"/>
        </dgm:presLayoutVars>
      </dgm:prSet>
      <dgm:spPr/>
    </dgm:pt>
    <dgm:pt modelId="{C606ED6D-AAA0-48A1-902F-6E2DB707A68F}" type="pres">
      <dgm:prSet presAssocID="{8631093B-489E-45DE-893F-1B265F15DC5E}" presName="compNode" presStyleCnt="0"/>
      <dgm:spPr/>
    </dgm:pt>
    <dgm:pt modelId="{F5A82F68-F71C-4548-9117-F4E5C05E129C}" type="pres">
      <dgm:prSet presAssocID="{8631093B-489E-45DE-893F-1B265F15DC5E}" presName="iconBgRect" presStyleLbl="bgShp" presStyleIdx="0" presStyleCnt="4"/>
      <dgm:spPr/>
    </dgm:pt>
    <dgm:pt modelId="{72DE738A-F6E7-4473-845D-F6B3CEE4B20F}" type="pres">
      <dgm:prSet presAssocID="{8631093B-489E-45DE-893F-1B265F15DC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5EB492B6-9165-4185-9FC9-F77636D5D361}" type="pres">
      <dgm:prSet presAssocID="{8631093B-489E-45DE-893F-1B265F15DC5E}" presName="spaceRect" presStyleCnt="0"/>
      <dgm:spPr/>
    </dgm:pt>
    <dgm:pt modelId="{378CC045-C8E9-4247-9BD6-F0F5937B555F}" type="pres">
      <dgm:prSet presAssocID="{8631093B-489E-45DE-893F-1B265F15DC5E}" presName="textRect" presStyleLbl="revTx" presStyleIdx="0" presStyleCnt="4">
        <dgm:presLayoutVars>
          <dgm:chMax val="1"/>
          <dgm:chPref val="1"/>
        </dgm:presLayoutVars>
      </dgm:prSet>
      <dgm:spPr/>
    </dgm:pt>
    <dgm:pt modelId="{55630B2D-B883-415E-89E7-56F248B73B96}" type="pres">
      <dgm:prSet presAssocID="{FBC27802-A7DC-46B0-BDF1-C11C5415E5C7}" presName="sibTrans" presStyleCnt="0"/>
      <dgm:spPr/>
    </dgm:pt>
    <dgm:pt modelId="{FAFE451D-B9EA-4371-AF82-71DB583A6DE0}" type="pres">
      <dgm:prSet presAssocID="{B4DE4139-DC8A-4334-9901-8D7434BF9135}" presName="compNode" presStyleCnt="0"/>
      <dgm:spPr/>
    </dgm:pt>
    <dgm:pt modelId="{9197E930-1F9B-4CCF-9275-026C31BC9C34}" type="pres">
      <dgm:prSet presAssocID="{B4DE4139-DC8A-4334-9901-8D7434BF9135}" presName="iconBgRect" presStyleLbl="bgShp" presStyleIdx="1" presStyleCnt="4"/>
      <dgm:spPr/>
    </dgm:pt>
    <dgm:pt modelId="{54342AAE-B508-4F0F-BCAF-7181353F491E}" type="pres">
      <dgm:prSet presAssocID="{B4DE4139-DC8A-4334-9901-8D7434BF91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7A59878A-453E-4E09-86A8-193BD7056E23}" type="pres">
      <dgm:prSet presAssocID="{B4DE4139-DC8A-4334-9901-8D7434BF9135}" presName="spaceRect" presStyleCnt="0"/>
      <dgm:spPr/>
    </dgm:pt>
    <dgm:pt modelId="{B19D5AC9-F6ED-47B1-BEA0-63CB9355344D}" type="pres">
      <dgm:prSet presAssocID="{B4DE4139-DC8A-4334-9901-8D7434BF9135}" presName="textRect" presStyleLbl="revTx" presStyleIdx="1" presStyleCnt="4">
        <dgm:presLayoutVars>
          <dgm:chMax val="1"/>
          <dgm:chPref val="1"/>
        </dgm:presLayoutVars>
      </dgm:prSet>
      <dgm:spPr/>
    </dgm:pt>
    <dgm:pt modelId="{4CA86C6B-D692-41C5-B324-1B744810D6F1}" type="pres">
      <dgm:prSet presAssocID="{DDDF3D9E-BE00-40BD-83EE-0ACCE2D13FDD}" presName="sibTrans" presStyleCnt="0"/>
      <dgm:spPr/>
    </dgm:pt>
    <dgm:pt modelId="{8B11FC21-4F05-47AA-96D7-24CDFC3BB729}" type="pres">
      <dgm:prSet presAssocID="{250DCE4B-CFA5-4747-B5BF-13C167919D34}" presName="compNode" presStyleCnt="0"/>
      <dgm:spPr/>
    </dgm:pt>
    <dgm:pt modelId="{66A50C5F-2420-44C6-A926-E0E154C4728F}" type="pres">
      <dgm:prSet presAssocID="{250DCE4B-CFA5-4747-B5BF-13C167919D34}" presName="iconBgRect" presStyleLbl="bgShp" presStyleIdx="2" presStyleCnt="4"/>
      <dgm:spPr/>
    </dgm:pt>
    <dgm:pt modelId="{51D008E4-1F41-4212-B5D7-42D09CB5E84D}" type="pres">
      <dgm:prSet presAssocID="{250DCE4B-CFA5-4747-B5BF-13C167919D3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E0562F64-6B8C-4644-A070-299DF7E42ABA}" type="pres">
      <dgm:prSet presAssocID="{250DCE4B-CFA5-4747-B5BF-13C167919D34}" presName="spaceRect" presStyleCnt="0"/>
      <dgm:spPr/>
    </dgm:pt>
    <dgm:pt modelId="{D51D2CFA-5423-4C0B-BB57-80BAB9C89619}" type="pres">
      <dgm:prSet presAssocID="{250DCE4B-CFA5-4747-B5BF-13C167919D34}" presName="textRect" presStyleLbl="revTx" presStyleIdx="2" presStyleCnt="4">
        <dgm:presLayoutVars>
          <dgm:chMax val="1"/>
          <dgm:chPref val="1"/>
        </dgm:presLayoutVars>
      </dgm:prSet>
      <dgm:spPr/>
    </dgm:pt>
    <dgm:pt modelId="{AA6C2E8B-DC7C-492B-9F0D-FED2F01BA1EA}" type="pres">
      <dgm:prSet presAssocID="{6B097161-A5A5-4D7C-9C84-03BFF6D49F45}" presName="sibTrans" presStyleCnt="0"/>
      <dgm:spPr/>
    </dgm:pt>
    <dgm:pt modelId="{50632F12-F2B4-4F88-86C1-1E2023BF1671}" type="pres">
      <dgm:prSet presAssocID="{72E03218-567B-41BE-AC93-D9136333DB3C}" presName="compNode" presStyleCnt="0"/>
      <dgm:spPr/>
    </dgm:pt>
    <dgm:pt modelId="{BD12F826-C6F9-4864-B759-3FB92747840C}" type="pres">
      <dgm:prSet presAssocID="{72E03218-567B-41BE-AC93-D9136333DB3C}" presName="iconBgRect" presStyleLbl="bgShp" presStyleIdx="3" presStyleCnt="4"/>
      <dgm:spPr/>
    </dgm:pt>
    <dgm:pt modelId="{FAAD14F2-C582-4CB7-A184-3980138117EA}" type="pres">
      <dgm:prSet presAssocID="{72E03218-567B-41BE-AC93-D9136333DB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AB4777A-353F-41F2-B591-563B33A151E0}" type="pres">
      <dgm:prSet presAssocID="{72E03218-567B-41BE-AC93-D9136333DB3C}" presName="spaceRect" presStyleCnt="0"/>
      <dgm:spPr/>
    </dgm:pt>
    <dgm:pt modelId="{C958F243-600C-4827-83D4-80A96F4725FD}" type="pres">
      <dgm:prSet presAssocID="{72E03218-567B-41BE-AC93-D9136333DB3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94A4923-E6A6-469A-9CDA-80201944FDC4}" srcId="{8E546A70-B984-44DD-B383-E2A981B26A17}" destId="{8631093B-489E-45DE-893F-1B265F15DC5E}" srcOrd="0" destOrd="0" parTransId="{ED953240-058C-4C48-8031-4072ADB17AE9}" sibTransId="{FBC27802-A7DC-46B0-BDF1-C11C5415E5C7}"/>
    <dgm:cxn modelId="{CBE76D2F-E192-4497-8C77-6A5F41BAEABD}" srcId="{8E546A70-B984-44DD-B383-E2A981B26A17}" destId="{250DCE4B-CFA5-4747-B5BF-13C167919D34}" srcOrd="2" destOrd="0" parTransId="{BDAE49F2-B615-43A4-BA17-6A71C3C3AE56}" sibTransId="{6B097161-A5A5-4D7C-9C84-03BFF6D49F45}"/>
    <dgm:cxn modelId="{D890B665-6AAC-466A-8ABB-05A55C38B0F9}" type="presOf" srcId="{8631093B-489E-45DE-893F-1B265F15DC5E}" destId="{378CC045-C8E9-4247-9BD6-F0F5937B555F}" srcOrd="0" destOrd="0" presId="urn:microsoft.com/office/officeart/2018/5/layout/IconCircleLabelList"/>
    <dgm:cxn modelId="{BD80A348-B02B-4E77-A0B5-76E1944C00A8}" type="presOf" srcId="{B4DE4139-DC8A-4334-9901-8D7434BF9135}" destId="{B19D5AC9-F6ED-47B1-BEA0-63CB9355344D}" srcOrd="0" destOrd="0" presId="urn:microsoft.com/office/officeart/2018/5/layout/IconCircleLabelList"/>
    <dgm:cxn modelId="{E67C714E-AA0F-4A28-96D8-E5B513A2EC1E}" srcId="{8E546A70-B984-44DD-B383-E2A981B26A17}" destId="{72E03218-567B-41BE-AC93-D9136333DB3C}" srcOrd="3" destOrd="0" parTransId="{2280C62A-C6BD-4C1A-B04B-6D7597D203B6}" sibTransId="{454D1E25-CCE0-40A4-950D-BF009AF3DB49}"/>
    <dgm:cxn modelId="{9AB9C291-EE12-4233-A81D-A5E827A5C2CC}" srcId="{8E546A70-B984-44DD-B383-E2A981B26A17}" destId="{B4DE4139-DC8A-4334-9901-8D7434BF9135}" srcOrd="1" destOrd="0" parTransId="{A108F594-31CB-4ACB-BB55-BAC5DE0848D3}" sibTransId="{DDDF3D9E-BE00-40BD-83EE-0ACCE2D13FDD}"/>
    <dgm:cxn modelId="{FB0396BA-2750-4747-86BD-8776A34034DA}" type="presOf" srcId="{250DCE4B-CFA5-4747-B5BF-13C167919D34}" destId="{D51D2CFA-5423-4C0B-BB57-80BAB9C89619}" srcOrd="0" destOrd="0" presId="urn:microsoft.com/office/officeart/2018/5/layout/IconCircleLabelList"/>
    <dgm:cxn modelId="{5E8781DB-BB6F-4499-943D-683090482442}" type="presOf" srcId="{8E546A70-B984-44DD-B383-E2A981B26A17}" destId="{7A57DBB4-2BCF-465F-AEBE-BAD6CAA6A3F2}" srcOrd="0" destOrd="0" presId="urn:microsoft.com/office/officeart/2018/5/layout/IconCircleLabelList"/>
    <dgm:cxn modelId="{7354F1E2-CE57-4DB2-8EF4-647CE8F87349}" type="presOf" srcId="{72E03218-567B-41BE-AC93-D9136333DB3C}" destId="{C958F243-600C-4827-83D4-80A96F4725FD}" srcOrd="0" destOrd="0" presId="urn:microsoft.com/office/officeart/2018/5/layout/IconCircleLabelList"/>
    <dgm:cxn modelId="{66A308A8-DBC2-4A4B-A66B-6D120F15460A}" type="presParOf" srcId="{7A57DBB4-2BCF-465F-AEBE-BAD6CAA6A3F2}" destId="{C606ED6D-AAA0-48A1-902F-6E2DB707A68F}" srcOrd="0" destOrd="0" presId="urn:microsoft.com/office/officeart/2018/5/layout/IconCircleLabelList"/>
    <dgm:cxn modelId="{DC5F9B46-652A-470B-A673-3B41F1A80F40}" type="presParOf" srcId="{C606ED6D-AAA0-48A1-902F-6E2DB707A68F}" destId="{F5A82F68-F71C-4548-9117-F4E5C05E129C}" srcOrd="0" destOrd="0" presId="urn:microsoft.com/office/officeart/2018/5/layout/IconCircleLabelList"/>
    <dgm:cxn modelId="{16DBBA1A-06EC-423A-BA12-A48F301116C7}" type="presParOf" srcId="{C606ED6D-AAA0-48A1-902F-6E2DB707A68F}" destId="{72DE738A-F6E7-4473-845D-F6B3CEE4B20F}" srcOrd="1" destOrd="0" presId="urn:microsoft.com/office/officeart/2018/5/layout/IconCircleLabelList"/>
    <dgm:cxn modelId="{4544C457-F250-4F10-A60F-6A5A7F1DEE58}" type="presParOf" srcId="{C606ED6D-AAA0-48A1-902F-6E2DB707A68F}" destId="{5EB492B6-9165-4185-9FC9-F77636D5D361}" srcOrd="2" destOrd="0" presId="urn:microsoft.com/office/officeart/2018/5/layout/IconCircleLabelList"/>
    <dgm:cxn modelId="{B6311599-3D87-44DC-B803-C7318F71BCDA}" type="presParOf" srcId="{C606ED6D-AAA0-48A1-902F-6E2DB707A68F}" destId="{378CC045-C8E9-4247-9BD6-F0F5937B555F}" srcOrd="3" destOrd="0" presId="urn:microsoft.com/office/officeart/2018/5/layout/IconCircleLabelList"/>
    <dgm:cxn modelId="{20F494CD-1B11-4DE6-8631-441A361EDEAA}" type="presParOf" srcId="{7A57DBB4-2BCF-465F-AEBE-BAD6CAA6A3F2}" destId="{55630B2D-B883-415E-89E7-56F248B73B96}" srcOrd="1" destOrd="0" presId="urn:microsoft.com/office/officeart/2018/5/layout/IconCircleLabelList"/>
    <dgm:cxn modelId="{F05A237E-1348-4CBC-873E-2A71BEDB1F98}" type="presParOf" srcId="{7A57DBB4-2BCF-465F-AEBE-BAD6CAA6A3F2}" destId="{FAFE451D-B9EA-4371-AF82-71DB583A6DE0}" srcOrd="2" destOrd="0" presId="urn:microsoft.com/office/officeart/2018/5/layout/IconCircleLabelList"/>
    <dgm:cxn modelId="{A6997154-5A49-4DE7-8DA0-778ECD453D51}" type="presParOf" srcId="{FAFE451D-B9EA-4371-AF82-71DB583A6DE0}" destId="{9197E930-1F9B-4CCF-9275-026C31BC9C34}" srcOrd="0" destOrd="0" presId="urn:microsoft.com/office/officeart/2018/5/layout/IconCircleLabelList"/>
    <dgm:cxn modelId="{C0982F93-47F4-49E4-A5A4-D0E24174C330}" type="presParOf" srcId="{FAFE451D-B9EA-4371-AF82-71DB583A6DE0}" destId="{54342AAE-B508-4F0F-BCAF-7181353F491E}" srcOrd="1" destOrd="0" presId="urn:microsoft.com/office/officeart/2018/5/layout/IconCircleLabelList"/>
    <dgm:cxn modelId="{9F0A826D-74F1-44B8-8DEA-3713888EF6AF}" type="presParOf" srcId="{FAFE451D-B9EA-4371-AF82-71DB583A6DE0}" destId="{7A59878A-453E-4E09-86A8-193BD7056E23}" srcOrd="2" destOrd="0" presId="urn:microsoft.com/office/officeart/2018/5/layout/IconCircleLabelList"/>
    <dgm:cxn modelId="{2134DC90-BB1A-4FEC-9CF3-47F3A47B7727}" type="presParOf" srcId="{FAFE451D-B9EA-4371-AF82-71DB583A6DE0}" destId="{B19D5AC9-F6ED-47B1-BEA0-63CB9355344D}" srcOrd="3" destOrd="0" presId="urn:microsoft.com/office/officeart/2018/5/layout/IconCircleLabelList"/>
    <dgm:cxn modelId="{AEC446A6-AB54-48C7-8C93-D4DA755CA6C8}" type="presParOf" srcId="{7A57DBB4-2BCF-465F-AEBE-BAD6CAA6A3F2}" destId="{4CA86C6B-D692-41C5-B324-1B744810D6F1}" srcOrd="3" destOrd="0" presId="urn:microsoft.com/office/officeart/2018/5/layout/IconCircleLabelList"/>
    <dgm:cxn modelId="{D9F11CB4-A80A-4F07-90C5-5B5C5D8611AD}" type="presParOf" srcId="{7A57DBB4-2BCF-465F-AEBE-BAD6CAA6A3F2}" destId="{8B11FC21-4F05-47AA-96D7-24CDFC3BB729}" srcOrd="4" destOrd="0" presId="urn:microsoft.com/office/officeart/2018/5/layout/IconCircleLabelList"/>
    <dgm:cxn modelId="{EED0C8D9-3330-4941-85FF-B1532A1475B6}" type="presParOf" srcId="{8B11FC21-4F05-47AA-96D7-24CDFC3BB729}" destId="{66A50C5F-2420-44C6-A926-E0E154C4728F}" srcOrd="0" destOrd="0" presId="urn:microsoft.com/office/officeart/2018/5/layout/IconCircleLabelList"/>
    <dgm:cxn modelId="{0540A4EA-DA5F-4D8C-B596-77FCBDAE4AE1}" type="presParOf" srcId="{8B11FC21-4F05-47AA-96D7-24CDFC3BB729}" destId="{51D008E4-1F41-4212-B5D7-42D09CB5E84D}" srcOrd="1" destOrd="0" presId="urn:microsoft.com/office/officeart/2018/5/layout/IconCircleLabelList"/>
    <dgm:cxn modelId="{2CF7EE3E-40B2-4135-A53D-A499A99EDB20}" type="presParOf" srcId="{8B11FC21-4F05-47AA-96D7-24CDFC3BB729}" destId="{E0562F64-6B8C-4644-A070-299DF7E42ABA}" srcOrd="2" destOrd="0" presId="urn:microsoft.com/office/officeart/2018/5/layout/IconCircleLabelList"/>
    <dgm:cxn modelId="{9CD418B6-4615-4E5D-9896-DD702EC4E6A7}" type="presParOf" srcId="{8B11FC21-4F05-47AA-96D7-24CDFC3BB729}" destId="{D51D2CFA-5423-4C0B-BB57-80BAB9C89619}" srcOrd="3" destOrd="0" presId="urn:microsoft.com/office/officeart/2018/5/layout/IconCircleLabelList"/>
    <dgm:cxn modelId="{B962C125-1FDA-4F10-A883-45611C2F9659}" type="presParOf" srcId="{7A57DBB4-2BCF-465F-AEBE-BAD6CAA6A3F2}" destId="{AA6C2E8B-DC7C-492B-9F0D-FED2F01BA1EA}" srcOrd="5" destOrd="0" presId="urn:microsoft.com/office/officeart/2018/5/layout/IconCircleLabelList"/>
    <dgm:cxn modelId="{9463379C-EF71-4461-AFCF-89B6ECF0745D}" type="presParOf" srcId="{7A57DBB4-2BCF-465F-AEBE-BAD6CAA6A3F2}" destId="{50632F12-F2B4-4F88-86C1-1E2023BF1671}" srcOrd="6" destOrd="0" presId="urn:microsoft.com/office/officeart/2018/5/layout/IconCircleLabelList"/>
    <dgm:cxn modelId="{B70803F5-8958-4A31-BF5E-CCFE939EDE27}" type="presParOf" srcId="{50632F12-F2B4-4F88-86C1-1E2023BF1671}" destId="{BD12F826-C6F9-4864-B759-3FB92747840C}" srcOrd="0" destOrd="0" presId="urn:microsoft.com/office/officeart/2018/5/layout/IconCircleLabelList"/>
    <dgm:cxn modelId="{FA109549-7F5C-41D7-BD76-0B47DCDE47CF}" type="presParOf" srcId="{50632F12-F2B4-4F88-86C1-1E2023BF1671}" destId="{FAAD14F2-C582-4CB7-A184-3980138117EA}" srcOrd="1" destOrd="0" presId="urn:microsoft.com/office/officeart/2018/5/layout/IconCircleLabelList"/>
    <dgm:cxn modelId="{9161931B-51ED-4398-A1F1-AD81DF5885AE}" type="presParOf" srcId="{50632F12-F2B4-4F88-86C1-1E2023BF1671}" destId="{7AB4777A-353F-41F2-B591-563B33A151E0}" srcOrd="2" destOrd="0" presId="urn:microsoft.com/office/officeart/2018/5/layout/IconCircleLabelList"/>
    <dgm:cxn modelId="{F22E3B7E-B259-4974-A5E5-EACD1D48F8AA}" type="presParOf" srcId="{50632F12-F2B4-4F88-86C1-1E2023BF1671}" destId="{C958F243-600C-4827-83D4-80A96F4725F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A36529-BDE0-4AA7-A00E-62026D757A4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A234091-6780-4A8F-9A00-F8D0E352456F}">
      <dgm:prSet/>
      <dgm:spPr/>
      <dgm:t>
        <a:bodyPr/>
        <a:lstStyle/>
        <a:p>
          <a:r>
            <a:rPr lang="en-US" b="1"/>
            <a:t>Vanishing gradient problem</a:t>
          </a:r>
          <a:r>
            <a:rPr lang="en-US"/>
            <a:t> for long sequences</a:t>
          </a:r>
        </a:p>
      </dgm:t>
    </dgm:pt>
    <dgm:pt modelId="{D5B8E17A-54F9-4967-A691-5BC635B76901}" type="parTrans" cxnId="{8729B488-53BA-402E-B7DB-8FB2073632D6}">
      <dgm:prSet/>
      <dgm:spPr/>
      <dgm:t>
        <a:bodyPr/>
        <a:lstStyle/>
        <a:p>
          <a:endParaRPr lang="en-US"/>
        </a:p>
      </dgm:t>
    </dgm:pt>
    <dgm:pt modelId="{7D9A2A8A-1808-494D-9ADB-711FCCC246E6}" type="sibTrans" cxnId="{8729B488-53BA-402E-B7DB-8FB2073632D6}">
      <dgm:prSet/>
      <dgm:spPr/>
      <dgm:t>
        <a:bodyPr/>
        <a:lstStyle/>
        <a:p>
          <a:endParaRPr lang="en-US"/>
        </a:p>
      </dgm:t>
    </dgm:pt>
    <dgm:pt modelId="{F1F93CEB-F8CB-4B84-842C-11DB37B1F595}">
      <dgm:prSet/>
      <dgm:spPr/>
      <dgm:t>
        <a:bodyPr/>
        <a:lstStyle/>
        <a:p>
          <a:r>
            <a:rPr lang="en-US"/>
            <a:t>Hard to remember distant dependencies</a:t>
          </a:r>
        </a:p>
      </dgm:t>
    </dgm:pt>
    <dgm:pt modelId="{45B3974B-5B90-45DD-AE65-F3D026069247}" type="parTrans" cxnId="{BEF28092-1C16-4CAC-97E2-4C0D8B64BFDC}">
      <dgm:prSet/>
      <dgm:spPr/>
      <dgm:t>
        <a:bodyPr/>
        <a:lstStyle/>
        <a:p>
          <a:endParaRPr lang="en-US"/>
        </a:p>
      </dgm:t>
    </dgm:pt>
    <dgm:pt modelId="{A2981CD8-BC87-47CB-91D8-00673D321053}" type="sibTrans" cxnId="{BEF28092-1C16-4CAC-97E2-4C0D8B64BFDC}">
      <dgm:prSet/>
      <dgm:spPr/>
      <dgm:t>
        <a:bodyPr/>
        <a:lstStyle/>
        <a:p>
          <a:endParaRPr lang="en-US"/>
        </a:p>
      </dgm:t>
    </dgm:pt>
    <dgm:pt modelId="{7ADA1C96-9739-4A6C-AB1E-55547A07C02D}">
      <dgm:prSet/>
      <dgm:spPr/>
      <dgm:t>
        <a:bodyPr/>
        <a:lstStyle/>
        <a:p>
          <a:r>
            <a:rPr lang="en-US"/>
            <a:t>Difficult to parallelize → slower training</a:t>
          </a:r>
        </a:p>
      </dgm:t>
    </dgm:pt>
    <dgm:pt modelId="{BA878B24-633F-4DF0-906D-CFD1F25E8D15}" type="parTrans" cxnId="{22122496-250E-4A99-8D8C-6E1F7DED2155}">
      <dgm:prSet/>
      <dgm:spPr/>
      <dgm:t>
        <a:bodyPr/>
        <a:lstStyle/>
        <a:p>
          <a:endParaRPr lang="en-US"/>
        </a:p>
      </dgm:t>
    </dgm:pt>
    <dgm:pt modelId="{5B97F94B-42C7-4368-AE49-6EA6D602D70D}" type="sibTrans" cxnId="{22122496-250E-4A99-8D8C-6E1F7DED2155}">
      <dgm:prSet/>
      <dgm:spPr/>
      <dgm:t>
        <a:bodyPr/>
        <a:lstStyle/>
        <a:p>
          <a:endParaRPr lang="en-US"/>
        </a:p>
      </dgm:t>
    </dgm:pt>
    <dgm:pt modelId="{EE0563D3-4676-44E4-9655-B8B1B45DC71E}" type="pres">
      <dgm:prSet presAssocID="{F0A36529-BDE0-4AA7-A00E-62026D757A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14E9BC-C2DF-45CD-A05C-DD497DDC318B}" type="pres">
      <dgm:prSet presAssocID="{3A234091-6780-4A8F-9A00-F8D0E352456F}" presName="hierRoot1" presStyleCnt="0"/>
      <dgm:spPr/>
    </dgm:pt>
    <dgm:pt modelId="{14C30639-1D53-4067-BD7D-A1DE9D442580}" type="pres">
      <dgm:prSet presAssocID="{3A234091-6780-4A8F-9A00-F8D0E352456F}" presName="composite" presStyleCnt="0"/>
      <dgm:spPr/>
    </dgm:pt>
    <dgm:pt modelId="{AD42E027-FE43-4C74-9944-FA2D1A42E059}" type="pres">
      <dgm:prSet presAssocID="{3A234091-6780-4A8F-9A00-F8D0E352456F}" presName="background" presStyleLbl="node0" presStyleIdx="0" presStyleCnt="3"/>
      <dgm:spPr/>
    </dgm:pt>
    <dgm:pt modelId="{149E5B34-C7CC-4E82-8CBA-73EC80270DCB}" type="pres">
      <dgm:prSet presAssocID="{3A234091-6780-4A8F-9A00-F8D0E352456F}" presName="text" presStyleLbl="fgAcc0" presStyleIdx="0" presStyleCnt="3">
        <dgm:presLayoutVars>
          <dgm:chPref val="3"/>
        </dgm:presLayoutVars>
      </dgm:prSet>
      <dgm:spPr/>
    </dgm:pt>
    <dgm:pt modelId="{58A3BE78-3290-4060-BC17-81DA8D0DF945}" type="pres">
      <dgm:prSet presAssocID="{3A234091-6780-4A8F-9A00-F8D0E352456F}" presName="hierChild2" presStyleCnt="0"/>
      <dgm:spPr/>
    </dgm:pt>
    <dgm:pt modelId="{F3219AA4-D9A7-42F4-8282-7A910FBE0D9C}" type="pres">
      <dgm:prSet presAssocID="{F1F93CEB-F8CB-4B84-842C-11DB37B1F595}" presName="hierRoot1" presStyleCnt="0"/>
      <dgm:spPr/>
    </dgm:pt>
    <dgm:pt modelId="{18E9D075-8C74-4452-B81C-5C921E713A26}" type="pres">
      <dgm:prSet presAssocID="{F1F93CEB-F8CB-4B84-842C-11DB37B1F595}" presName="composite" presStyleCnt="0"/>
      <dgm:spPr/>
    </dgm:pt>
    <dgm:pt modelId="{2F32FC35-CF05-41BD-A536-B0EAB7BE6231}" type="pres">
      <dgm:prSet presAssocID="{F1F93CEB-F8CB-4B84-842C-11DB37B1F595}" presName="background" presStyleLbl="node0" presStyleIdx="1" presStyleCnt="3"/>
      <dgm:spPr/>
    </dgm:pt>
    <dgm:pt modelId="{C55A5484-6D11-43BB-BC32-364DF6F77161}" type="pres">
      <dgm:prSet presAssocID="{F1F93CEB-F8CB-4B84-842C-11DB37B1F595}" presName="text" presStyleLbl="fgAcc0" presStyleIdx="1" presStyleCnt="3">
        <dgm:presLayoutVars>
          <dgm:chPref val="3"/>
        </dgm:presLayoutVars>
      </dgm:prSet>
      <dgm:spPr/>
    </dgm:pt>
    <dgm:pt modelId="{6847462E-14F3-4A21-A123-4981A2BD40F7}" type="pres">
      <dgm:prSet presAssocID="{F1F93CEB-F8CB-4B84-842C-11DB37B1F595}" presName="hierChild2" presStyleCnt="0"/>
      <dgm:spPr/>
    </dgm:pt>
    <dgm:pt modelId="{4707EADB-056A-41F7-88DB-5ADD8244AA16}" type="pres">
      <dgm:prSet presAssocID="{7ADA1C96-9739-4A6C-AB1E-55547A07C02D}" presName="hierRoot1" presStyleCnt="0"/>
      <dgm:spPr/>
    </dgm:pt>
    <dgm:pt modelId="{25BE7F5D-B10F-49EA-A8DF-8D437344356A}" type="pres">
      <dgm:prSet presAssocID="{7ADA1C96-9739-4A6C-AB1E-55547A07C02D}" presName="composite" presStyleCnt="0"/>
      <dgm:spPr/>
    </dgm:pt>
    <dgm:pt modelId="{506C3168-9363-4F79-B7E4-492FEC181191}" type="pres">
      <dgm:prSet presAssocID="{7ADA1C96-9739-4A6C-AB1E-55547A07C02D}" presName="background" presStyleLbl="node0" presStyleIdx="2" presStyleCnt="3"/>
      <dgm:spPr/>
    </dgm:pt>
    <dgm:pt modelId="{74DD2B7B-89AD-465F-8FBD-AF937C031CDA}" type="pres">
      <dgm:prSet presAssocID="{7ADA1C96-9739-4A6C-AB1E-55547A07C02D}" presName="text" presStyleLbl="fgAcc0" presStyleIdx="2" presStyleCnt="3">
        <dgm:presLayoutVars>
          <dgm:chPref val="3"/>
        </dgm:presLayoutVars>
      </dgm:prSet>
      <dgm:spPr/>
    </dgm:pt>
    <dgm:pt modelId="{0865BA10-D64C-48F2-B101-A1992F97B79D}" type="pres">
      <dgm:prSet presAssocID="{7ADA1C96-9739-4A6C-AB1E-55547A07C02D}" presName="hierChild2" presStyleCnt="0"/>
      <dgm:spPr/>
    </dgm:pt>
  </dgm:ptLst>
  <dgm:cxnLst>
    <dgm:cxn modelId="{84036E68-6DC0-437A-8C12-E4EB811A35D3}" type="presOf" srcId="{7ADA1C96-9739-4A6C-AB1E-55547A07C02D}" destId="{74DD2B7B-89AD-465F-8FBD-AF937C031CDA}" srcOrd="0" destOrd="0" presId="urn:microsoft.com/office/officeart/2005/8/layout/hierarchy1"/>
    <dgm:cxn modelId="{96ABD16A-1929-4E0E-A412-32BD84846419}" type="presOf" srcId="{3A234091-6780-4A8F-9A00-F8D0E352456F}" destId="{149E5B34-C7CC-4E82-8CBA-73EC80270DCB}" srcOrd="0" destOrd="0" presId="urn:microsoft.com/office/officeart/2005/8/layout/hierarchy1"/>
    <dgm:cxn modelId="{8729B488-53BA-402E-B7DB-8FB2073632D6}" srcId="{F0A36529-BDE0-4AA7-A00E-62026D757A41}" destId="{3A234091-6780-4A8F-9A00-F8D0E352456F}" srcOrd="0" destOrd="0" parTransId="{D5B8E17A-54F9-4967-A691-5BC635B76901}" sibTransId="{7D9A2A8A-1808-494D-9ADB-711FCCC246E6}"/>
    <dgm:cxn modelId="{BEF28092-1C16-4CAC-97E2-4C0D8B64BFDC}" srcId="{F0A36529-BDE0-4AA7-A00E-62026D757A41}" destId="{F1F93CEB-F8CB-4B84-842C-11DB37B1F595}" srcOrd="1" destOrd="0" parTransId="{45B3974B-5B90-45DD-AE65-F3D026069247}" sibTransId="{A2981CD8-BC87-47CB-91D8-00673D321053}"/>
    <dgm:cxn modelId="{22122496-250E-4A99-8D8C-6E1F7DED2155}" srcId="{F0A36529-BDE0-4AA7-A00E-62026D757A41}" destId="{7ADA1C96-9739-4A6C-AB1E-55547A07C02D}" srcOrd="2" destOrd="0" parTransId="{BA878B24-633F-4DF0-906D-CFD1F25E8D15}" sibTransId="{5B97F94B-42C7-4368-AE49-6EA6D602D70D}"/>
    <dgm:cxn modelId="{3D1F3CCA-5FBF-405D-B4D4-193DE67E40FD}" type="presOf" srcId="{F1F93CEB-F8CB-4B84-842C-11DB37B1F595}" destId="{C55A5484-6D11-43BB-BC32-364DF6F77161}" srcOrd="0" destOrd="0" presId="urn:microsoft.com/office/officeart/2005/8/layout/hierarchy1"/>
    <dgm:cxn modelId="{3C85F1F3-6A4D-457B-A143-C9C679C4618F}" type="presOf" srcId="{F0A36529-BDE0-4AA7-A00E-62026D757A41}" destId="{EE0563D3-4676-44E4-9655-B8B1B45DC71E}" srcOrd="0" destOrd="0" presId="urn:microsoft.com/office/officeart/2005/8/layout/hierarchy1"/>
    <dgm:cxn modelId="{26EFB6EC-B6C7-4C36-A621-F526759E31B4}" type="presParOf" srcId="{EE0563D3-4676-44E4-9655-B8B1B45DC71E}" destId="{6C14E9BC-C2DF-45CD-A05C-DD497DDC318B}" srcOrd="0" destOrd="0" presId="urn:microsoft.com/office/officeart/2005/8/layout/hierarchy1"/>
    <dgm:cxn modelId="{35B8FC8B-A301-40E6-9737-892CD9091A19}" type="presParOf" srcId="{6C14E9BC-C2DF-45CD-A05C-DD497DDC318B}" destId="{14C30639-1D53-4067-BD7D-A1DE9D442580}" srcOrd="0" destOrd="0" presId="urn:microsoft.com/office/officeart/2005/8/layout/hierarchy1"/>
    <dgm:cxn modelId="{08B978BF-4884-4561-8FD8-D469EABF03E7}" type="presParOf" srcId="{14C30639-1D53-4067-BD7D-A1DE9D442580}" destId="{AD42E027-FE43-4C74-9944-FA2D1A42E059}" srcOrd="0" destOrd="0" presId="urn:microsoft.com/office/officeart/2005/8/layout/hierarchy1"/>
    <dgm:cxn modelId="{B973944F-5FBC-4B68-88DB-66A1F7589FA6}" type="presParOf" srcId="{14C30639-1D53-4067-BD7D-A1DE9D442580}" destId="{149E5B34-C7CC-4E82-8CBA-73EC80270DCB}" srcOrd="1" destOrd="0" presId="urn:microsoft.com/office/officeart/2005/8/layout/hierarchy1"/>
    <dgm:cxn modelId="{0A7C01C8-9522-48BA-8CB1-13979492A92C}" type="presParOf" srcId="{6C14E9BC-C2DF-45CD-A05C-DD497DDC318B}" destId="{58A3BE78-3290-4060-BC17-81DA8D0DF945}" srcOrd="1" destOrd="0" presId="urn:microsoft.com/office/officeart/2005/8/layout/hierarchy1"/>
    <dgm:cxn modelId="{674AC92A-3AC5-42C7-A0F1-5F7BDED88370}" type="presParOf" srcId="{EE0563D3-4676-44E4-9655-B8B1B45DC71E}" destId="{F3219AA4-D9A7-42F4-8282-7A910FBE0D9C}" srcOrd="1" destOrd="0" presId="urn:microsoft.com/office/officeart/2005/8/layout/hierarchy1"/>
    <dgm:cxn modelId="{DA9BFEF3-A777-4BD5-9457-F2DFBF6D77C2}" type="presParOf" srcId="{F3219AA4-D9A7-42F4-8282-7A910FBE0D9C}" destId="{18E9D075-8C74-4452-B81C-5C921E713A26}" srcOrd="0" destOrd="0" presId="urn:microsoft.com/office/officeart/2005/8/layout/hierarchy1"/>
    <dgm:cxn modelId="{B9273568-B8E7-4A59-8AE7-D6A286D15336}" type="presParOf" srcId="{18E9D075-8C74-4452-B81C-5C921E713A26}" destId="{2F32FC35-CF05-41BD-A536-B0EAB7BE6231}" srcOrd="0" destOrd="0" presId="urn:microsoft.com/office/officeart/2005/8/layout/hierarchy1"/>
    <dgm:cxn modelId="{CF4229E3-C39A-4DEA-BD2D-E6B660C0101D}" type="presParOf" srcId="{18E9D075-8C74-4452-B81C-5C921E713A26}" destId="{C55A5484-6D11-43BB-BC32-364DF6F77161}" srcOrd="1" destOrd="0" presId="urn:microsoft.com/office/officeart/2005/8/layout/hierarchy1"/>
    <dgm:cxn modelId="{F3595819-8BB4-48BF-93AE-26345C796B2D}" type="presParOf" srcId="{F3219AA4-D9A7-42F4-8282-7A910FBE0D9C}" destId="{6847462E-14F3-4A21-A123-4981A2BD40F7}" srcOrd="1" destOrd="0" presId="urn:microsoft.com/office/officeart/2005/8/layout/hierarchy1"/>
    <dgm:cxn modelId="{0BD8A439-DC43-46AE-9BFC-B6BCB5F4C7A4}" type="presParOf" srcId="{EE0563D3-4676-44E4-9655-B8B1B45DC71E}" destId="{4707EADB-056A-41F7-88DB-5ADD8244AA16}" srcOrd="2" destOrd="0" presId="urn:microsoft.com/office/officeart/2005/8/layout/hierarchy1"/>
    <dgm:cxn modelId="{1AD5AC9E-5D95-456A-8A17-ECFD94B4007E}" type="presParOf" srcId="{4707EADB-056A-41F7-88DB-5ADD8244AA16}" destId="{25BE7F5D-B10F-49EA-A8DF-8D437344356A}" srcOrd="0" destOrd="0" presId="urn:microsoft.com/office/officeart/2005/8/layout/hierarchy1"/>
    <dgm:cxn modelId="{09269C5D-0AED-447B-98BD-5E7F636A61AA}" type="presParOf" srcId="{25BE7F5D-B10F-49EA-A8DF-8D437344356A}" destId="{506C3168-9363-4F79-B7E4-492FEC181191}" srcOrd="0" destOrd="0" presId="urn:microsoft.com/office/officeart/2005/8/layout/hierarchy1"/>
    <dgm:cxn modelId="{24503A17-DC4B-4DEF-A9AE-088C03221BC2}" type="presParOf" srcId="{25BE7F5D-B10F-49EA-A8DF-8D437344356A}" destId="{74DD2B7B-89AD-465F-8FBD-AF937C031CDA}" srcOrd="1" destOrd="0" presId="urn:microsoft.com/office/officeart/2005/8/layout/hierarchy1"/>
    <dgm:cxn modelId="{D9C5B4CD-ABEA-4D38-AB98-C1A343807B79}" type="presParOf" srcId="{4707EADB-056A-41F7-88DB-5ADD8244AA16}" destId="{0865BA10-D64C-48F2-B101-A1992F97B79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A82F68-F71C-4548-9117-F4E5C05E129C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E738A-F6E7-4473-845D-F6B3CEE4B20F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CC045-C8E9-4247-9BD6-F0F5937B555F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CNN: Convolutional Neural Network (for images)</a:t>
          </a:r>
          <a:endParaRPr lang="en-US" sz="1600" kern="1200"/>
        </a:p>
      </dsp:txBody>
      <dsp:txXfrm>
        <a:off x="100682" y="2684598"/>
        <a:ext cx="2370489" cy="720000"/>
      </dsp:txXfrm>
    </dsp:sp>
    <dsp:sp modelId="{9197E930-1F9B-4CCF-9275-026C31BC9C34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42AAE-B508-4F0F-BCAF-7181353F491E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D5AC9-F6ED-47B1-BEA0-63CB9355344D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RNN: Recurrent Neural Network (for sequences)</a:t>
          </a:r>
          <a:endParaRPr lang="en-US" sz="1600" kern="1200"/>
        </a:p>
      </dsp:txBody>
      <dsp:txXfrm>
        <a:off x="2886007" y="2684598"/>
        <a:ext cx="2370489" cy="720000"/>
      </dsp:txXfrm>
    </dsp:sp>
    <dsp:sp modelId="{66A50C5F-2420-44C6-A926-E0E154C4728F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008E4-1F41-4212-B5D7-42D09CB5E84D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D2CFA-5423-4C0B-BB57-80BAB9C89619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LSTM: Long Short-Term Memory (fixes RNN issues)</a:t>
          </a:r>
          <a:endParaRPr lang="en-US" sz="1600" kern="1200"/>
        </a:p>
      </dsp:txBody>
      <dsp:txXfrm>
        <a:off x="5671332" y="2684598"/>
        <a:ext cx="2370489" cy="720000"/>
      </dsp:txXfrm>
    </dsp:sp>
    <dsp:sp modelId="{BD12F826-C6F9-4864-B759-3FB92747840C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AD14F2-C582-4CB7-A184-3980138117EA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8F243-600C-4827-83D4-80A96F4725FD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Key Question: Are they still relevant in the Transformer era?</a:t>
          </a:r>
          <a:endParaRPr lang="en-US" sz="1600" kern="1200"/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2E027-FE43-4C74-9944-FA2D1A42E059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E5B34-C7CC-4E82-8CBA-73EC80270DCB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Vanishing gradient problem</a:t>
          </a:r>
          <a:r>
            <a:rPr lang="en-US" sz="2800" kern="1200"/>
            <a:t> for long sequences</a:t>
          </a:r>
        </a:p>
      </dsp:txBody>
      <dsp:txXfrm>
        <a:off x="398656" y="1088253"/>
        <a:ext cx="2959127" cy="1837317"/>
      </dsp:txXfrm>
    </dsp:sp>
    <dsp:sp modelId="{2F32FC35-CF05-41BD-A536-B0EAB7BE6231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A5484-6D11-43BB-BC32-364DF6F77161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Hard to remember distant dependencies</a:t>
          </a:r>
        </a:p>
      </dsp:txBody>
      <dsp:txXfrm>
        <a:off x="4155097" y="1088253"/>
        <a:ext cx="2959127" cy="1837317"/>
      </dsp:txXfrm>
    </dsp:sp>
    <dsp:sp modelId="{506C3168-9363-4F79-B7E4-492FEC181191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D2B7B-89AD-465F-8FBD-AF937C031CDA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Difficult to parallelize → slower training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DF1E6-2E95-828F-57B9-06EF5152B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9E1D9-00DC-E61F-F90A-5DC0D7B31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427C5-0AAE-1925-208A-FF2AC0D5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A3B58-013C-C98C-A9FB-D3ACF10F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9993C-3212-6B4F-8600-4968FBEF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02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C0EA-4FC9-40E5-8032-70D98488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96407-F7B2-47C6-C468-EDCB4DFB4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5ED64-0F62-547E-B840-7A5B75D6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99235-9816-C5D7-64DC-F36E85A1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6EF7F-DED6-988F-A06D-6A9AD44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9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8B61-8E8F-9083-A9E6-D76C8A12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2ABC1-26EE-37B2-7E8D-D9F89AA2E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6A1B6-C706-B6D3-2624-1F7004DB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74162-3149-277F-1C06-A338FED5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D4882-4418-BFBC-5539-489CF0D0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66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3146-1D7A-CE51-C152-95225A65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E906-C1C3-0069-06BB-58006B96E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F02FF-8646-DEB2-5498-CC5D0900E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17EC4-9E7D-B8EF-D4C9-B546F3A0D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52F18-16BA-A38D-B500-AEC45CA8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7CFF5-6681-E251-D662-EA925399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84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5E44-1D93-DA93-69DC-B48FA14E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FF454-511A-B374-9B38-CE16718DE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1F16C-A510-EFB3-555C-44F3DD201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ECEF4-E271-B585-3D97-22DC9A3EE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E5BB1-E5F0-B79B-1AD6-610E19113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2E569-7D64-A0B5-9E6A-1F655B33C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122556-D061-8D9A-D31F-48D3C48C3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F924B-78FE-C114-EA5E-E480930E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30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3A8D-89B2-D772-8510-3D29C075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88D5F-72BD-8EB0-2AC1-86A64C7D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EF61C-1BC6-3BB8-C37B-E63134A0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541E1-443A-541E-B886-A745CCF87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48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9D3AB-6FB2-F9D6-E9EF-0D51B771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B8663-0436-766D-BC02-5F23D9B9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D9055-E81A-EFCE-355B-F8223E28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927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EA40-5728-9585-E364-D85BBBC9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F9F0F-513A-FCF4-E7E5-9BE4D2F11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D62FE-F074-CE6C-AD46-67C4F753A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10314-C596-0D20-3AFE-8D99BA22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4151D-E36E-A3C9-5624-FEB5575DF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82821-9502-3A3D-775D-1BDF9404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45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FC29-5C0D-ACB7-98A1-D00A6325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2BA671-800B-B0AD-2016-051B44986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616E6-10F3-07BB-6678-7B8DE5A17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D227C-A2E5-076D-ACEB-A9AF31ED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7AF81-E447-CDE9-9745-D3A0B73D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AE282-E33C-0D37-2BB8-6A333C99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42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27080-A83E-6E36-9AE3-408F15BC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CF52D-F7D0-2623-F90F-94D0B568D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98FC-F8D0-B140-0BB4-D6EEFB40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0B3E9-FDFB-6557-E4EA-20EFD6072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4C5DD-FECB-BFD1-F469-3562B3B7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264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EA236-111C-703E-18CB-64AEBA338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B892E-C018-C5AD-EBB9-27FE6CE68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C958E-1ABD-FD74-78CA-FB9BBBDA8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E8F3D-D62F-1B88-7A07-97131B06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22E9D-D217-8CDA-8E68-6BEE863C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40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4D170A-4B6B-057C-DFBE-5529A14CE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99935-8D69-F4F1-F606-AC93AEF89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6AD5-C401-1EC5-9495-E72A8A3B7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9D733-2B14-471E-AAEB-6ABD43541F18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E528C-B05B-BA70-CB23-B3960F4551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9298-1724-3042-0CA5-A3DE88AF0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D5201-93D8-4977-B03B-33AF64D1E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86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2AB4F-7A1E-E76B-E049-DAD54E4CF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 fontScale="90000"/>
          </a:bodyPr>
          <a:lstStyle/>
          <a:p>
            <a:br>
              <a:rPr lang="en-IN" sz="2600" dirty="0">
                <a:solidFill>
                  <a:srgbClr val="FFFFFF"/>
                </a:solidFill>
              </a:rPr>
            </a:br>
            <a:br>
              <a:rPr lang="en-IN" sz="2600" dirty="0">
                <a:solidFill>
                  <a:srgbClr val="FFFFFF"/>
                </a:solidFill>
              </a:rPr>
            </a:br>
            <a:r>
              <a:rPr lang="en-IN" sz="3100" dirty="0">
                <a:solidFill>
                  <a:srgbClr val="FFFFFF"/>
                </a:solidFill>
              </a:rPr>
              <a:t>Title: </a:t>
            </a:r>
            <a:r>
              <a:rPr lang="en-US" sz="3100" dirty="0">
                <a:solidFill>
                  <a:srgbClr val="FFFFFF"/>
                </a:solidFill>
              </a:rPr>
              <a:t>CNN, RNN, and LSTM – Deep Learning Architectures</a:t>
            </a:r>
            <a:br>
              <a:rPr lang="en-US" sz="3100" dirty="0">
                <a:solidFill>
                  <a:srgbClr val="FFFFFF"/>
                </a:solidFill>
              </a:rPr>
            </a:br>
            <a:r>
              <a:rPr lang="en-US" sz="3100" b="1" dirty="0">
                <a:solidFill>
                  <a:srgbClr val="FFFFFF"/>
                </a:solidFill>
              </a:rPr>
              <a:t>Subtitle</a:t>
            </a:r>
            <a:r>
              <a:rPr lang="en-US" sz="3100" dirty="0">
                <a:solidFill>
                  <a:srgbClr val="FFFFFF"/>
                </a:solidFill>
              </a:rPr>
              <a:t>: Relevance, Use Cases, and Modern Alternatives (2025)</a:t>
            </a:r>
            <a:br>
              <a:rPr lang="en-US" sz="2600" dirty="0">
                <a:solidFill>
                  <a:srgbClr val="FFFFFF"/>
                </a:solidFill>
              </a:rPr>
            </a:br>
            <a:br>
              <a:rPr lang="en-US" sz="2600" dirty="0">
                <a:solidFill>
                  <a:srgbClr val="FFFFFF"/>
                </a:solidFill>
              </a:rPr>
            </a:br>
            <a:endParaRPr lang="en-IN" sz="2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FAC08-F526-8419-70E6-0EDEDECBD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4572000"/>
            <a:ext cx="9078628" cy="1459713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Mahipal Singh</a:t>
            </a:r>
          </a:p>
        </p:txBody>
      </p:sp>
    </p:spTree>
    <p:extLst>
      <p:ext uri="{BB962C8B-B14F-4D97-AF65-F5344CB8AC3E}">
        <p14:creationId xmlns:p14="http://schemas.microsoft.com/office/powerpoint/2010/main" val="419386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47AB4-5DF9-EAD0-BCD7-94B72D8E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</a:rPr>
              <a:t>Overview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E1CFC96-4095-3EE5-82E6-CC6C2552A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2149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53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33B9-CC56-10CC-DA6F-C34748CD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CNN – Convolution Neural Network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CFA2A-B9FD-AA48-936C-EC4E8A21B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for </a:t>
            </a:r>
            <a:r>
              <a:rPr lang="en-US" b="1" dirty="0"/>
              <a:t>grid-like data</a:t>
            </a:r>
            <a:r>
              <a:rPr lang="en-US" dirty="0"/>
              <a:t>, especially </a:t>
            </a:r>
            <a:r>
              <a:rPr lang="en-US" b="1" dirty="0"/>
              <a:t>images</a:t>
            </a:r>
          </a:p>
          <a:p>
            <a:r>
              <a:rPr lang="en-US" dirty="0"/>
              <a:t>Uses </a:t>
            </a:r>
            <a:r>
              <a:rPr lang="en-US" b="1" dirty="0"/>
              <a:t>convolution layers</a:t>
            </a:r>
            <a:r>
              <a:rPr lang="en-US" dirty="0"/>
              <a:t> to detect local features</a:t>
            </a:r>
          </a:p>
          <a:p>
            <a:r>
              <a:rPr lang="en-US" b="1" dirty="0"/>
              <a:t>Translation invariance: </a:t>
            </a:r>
            <a:r>
              <a:rPr lang="en-US" dirty="0"/>
              <a:t>CNNs can recognize objects in an image regardless of their location, size, or orientation, making them well-suited to object recognition tasks.</a:t>
            </a:r>
          </a:p>
          <a:p>
            <a:r>
              <a:rPr lang="en-US" dirty="0"/>
              <a:t>Requires</a:t>
            </a:r>
            <a:r>
              <a:rPr lang="en-US" b="1" dirty="0"/>
              <a:t> fewer </a:t>
            </a:r>
            <a:r>
              <a:rPr lang="en-US" dirty="0"/>
              <a:t>parameters than fully connected layers</a:t>
            </a:r>
          </a:p>
          <a:p>
            <a:r>
              <a:rPr lang="en-US" b="1" dirty="0"/>
              <a:t>Transfer learning:</a:t>
            </a:r>
            <a:r>
              <a:rPr lang="en-US" dirty="0"/>
              <a:t> CNNs can leverage pre-trained models, reducing the amount of data and computational resources required to train a new model.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95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D03D-6C8F-61A3-EC4D-40C10460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CNN – Use Cases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8BE2-E7A1-320D-D8C3-04F5DABB7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Classification (e.g. Cats vs Dogs, digit classification etc.)</a:t>
            </a:r>
          </a:p>
          <a:p>
            <a:r>
              <a:rPr lang="en-US" dirty="0"/>
              <a:t>Object Detection (YOLO, Faster R-CNN)</a:t>
            </a:r>
          </a:p>
          <a:p>
            <a:r>
              <a:rPr lang="en-US" dirty="0"/>
              <a:t>Medical Imaging (X-rays, MRIs)</a:t>
            </a:r>
          </a:p>
          <a:p>
            <a:r>
              <a:rPr lang="en-US" dirty="0"/>
              <a:t>Facial Recognition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76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698D-D4CE-AA30-0077-32099FC8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4FBD8-BD3A-1CF4-BBBB-76E32D7D9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CNN – Architecture (Visual)</a:t>
            </a:r>
          </a:p>
          <a:p>
            <a:r>
              <a:rPr lang="en-IN" b="1" dirty="0"/>
              <a:t>Include Diagram</a:t>
            </a:r>
            <a:endParaRPr lang="en-IN" dirty="0"/>
          </a:p>
          <a:p>
            <a:r>
              <a:rPr lang="en-IN" dirty="0"/>
              <a:t>Input → Conv → ReLU → Pool → FC → Output</a:t>
            </a:r>
            <a:br>
              <a:rPr lang="en-IN" dirty="0"/>
            </a:br>
            <a:r>
              <a:rPr lang="en-IN" dirty="0"/>
              <a:t>[You can use any CNN architecture image like VGG16 or simple LeNet]</a:t>
            </a:r>
          </a:p>
        </p:txBody>
      </p:sp>
      <p:pic>
        <p:nvPicPr>
          <p:cNvPr id="1026" name="Picture 2" descr="Convolutional Neural Network — CNN architecture">
            <a:extLst>
              <a:ext uri="{FF2B5EF4-FFF2-40B4-BE49-F238E27FC236}">
                <a16:creationId xmlns:a16="http://schemas.microsoft.com/office/drawing/2014/main" id="{A42EACD1-4EE3-7190-4CAF-CC1AE775A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" y="1403350"/>
            <a:ext cx="11338560" cy="526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535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73DE1-F940-D701-128E-19122458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CNN – Limitations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6049-737C-BBA9-8757-5D39ACC17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b="1" dirty="0"/>
              <a:t>Computational cost: </a:t>
            </a:r>
            <a:r>
              <a:rPr lang="en-US" dirty="0"/>
              <a:t>Training a deep CNN can be computationally expensive, requiring significant amounts of data and computational resources.</a:t>
            </a:r>
          </a:p>
          <a:p>
            <a:pPr fontAlgn="base"/>
            <a:r>
              <a:rPr lang="en-US" b="1" dirty="0"/>
              <a:t>Overfitting: </a:t>
            </a:r>
            <a:r>
              <a:rPr lang="en-US" dirty="0"/>
              <a:t>Deep CNNs are prone to overfitting, especially when trained on small datasets, where the model may memorize the training data rather than generalize to new, unseen data.</a:t>
            </a:r>
          </a:p>
          <a:p>
            <a:pPr fontAlgn="base"/>
            <a:r>
              <a:rPr lang="en-US" b="1" dirty="0"/>
              <a:t>Lack of interpretability: </a:t>
            </a:r>
            <a:r>
              <a:rPr lang="en-US" dirty="0"/>
              <a:t>CNNs are considered to be a “black box” model, making it difficult to understand why a particular prediction was made.</a:t>
            </a:r>
          </a:p>
          <a:p>
            <a:pPr fontAlgn="base"/>
            <a:r>
              <a:rPr lang="en-US" b="1" dirty="0"/>
              <a:t>Limited to grid-like structures: </a:t>
            </a:r>
            <a:r>
              <a:rPr lang="en-US" dirty="0"/>
              <a:t>CNNs are limited to grid-like structures and cannot handle irregular shapes or non-grid-like data structures.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559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2775A-30FB-978D-00E5-61903591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RNN – Concept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B91C6-5D15-E72C-8928-4FC64CC6B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RNNs handle </a:t>
            </a:r>
            <a:r>
              <a:rPr lang="en-US" b="1" dirty="0"/>
              <a:t>sequential data</a:t>
            </a:r>
            <a:endParaRPr lang="en-US" dirty="0"/>
          </a:p>
          <a:p>
            <a:r>
              <a:rPr lang="en-US" dirty="0"/>
              <a:t>Each output depends on </a:t>
            </a:r>
            <a:r>
              <a:rPr lang="en-US" b="1" dirty="0"/>
              <a:t>previous input</a:t>
            </a:r>
            <a:r>
              <a:rPr lang="en-US" dirty="0"/>
              <a:t> (memory)</a:t>
            </a:r>
          </a:p>
          <a:p>
            <a:r>
              <a:rPr lang="en-US" dirty="0"/>
              <a:t>Common in early NLP, speech recognition</a:t>
            </a:r>
          </a:p>
          <a:p>
            <a:r>
              <a:rPr lang="en-US" dirty="0"/>
              <a:t>Unlike regular neural networks (which treat each input independently), </a:t>
            </a:r>
            <a:r>
              <a:rPr lang="en-US" b="1" dirty="0"/>
              <a:t>RNNs remember context</a:t>
            </a:r>
            <a:r>
              <a:rPr lang="en-US" dirty="0"/>
              <a:t>, which is crucial for </a:t>
            </a:r>
            <a:r>
              <a:rPr lang="en-US" b="1" dirty="0"/>
              <a:t>language, time-series, and any sequential tasks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33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Line graph and numbers">
            <a:extLst>
              <a:ext uri="{FF2B5EF4-FFF2-40B4-BE49-F238E27FC236}">
                <a16:creationId xmlns:a16="http://schemas.microsoft.com/office/drawing/2014/main" id="{1F433BEF-346C-D0AC-DD82-7A759357C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50" r="15875" b="-1"/>
          <a:stretch>
            <a:fillRect/>
          </a:stretch>
        </p:blipFill>
        <p:spPr>
          <a:xfrm>
            <a:off x="7934960" y="10"/>
            <a:ext cx="4257038" cy="6857990"/>
          </a:xfrm>
          <a:prstGeom prst="rect">
            <a:avLst/>
          </a:prstGeom>
        </p:spPr>
      </p:pic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77945-F4BD-1060-DBEE-1A92EE10F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b="1"/>
              <a:t>RNN – Use Cases</a:t>
            </a:r>
            <a:br>
              <a:rPr lang="en-US" sz="4000" b="1"/>
            </a:b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C7ECB-C169-9D2E-9471-84A13669E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1788161"/>
            <a:ext cx="6197799" cy="4470906"/>
          </a:xfrm>
        </p:spPr>
        <p:txBody>
          <a:bodyPr anchor="ctr">
            <a:normAutofit lnSpcReduction="10000"/>
          </a:bodyPr>
          <a:lstStyle/>
          <a:p>
            <a:r>
              <a:rPr lang="en-US" sz="1800" b="1" dirty="0"/>
              <a:t>Stock Price Prediction</a:t>
            </a:r>
          </a:p>
          <a:p>
            <a:pPr marL="0" indent="0">
              <a:buNone/>
            </a:pPr>
            <a:r>
              <a:rPr lang="en-US" sz="1800" b="1" dirty="0"/>
              <a:t>      Input</a:t>
            </a:r>
            <a:r>
              <a:rPr lang="en-US" sz="1800" dirty="0"/>
              <a:t>: Time-series stock data</a:t>
            </a:r>
          </a:p>
          <a:p>
            <a:pPr marL="0" indent="0">
              <a:buNone/>
            </a:pPr>
            <a:r>
              <a:rPr lang="en-US" sz="1800" b="1" dirty="0"/>
              <a:t>     Output</a:t>
            </a:r>
            <a:r>
              <a:rPr lang="en-US" sz="1800" dirty="0"/>
              <a:t>: Future price prediction</a:t>
            </a:r>
          </a:p>
          <a:p>
            <a:pPr marL="0" indent="0">
              <a:buNone/>
            </a:pPr>
            <a:r>
              <a:rPr lang="en-US" sz="1800" dirty="0"/>
              <a:t>     Example: Predicting tomorrow’s stock close price based on past 10 days</a:t>
            </a:r>
          </a:p>
          <a:p>
            <a:r>
              <a:rPr lang="en-US" sz="1800" b="1" dirty="0"/>
              <a:t>Speech Recognition</a:t>
            </a:r>
          </a:p>
          <a:p>
            <a:pPr marL="0" indent="0">
              <a:buNone/>
            </a:pPr>
            <a:r>
              <a:rPr lang="en-US" sz="1800" b="1" dirty="0"/>
              <a:t>      Input</a:t>
            </a:r>
            <a:r>
              <a:rPr lang="en-US" sz="1800" dirty="0"/>
              <a:t>: Audio waveform over time</a:t>
            </a:r>
          </a:p>
          <a:p>
            <a:pPr marL="0" indent="0">
              <a:buNone/>
            </a:pPr>
            <a:r>
              <a:rPr lang="en-US" sz="1800" b="1" dirty="0"/>
              <a:t>      Output</a:t>
            </a:r>
            <a:r>
              <a:rPr lang="en-US" sz="1800" dirty="0"/>
              <a:t>: Transcribed text</a:t>
            </a:r>
          </a:p>
          <a:p>
            <a:pPr marL="0" indent="0">
              <a:buNone/>
            </a:pPr>
            <a:r>
              <a:rPr lang="en-US" sz="1800" dirty="0"/>
              <a:t>      Example: Converting a voice command into "Play music“</a:t>
            </a:r>
          </a:p>
          <a:p>
            <a:r>
              <a:rPr lang="en-US" sz="1800" b="1" dirty="0"/>
              <a:t>Text Generation</a:t>
            </a:r>
          </a:p>
          <a:p>
            <a:pPr marL="0" indent="0">
              <a:buNone/>
            </a:pPr>
            <a:r>
              <a:rPr lang="en-US" sz="1800" b="1" dirty="0"/>
              <a:t>      Input</a:t>
            </a:r>
            <a:r>
              <a:rPr lang="en-US" sz="1800" dirty="0"/>
              <a:t>: Previous words in a sentence</a:t>
            </a:r>
          </a:p>
          <a:p>
            <a:pPr marL="0" indent="0">
              <a:buNone/>
            </a:pPr>
            <a:r>
              <a:rPr lang="en-US" sz="1800" b="1" dirty="0"/>
              <a:t>      Output</a:t>
            </a:r>
            <a:r>
              <a:rPr lang="en-US" sz="1800" dirty="0"/>
              <a:t>: Next word prediction</a:t>
            </a:r>
          </a:p>
          <a:p>
            <a:pPr marL="0" indent="0">
              <a:buNone/>
            </a:pPr>
            <a:r>
              <a:rPr lang="en-US" sz="1800" dirty="0"/>
              <a:t>      Example: Autocomplete or chatbot replies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60425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7CBC2-0013-609B-372B-C4E1AD536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RNN – Limitations</a:t>
            </a:r>
            <a:br>
              <a:rPr lang="en-US" sz="4000" b="1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25588D-6AA5-3802-A4B1-82498F0DB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72996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0425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5CF9-000B-A8AE-61BD-DA29484F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LSTM – What It Fixes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71926-2B74-036B-07FB-2378F9E95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LSTM = Long Short-Term Memory (1997)</a:t>
            </a:r>
          </a:p>
          <a:p>
            <a:r>
              <a:rPr lang="en-US" dirty="0"/>
              <a:t>Has </a:t>
            </a:r>
            <a:r>
              <a:rPr lang="en-US" b="1" dirty="0"/>
              <a:t>memory cells, forget gates</a:t>
            </a:r>
            <a:endParaRPr lang="en-US" dirty="0"/>
          </a:p>
          <a:p>
            <a:r>
              <a:rPr lang="en-US" dirty="0"/>
              <a:t>Remembers long-term dependencies</a:t>
            </a:r>
          </a:p>
          <a:p>
            <a:r>
              <a:rPr lang="en-US" dirty="0"/>
              <a:t>Solves vanishing gradient issue of RNNs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777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2099-BB83-DFE7-B444-6FA3C386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LSTM – Use Cases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D7308-E2E2-BA4C-7861-0BF8A4EFC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translation (before Transformers)</a:t>
            </a:r>
          </a:p>
          <a:p>
            <a:r>
              <a:rPr lang="en-US" dirty="0"/>
              <a:t>Speech recognition (Google Voice)</a:t>
            </a:r>
          </a:p>
          <a:p>
            <a:r>
              <a:rPr lang="en-US" dirty="0"/>
              <a:t>Music generation (sequences)</a:t>
            </a:r>
          </a:p>
          <a:p>
            <a:r>
              <a:rPr lang="en-US" dirty="0"/>
              <a:t>Chatbot memory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1129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9E94-A12C-E867-321D-82B20B57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of LSTM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5FC72-5E71-B29A-1D0C-2C8D45D52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Still slow to train</a:t>
            </a:r>
          </a:p>
          <a:p>
            <a:r>
              <a:rPr lang="en-US" dirty="0"/>
              <a:t>Requires sequential processing</a:t>
            </a:r>
          </a:p>
          <a:p>
            <a:r>
              <a:rPr lang="en-US" dirty="0"/>
              <a:t>Struggles with really long sequences</a:t>
            </a:r>
          </a:p>
          <a:p>
            <a:r>
              <a:rPr lang="en-US" dirty="0"/>
              <a:t>Mostly replaced by </a:t>
            </a:r>
            <a:r>
              <a:rPr lang="en-US" b="1" dirty="0"/>
              <a:t>Transformers</a:t>
            </a:r>
            <a:r>
              <a:rPr lang="en-US" dirty="0"/>
              <a:t> since 2017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68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38080-5787-A79D-ED9D-1B9A22442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Differences from Basic RNN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3C9F58-9D04-C35D-3868-27C4026EF9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601071"/>
              </p:ext>
            </p:extLst>
          </p:nvPr>
        </p:nvGraphicFramePr>
        <p:xfrm>
          <a:off x="644056" y="1924820"/>
          <a:ext cx="10927831" cy="4425180"/>
        </p:xfrm>
        <a:graphic>
          <a:graphicData uri="http://schemas.openxmlformats.org/drawingml/2006/table">
            <a:tbl>
              <a:tblPr/>
              <a:tblGrid>
                <a:gridCol w="3848224">
                  <a:extLst>
                    <a:ext uri="{9D8B030D-6E8A-4147-A177-3AD203B41FA5}">
                      <a16:colId xmlns:a16="http://schemas.microsoft.com/office/drawing/2014/main" val="102672240"/>
                    </a:ext>
                  </a:extLst>
                </a:gridCol>
                <a:gridCol w="3458640">
                  <a:extLst>
                    <a:ext uri="{9D8B030D-6E8A-4147-A177-3AD203B41FA5}">
                      <a16:colId xmlns:a16="http://schemas.microsoft.com/office/drawing/2014/main" val="1837126571"/>
                    </a:ext>
                  </a:extLst>
                </a:gridCol>
                <a:gridCol w="3620967">
                  <a:extLst>
                    <a:ext uri="{9D8B030D-6E8A-4147-A177-3AD203B41FA5}">
                      <a16:colId xmlns:a16="http://schemas.microsoft.com/office/drawing/2014/main" val="1282339088"/>
                    </a:ext>
                  </a:extLst>
                </a:gridCol>
              </a:tblGrid>
              <a:tr h="88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Feature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RNN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LSTM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8332"/>
                  </a:ext>
                </a:extLst>
              </a:tr>
              <a:tr h="88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Memory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Short-term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Long + short-term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414017"/>
                  </a:ext>
                </a:extLst>
              </a:tr>
              <a:tr h="88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Vanishing Gradient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Yes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Solved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171139"/>
                  </a:ext>
                </a:extLst>
              </a:tr>
              <a:tr h="88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Best For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Short sequences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Long sequences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92594"/>
                  </a:ext>
                </a:extLst>
              </a:tr>
              <a:tr h="88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Training Stability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Low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High</a:t>
                      </a:r>
                    </a:p>
                  </a:txBody>
                  <a:tcPr marL="155834" marR="155834" marT="77917" marB="779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775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320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2FAEA5-4DFF-C1E2-CD7B-544CD2A9B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Are CNN/RNN/LSTM Still Useful in 2025?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A55BD3-58A7-227A-2A24-B03F3C83B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730686"/>
              </p:ext>
            </p:extLst>
          </p:nvPr>
        </p:nvGraphicFramePr>
        <p:xfrm>
          <a:off x="644056" y="2404476"/>
          <a:ext cx="10927830" cy="3609013"/>
        </p:xfrm>
        <a:graphic>
          <a:graphicData uri="http://schemas.openxmlformats.org/drawingml/2006/table">
            <a:tbl>
              <a:tblPr/>
              <a:tblGrid>
                <a:gridCol w="2189158">
                  <a:extLst>
                    <a:ext uri="{9D8B030D-6E8A-4147-A177-3AD203B41FA5}">
                      <a16:colId xmlns:a16="http://schemas.microsoft.com/office/drawing/2014/main" val="2469794885"/>
                    </a:ext>
                  </a:extLst>
                </a:gridCol>
                <a:gridCol w="3537716">
                  <a:extLst>
                    <a:ext uri="{9D8B030D-6E8A-4147-A177-3AD203B41FA5}">
                      <a16:colId xmlns:a16="http://schemas.microsoft.com/office/drawing/2014/main" val="2714004011"/>
                    </a:ext>
                  </a:extLst>
                </a:gridCol>
                <a:gridCol w="5200956">
                  <a:extLst>
                    <a:ext uri="{9D8B030D-6E8A-4147-A177-3AD203B41FA5}">
                      <a16:colId xmlns:a16="http://schemas.microsoft.com/office/drawing/2014/main" val="1563312856"/>
                    </a:ext>
                  </a:extLst>
                </a:gridCol>
              </a:tblGrid>
              <a:tr h="59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/>
                        <a:t>Model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/>
                        <a:t>Still Useful?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 dirty="0"/>
                        <a:t>Notes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27931"/>
                  </a:ext>
                </a:extLst>
              </a:tr>
              <a:tr h="1004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CNN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 Yes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/>
                        <a:t>Best for image, video, medical, still active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913297"/>
                  </a:ext>
                </a:extLst>
              </a:tr>
              <a:tr h="1004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RNN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No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Replaced by LSTM and Transformers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465841"/>
                  </a:ext>
                </a:extLst>
              </a:tr>
              <a:tr h="1004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LSTM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Niche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/>
                        <a:t>Used in small devices or legacy systems</a:t>
                      </a:r>
                    </a:p>
                  </a:txBody>
                  <a:tcPr marL="135677" marR="135677" marT="67839" marB="67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104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06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66844-8C24-5521-1BEF-82989390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Transformer vs LSTM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B58F70-B612-A2B0-979E-3950143C8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877619"/>
              </p:ext>
            </p:extLst>
          </p:nvPr>
        </p:nvGraphicFramePr>
        <p:xfrm>
          <a:off x="644056" y="2150533"/>
          <a:ext cx="10927831" cy="3530600"/>
        </p:xfrm>
        <a:graphic>
          <a:graphicData uri="http://schemas.openxmlformats.org/drawingml/2006/table">
            <a:tbl>
              <a:tblPr/>
              <a:tblGrid>
                <a:gridCol w="4369786">
                  <a:extLst>
                    <a:ext uri="{9D8B030D-6E8A-4147-A177-3AD203B41FA5}">
                      <a16:colId xmlns:a16="http://schemas.microsoft.com/office/drawing/2014/main" val="770945045"/>
                    </a:ext>
                  </a:extLst>
                </a:gridCol>
                <a:gridCol w="2524741">
                  <a:extLst>
                    <a:ext uri="{9D8B030D-6E8A-4147-A177-3AD203B41FA5}">
                      <a16:colId xmlns:a16="http://schemas.microsoft.com/office/drawing/2014/main" val="3915308842"/>
                    </a:ext>
                  </a:extLst>
                </a:gridCol>
                <a:gridCol w="4033304">
                  <a:extLst>
                    <a:ext uri="{9D8B030D-6E8A-4147-A177-3AD203B41FA5}">
                      <a16:colId xmlns:a16="http://schemas.microsoft.com/office/drawing/2014/main" val="2459505507"/>
                    </a:ext>
                  </a:extLst>
                </a:gridCol>
              </a:tblGrid>
              <a:tr h="706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1" i="0" u="none" strike="noStrike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1" i="0" u="none" strike="noStrike" dirty="0">
                          <a:effectLst/>
                          <a:latin typeface="Arial" panose="020B0604020202020204" pitchFamily="34" charset="0"/>
                        </a:rPr>
                        <a:t>LSTM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1" i="0" u="none" strike="noStrike" dirty="0">
                          <a:effectLst/>
                          <a:latin typeface="Arial" panose="020B0604020202020204" pitchFamily="34" charset="0"/>
                        </a:rPr>
                        <a:t>Transformer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85619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Parallelizable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 dirty="0"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 dirty="0"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454614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Handles Long-Range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 dirty="0">
                          <a:effectLst/>
                          <a:latin typeface="Arial" panose="020B0604020202020204" pitchFamily="34" charset="0"/>
                        </a:rPr>
                        <a:t>Limited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 dirty="0">
                          <a:effectLst/>
                          <a:latin typeface="Arial" panose="020B0604020202020204" pitchFamily="34" charset="0"/>
                        </a:rPr>
                        <a:t> Yes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85605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NLP Accuracy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 dirty="0">
                          <a:effectLst/>
                          <a:latin typeface="Arial" panose="020B0604020202020204" pitchFamily="34" charset="0"/>
                        </a:rPr>
                        <a:t>Good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Excellent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536760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 dirty="0">
                          <a:effectLst/>
                          <a:latin typeface="Arial" panose="020B0604020202020204" pitchFamily="34" charset="0"/>
                        </a:rPr>
                        <a:t>Use Today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Shrinking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 dirty="0">
                          <a:effectLst/>
                          <a:latin typeface="Arial" panose="020B0604020202020204" pitchFamily="34" charset="0"/>
                        </a:rPr>
                        <a:t>Standard for GenAI</a:t>
                      </a:r>
                    </a:p>
                  </a:txBody>
                  <a:tcPr marL="161512" marR="161512" marT="80756" marB="80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022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723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17F4C-8E06-4E6E-ACBF-C6F236F1C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Where They Are Used (2025)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B7E83-A6DC-9E74-443F-7A73A515E0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13688"/>
              </p:ext>
            </p:extLst>
          </p:nvPr>
        </p:nvGraphicFramePr>
        <p:xfrm>
          <a:off x="934414" y="2230829"/>
          <a:ext cx="10347115" cy="3956304"/>
        </p:xfrm>
        <a:graphic>
          <a:graphicData uri="http://schemas.openxmlformats.org/drawingml/2006/table">
            <a:tbl>
              <a:tblPr/>
              <a:tblGrid>
                <a:gridCol w="2859194">
                  <a:extLst>
                    <a:ext uri="{9D8B030D-6E8A-4147-A177-3AD203B41FA5}">
                      <a16:colId xmlns:a16="http://schemas.microsoft.com/office/drawing/2014/main" val="1573671656"/>
                    </a:ext>
                  </a:extLst>
                </a:gridCol>
                <a:gridCol w="3417994">
                  <a:extLst>
                    <a:ext uri="{9D8B030D-6E8A-4147-A177-3AD203B41FA5}">
                      <a16:colId xmlns:a16="http://schemas.microsoft.com/office/drawing/2014/main" val="2777098115"/>
                    </a:ext>
                  </a:extLst>
                </a:gridCol>
                <a:gridCol w="4069927">
                  <a:extLst>
                    <a:ext uri="{9D8B030D-6E8A-4147-A177-3AD203B41FA5}">
                      <a16:colId xmlns:a16="http://schemas.microsoft.com/office/drawing/2014/main" val="3577053866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Model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Use Case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Example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215989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CNN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Vision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Self-driving, diagnostics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16617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LSTM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On-device NLP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Smartwatches, IoT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488819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Transformer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GenAI, RAG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ChatGPT, Claude, Gemini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725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776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324E-A8CF-3865-4BC5-9D702F7C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0709-7C4B-6BA4-4CCB-BA72B46C5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CNNs</a:t>
            </a:r>
            <a:r>
              <a:rPr lang="en-US" dirty="0"/>
              <a:t> → Still key for vision</a:t>
            </a:r>
          </a:p>
          <a:p>
            <a:endParaRPr lang="en-US" dirty="0"/>
          </a:p>
          <a:p>
            <a:r>
              <a:rPr lang="en-US" b="1" dirty="0"/>
              <a:t>RNNs</a:t>
            </a:r>
            <a:r>
              <a:rPr lang="en-US" dirty="0"/>
              <a:t> → Mostly obsolete</a:t>
            </a:r>
          </a:p>
          <a:p>
            <a:endParaRPr lang="en-US" dirty="0"/>
          </a:p>
          <a:p>
            <a:r>
              <a:rPr lang="en-US" b="1" dirty="0"/>
              <a:t>LSTM</a:t>
            </a:r>
            <a:r>
              <a:rPr lang="en-US" dirty="0"/>
              <a:t> → Legacy/edge use, but largely replaced</a:t>
            </a:r>
          </a:p>
          <a:p>
            <a:endParaRPr lang="en-US" dirty="0"/>
          </a:p>
          <a:p>
            <a:r>
              <a:rPr lang="en-US" b="1" dirty="0"/>
              <a:t>Transformers </a:t>
            </a:r>
            <a:r>
              <a:rPr lang="en-US" dirty="0"/>
              <a:t>→ Powerhouse behind GenAI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003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2ED2-FFC9-04C0-F9FC-EAE543450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10E14D-A253-4B6E-E803-78298A5AA3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4"/>
            <a:ext cx="1118767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CNNs if you're going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imaging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RNNs unless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academic/legacy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might be needed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low-resource NLP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Transformers, LoRA, RAG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modern AI roles</a:t>
            </a:r>
          </a:p>
        </p:txBody>
      </p:sp>
    </p:spTree>
    <p:extLst>
      <p:ext uri="{BB962C8B-B14F-4D97-AF65-F5344CB8AC3E}">
        <p14:creationId xmlns:p14="http://schemas.microsoft.com/office/powerpoint/2010/main" val="2070041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753</Words>
  <Application>Microsoft Office PowerPoint</Application>
  <PresentationFormat>Widescreen</PresentationFormat>
  <Paragraphs>138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  Title: CNN, RNN, and LSTM – Deep Learning Architectures Subtitle: Relevance, Use Cases, and Modern Alternatives (2025)  </vt:lpstr>
      <vt:lpstr>Overview</vt:lpstr>
      <vt:lpstr>CNN – Convolution Neural Network </vt:lpstr>
      <vt:lpstr>CNN – Use Cases </vt:lpstr>
      <vt:lpstr>Architecture</vt:lpstr>
      <vt:lpstr>CNN – Limitations </vt:lpstr>
      <vt:lpstr>RNN – Concept </vt:lpstr>
      <vt:lpstr>RNN – Use Cases </vt:lpstr>
      <vt:lpstr>RNN – Limitations </vt:lpstr>
      <vt:lpstr>LSTM – What It Fixes </vt:lpstr>
      <vt:lpstr>LSTM – Use Cases </vt:lpstr>
      <vt:lpstr>Limitations of LSTM </vt:lpstr>
      <vt:lpstr>Key Differences from Basic RNN</vt:lpstr>
      <vt:lpstr>Are CNN/RNN/LSTM Still Useful in 2025?</vt:lpstr>
      <vt:lpstr>Transformer vs LSTM </vt:lpstr>
      <vt:lpstr>Where They Are Used (2025)</vt:lpstr>
      <vt:lpstr>Summary 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5</cp:revision>
  <dcterms:created xsi:type="dcterms:W3CDTF">2025-07-06T18:56:48Z</dcterms:created>
  <dcterms:modified xsi:type="dcterms:W3CDTF">2025-07-08T15:29:29Z</dcterms:modified>
</cp:coreProperties>
</file>