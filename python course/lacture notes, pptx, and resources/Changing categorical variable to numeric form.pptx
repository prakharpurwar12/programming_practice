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AB8A1C-B07D-444E-8418-E2F147558A8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37BF2C-441C-4A1F-83FF-637124378193}">
      <dgm:prSet/>
      <dgm:spPr/>
      <dgm:t>
        <a:bodyPr/>
        <a:lstStyle/>
        <a:p>
          <a:r>
            <a:rPr lang="en-IN" b="1"/>
            <a:t>➕ What is it?</a:t>
          </a:r>
          <a:endParaRPr lang="en-US"/>
        </a:p>
      </dgm:t>
    </dgm:pt>
    <dgm:pt modelId="{0FAA9ED4-EE59-40EE-8014-553FA91DD812}" type="parTrans" cxnId="{96BB3143-56EA-404B-806C-52D2ADE5EF3A}">
      <dgm:prSet/>
      <dgm:spPr/>
      <dgm:t>
        <a:bodyPr/>
        <a:lstStyle/>
        <a:p>
          <a:endParaRPr lang="en-US"/>
        </a:p>
      </dgm:t>
    </dgm:pt>
    <dgm:pt modelId="{5EE63871-1638-4EB7-B96A-04A3B2BBE73D}" type="sibTrans" cxnId="{96BB3143-56EA-404B-806C-52D2ADE5EF3A}">
      <dgm:prSet/>
      <dgm:spPr/>
      <dgm:t>
        <a:bodyPr/>
        <a:lstStyle/>
        <a:p>
          <a:endParaRPr lang="en-US"/>
        </a:p>
      </dgm:t>
    </dgm:pt>
    <dgm:pt modelId="{D5AAD41B-70A6-4BEE-9171-75A999C725F0}">
      <dgm:prSet/>
      <dgm:spPr/>
      <dgm:t>
        <a:bodyPr/>
        <a:lstStyle/>
        <a:p>
          <a:r>
            <a:rPr lang="en-IN"/>
            <a:t>It </a:t>
          </a:r>
          <a:r>
            <a:rPr lang="en-IN" b="1"/>
            <a:t>converts each category to a unique number</a:t>
          </a:r>
          <a:r>
            <a:rPr lang="en-IN"/>
            <a:t>.</a:t>
          </a:r>
          <a:endParaRPr lang="en-US"/>
        </a:p>
      </dgm:t>
    </dgm:pt>
    <dgm:pt modelId="{7728A0CB-C18D-4508-A7F7-257E95433FB6}" type="parTrans" cxnId="{45BC44D2-FD69-4C75-A777-9642F648B52E}">
      <dgm:prSet/>
      <dgm:spPr/>
      <dgm:t>
        <a:bodyPr/>
        <a:lstStyle/>
        <a:p>
          <a:endParaRPr lang="en-US"/>
        </a:p>
      </dgm:t>
    </dgm:pt>
    <dgm:pt modelId="{E938546B-1786-43BA-9F41-558DE9D03CB8}" type="sibTrans" cxnId="{45BC44D2-FD69-4C75-A777-9642F648B52E}">
      <dgm:prSet/>
      <dgm:spPr/>
      <dgm:t>
        <a:bodyPr/>
        <a:lstStyle/>
        <a:p>
          <a:endParaRPr lang="en-US"/>
        </a:p>
      </dgm:t>
    </dgm:pt>
    <dgm:pt modelId="{9D2715E2-DD3F-49E6-AC5C-54249322837B}">
      <dgm:prSet/>
      <dgm:spPr/>
      <dgm:t>
        <a:bodyPr/>
        <a:lstStyle/>
        <a:p>
          <a:r>
            <a:rPr lang="en-IN"/>
            <a:t>Ex. Gender-- -&gt; male , female</a:t>
          </a:r>
          <a:endParaRPr lang="en-US"/>
        </a:p>
      </dgm:t>
    </dgm:pt>
    <dgm:pt modelId="{DCC28019-53DA-4F59-A75B-4CDFD829C79F}" type="parTrans" cxnId="{10B3BDBD-4E9E-4ACB-8D95-43992BFCFBDC}">
      <dgm:prSet/>
      <dgm:spPr/>
      <dgm:t>
        <a:bodyPr/>
        <a:lstStyle/>
        <a:p>
          <a:endParaRPr lang="en-US"/>
        </a:p>
      </dgm:t>
    </dgm:pt>
    <dgm:pt modelId="{83D06B31-13A2-44A0-A054-342E3DC967A3}" type="sibTrans" cxnId="{10B3BDBD-4E9E-4ACB-8D95-43992BFCFBDC}">
      <dgm:prSet/>
      <dgm:spPr/>
      <dgm:t>
        <a:bodyPr/>
        <a:lstStyle/>
        <a:p>
          <a:endParaRPr lang="en-US"/>
        </a:p>
      </dgm:t>
    </dgm:pt>
    <dgm:pt modelId="{642B7D08-93B5-47BF-8C04-D09B040E9C71}">
      <dgm:prSet/>
      <dgm:spPr/>
      <dgm:t>
        <a:bodyPr/>
        <a:lstStyle/>
        <a:p>
          <a:r>
            <a:rPr lang="en-IN"/>
            <a:t>Converted to</a:t>
          </a:r>
          <a:r>
            <a:rPr lang="en-IN">
              <a:sym typeface="Wingdings" panose="05000000000000000000" pitchFamily="2" charset="2"/>
            </a:rPr>
            <a:t></a:t>
          </a:r>
          <a:r>
            <a:rPr lang="en-IN"/>
            <a:t> 1, 0</a:t>
          </a:r>
          <a:endParaRPr lang="en-US"/>
        </a:p>
      </dgm:t>
    </dgm:pt>
    <dgm:pt modelId="{B4EF4B0C-7D59-452D-998D-F372B8FFAD29}" type="parTrans" cxnId="{4AC0BA61-97AC-4027-B422-9F2616C64458}">
      <dgm:prSet/>
      <dgm:spPr/>
      <dgm:t>
        <a:bodyPr/>
        <a:lstStyle/>
        <a:p>
          <a:endParaRPr lang="en-US"/>
        </a:p>
      </dgm:t>
    </dgm:pt>
    <dgm:pt modelId="{D78D0C0F-449E-4A4F-87D9-5C1BFA8B0EB9}" type="sibTrans" cxnId="{4AC0BA61-97AC-4027-B422-9F2616C64458}">
      <dgm:prSet/>
      <dgm:spPr/>
      <dgm:t>
        <a:bodyPr/>
        <a:lstStyle/>
        <a:p>
          <a:endParaRPr lang="en-US"/>
        </a:p>
      </dgm:t>
    </dgm:pt>
    <dgm:pt modelId="{CF317396-FDB3-4E91-A7DA-E345BF24E727}" type="pres">
      <dgm:prSet presAssocID="{DBAB8A1C-B07D-444E-8418-E2F147558A87}" presName="linear" presStyleCnt="0">
        <dgm:presLayoutVars>
          <dgm:animLvl val="lvl"/>
          <dgm:resizeHandles val="exact"/>
        </dgm:presLayoutVars>
      </dgm:prSet>
      <dgm:spPr/>
    </dgm:pt>
    <dgm:pt modelId="{0DCB1825-AAAB-47EE-9A02-E84083B95D5E}" type="pres">
      <dgm:prSet presAssocID="{5337BF2C-441C-4A1F-83FF-63712437819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3DCAF5-CCCF-40FD-8FD8-CD34D6FCD352}" type="pres">
      <dgm:prSet presAssocID="{5EE63871-1638-4EB7-B96A-04A3B2BBE73D}" presName="spacer" presStyleCnt="0"/>
      <dgm:spPr/>
    </dgm:pt>
    <dgm:pt modelId="{6AFC4976-9EB3-4639-A880-6AF7EAF0159B}" type="pres">
      <dgm:prSet presAssocID="{D5AAD41B-70A6-4BEE-9171-75A999C725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FA4A22-C737-451D-8BB6-98549009E808}" type="pres">
      <dgm:prSet presAssocID="{E938546B-1786-43BA-9F41-558DE9D03CB8}" presName="spacer" presStyleCnt="0"/>
      <dgm:spPr/>
    </dgm:pt>
    <dgm:pt modelId="{6E87CDC3-3075-4E72-9159-B6C5863914ED}" type="pres">
      <dgm:prSet presAssocID="{9D2715E2-DD3F-49E6-AC5C-54249322837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9B3FF88-9DF4-42FD-81A8-AE08FA9D81A8}" type="pres">
      <dgm:prSet presAssocID="{83D06B31-13A2-44A0-A054-342E3DC967A3}" presName="spacer" presStyleCnt="0"/>
      <dgm:spPr/>
    </dgm:pt>
    <dgm:pt modelId="{25D1FD39-DF0A-41BB-9688-33E9628D1524}" type="pres">
      <dgm:prSet presAssocID="{642B7D08-93B5-47BF-8C04-D09B040E9C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C2E7D2F-2ECB-4EAE-A061-2F01BD759A5D}" type="presOf" srcId="{642B7D08-93B5-47BF-8C04-D09B040E9C71}" destId="{25D1FD39-DF0A-41BB-9688-33E9628D1524}" srcOrd="0" destOrd="0" presId="urn:microsoft.com/office/officeart/2005/8/layout/vList2"/>
    <dgm:cxn modelId="{4AC0BA61-97AC-4027-B422-9F2616C64458}" srcId="{DBAB8A1C-B07D-444E-8418-E2F147558A87}" destId="{642B7D08-93B5-47BF-8C04-D09B040E9C71}" srcOrd="3" destOrd="0" parTransId="{B4EF4B0C-7D59-452D-998D-F372B8FFAD29}" sibTransId="{D78D0C0F-449E-4A4F-87D9-5C1BFA8B0EB9}"/>
    <dgm:cxn modelId="{96BB3143-56EA-404B-806C-52D2ADE5EF3A}" srcId="{DBAB8A1C-B07D-444E-8418-E2F147558A87}" destId="{5337BF2C-441C-4A1F-83FF-637124378193}" srcOrd="0" destOrd="0" parTransId="{0FAA9ED4-EE59-40EE-8014-553FA91DD812}" sibTransId="{5EE63871-1638-4EB7-B96A-04A3B2BBE73D}"/>
    <dgm:cxn modelId="{FDDB0353-48B1-481A-BF5D-715B4B62BEE6}" type="presOf" srcId="{DBAB8A1C-B07D-444E-8418-E2F147558A87}" destId="{CF317396-FDB3-4E91-A7DA-E345BF24E727}" srcOrd="0" destOrd="0" presId="urn:microsoft.com/office/officeart/2005/8/layout/vList2"/>
    <dgm:cxn modelId="{B7F9D875-212C-4EF7-B9D8-633CE330401B}" type="presOf" srcId="{5337BF2C-441C-4A1F-83FF-637124378193}" destId="{0DCB1825-AAAB-47EE-9A02-E84083B95D5E}" srcOrd="0" destOrd="0" presId="urn:microsoft.com/office/officeart/2005/8/layout/vList2"/>
    <dgm:cxn modelId="{1A29597F-5EAA-4301-8CED-F90FB819006F}" type="presOf" srcId="{D5AAD41B-70A6-4BEE-9171-75A999C725F0}" destId="{6AFC4976-9EB3-4639-A880-6AF7EAF0159B}" srcOrd="0" destOrd="0" presId="urn:microsoft.com/office/officeart/2005/8/layout/vList2"/>
    <dgm:cxn modelId="{10B3BDBD-4E9E-4ACB-8D95-43992BFCFBDC}" srcId="{DBAB8A1C-B07D-444E-8418-E2F147558A87}" destId="{9D2715E2-DD3F-49E6-AC5C-54249322837B}" srcOrd="2" destOrd="0" parTransId="{DCC28019-53DA-4F59-A75B-4CDFD829C79F}" sibTransId="{83D06B31-13A2-44A0-A054-342E3DC967A3}"/>
    <dgm:cxn modelId="{1A3760CB-B1ED-4378-9E8F-7221D810BBCE}" type="presOf" srcId="{9D2715E2-DD3F-49E6-AC5C-54249322837B}" destId="{6E87CDC3-3075-4E72-9159-B6C5863914ED}" srcOrd="0" destOrd="0" presId="urn:microsoft.com/office/officeart/2005/8/layout/vList2"/>
    <dgm:cxn modelId="{45BC44D2-FD69-4C75-A777-9642F648B52E}" srcId="{DBAB8A1C-B07D-444E-8418-E2F147558A87}" destId="{D5AAD41B-70A6-4BEE-9171-75A999C725F0}" srcOrd="1" destOrd="0" parTransId="{7728A0CB-C18D-4508-A7F7-257E95433FB6}" sibTransId="{E938546B-1786-43BA-9F41-558DE9D03CB8}"/>
    <dgm:cxn modelId="{ECB96B6C-C99D-47E2-B460-8791F3C22AE5}" type="presParOf" srcId="{CF317396-FDB3-4E91-A7DA-E345BF24E727}" destId="{0DCB1825-AAAB-47EE-9A02-E84083B95D5E}" srcOrd="0" destOrd="0" presId="urn:microsoft.com/office/officeart/2005/8/layout/vList2"/>
    <dgm:cxn modelId="{65CDD923-C28F-4C1D-AA73-2366E0D94F70}" type="presParOf" srcId="{CF317396-FDB3-4E91-A7DA-E345BF24E727}" destId="{D13DCAF5-CCCF-40FD-8FD8-CD34D6FCD352}" srcOrd="1" destOrd="0" presId="urn:microsoft.com/office/officeart/2005/8/layout/vList2"/>
    <dgm:cxn modelId="{CC9537C7-CE6B-4232-BE31-4A426B215BA7}" type="presParOf" srcId="{CF317396-FDB3-4E91-A7DA-E345BF24E727}" destId="{6AFC4976-9EB3-4639-A880-6AF7EAF0159B}" srcOrd="2" destOrd="0" presId="urn:microsoft.com/office/officeart/2005/8/layout/vList2"/>
    <dgm:cxn modelId="{E9629733-5462-4B7B-8170-ABF125A20F53}" type="presParOf" srcId="{CF317396-FDB3-4E91-A7DA-E345BF24E727}" destId="{87FA4A22-C737-451D-8BB6-98549009E808}" srcOrd="3" destOrd="0" presId="urn:microsoft.com/office/officeart/2005/8/layout/vList2"/>
    <dgm:cxn modelId="{D62B0B16-01D7-4A52-9517-943AB7581D29}" type="presParOf" srcId="{CF317396-FDB3-4E91-A7DA-E345BF24E727}" destId="{6E87CDC3-3075-4E72-9159-B6C5863914ED}" srcOrd="4" destOrd="0" presId="urn:microsoft.com/office/officeart/2005/8/layout/vList2"/>
    <dgm:cxn modelId="{229E4410-A271-4599-8888-3CCCC56BD3AE}" type="presParOf" srcId="{CF317396-FDB3-4E91-A7DA-E345BF24E727}" destId="{09B3FF88-9DF4-42FD-81A8-AE08FA9D81A8}" srcOrd="5" destOrd="0" presId="urn:microsoft.com/office/officeart/2005/8/layout/vList2"/>
    <dgm:cxn modelId="{A59A6B4A-9FC1-4934-B2FB-613C63D89C1A}" type="presParOf" srcId="{CF317396-FDB3-4E91-A7DA-E345BF24E727}" destId="{25D1FD39-DF0A-41BB-9688-33E9628D15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FF6C59-4CEB-4358-952D-2B3E1573AA5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0AB513-D7FA-45F6-8F22-C36F955658DD}">
      <dgm:prSet/>
      <dgm:spPr/>
      <dgm:t>
        <a:bodyPr/>
        <a:lstStyle/>
        <a:p>
          <a:r>
            <a:rPr lang="en-IN"/>
            <a:t>Use </a:t>
          </a:r>
          <a:r>
            <a:rPr lang="en-IN" b="1"/>
            <a:t>Label Encoding</a:t>
          </a:r>
          <a:r>
            <a:rPr lang="en-IN"/>
            <a:t> for binary features (e.g., Male/Female),</a:t>
          </a:r>
          <a:endParaRPr lang="en-US"/>
        </a:p>
      </dgm:t>
    </dgm:pt>
    <dgm:pt modelId="{66FE277F-7C83-47DF-B932-7643DC4A39A1}" type="parTrans" cxnId="{A4070C02-A8C7-4A4E-A983-3728759D2D5D}">
      <dgm:prSet/>
      <dgm:spPr/>
      <dgm:t>
        <a:bodyPr/>
        <a:lstStyle/>
        <a:p>
          <a:endParaRPr lang="en-US"/>
        </a:p>
      </dgm:t>
    </dgm:pt>
    <dgm:pt modelId="{4831D605-BB4B-4994-A508-AB9A143A0D9F}" type="sibTrans" cxnId="{A4070C02-A8C7-4A4E-A983-3728759D2D5D}">
      <dgm:prSet/>
      <dgm:spPr/>
      <dgm:t>
        <a:bodyPr/>
        <a:lstStyle/>
        <a:p>
          <a:endParaRPr lang="en-US"/>
        </a:p>
      </dgm:t>
    </dgm:pt>
    <dgm:pt modelId="{962ACA99-36B2-44DA-AB28-545261627EC8}">
      <dgm:prSet/>
      <dgm:spPr/>
      <dgm:t>
        <a:bodyPr/>
        <a:lstStyle/>
        <a:p>
          <a:r>
            <a:rPr lang="en-IN" b="1"/>
            <a:t>One-Hot Encoding</a:t>
          </a:r>
          <a:r>
            <a:rPr lang="en-IN"/>
            <a:t> for features with 3+ categories.</a:t>
          </a:r>
          <a:endParaRPr lang="en-US"/>
        </a:p>
      </dgm:t>
    </dgm:pt>
    <dgm:pt modelId="{66EDEB3E-3AB4-439F-A3E2-47B5B5637C4B}" type="parTrans" cxnId="{644E25A7-1395-48BB-A8F9-A983D10FE90F}">
      <dgm:prSet/>
      <dgm:spPr/>
      <dgm:t>
        <a:bodyPr/>
        <a:lstStyle/>
        <a:p>
          <a:endParaRPr lang="en-US"/>
        </a:p>
      </dgm:t>
    </dgm:pt>
    <dgm:pt modelId="{525ABFF3-ABF6-451E-88CE-37543E56F7D8}" type="sibTrans" cxnId="{644E25A7-1395-48BB-A8F9-A983D10FE90F}">
      <dgm:prSet/>
      <dgm:spPr/>
      <dgm:t>
        <a:bodyPr/>
        <a:lstStyle/>
        <a:p>
          <a:endParaRPr lang="en-US"/>
        </a:p>
      </dgm:t>
    </dgm:pt>
    <dgm:pt modelId="{2924A3A9-5964-496E-B876-425734557DDA}" type="pres">
      <dgm:prSet presAssocID="{E7FF6C59-4CEB-4358-952D-2B3E1573AA54}" presName="linear" presStyleCnt="0">
        <dgm:presLayoutVars>
          <dgm:animLvl val="lvl"/>
          <dgm:resizeHandles val="exact"/>
        </dgm:presLayoutVars>
      </dgm:prSet>
      <dgm:spPr/>
    </dgm:pt>
    <dgm:pt modelId="{2315AE0C-93BC-4475-9B5F-60498F52E38C}" type="pres">
      <dgm:prSet presAssocID="{D00AB513-D7FA-45F6-8F22-C36F955658D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8345961-5927-4646-9E3D-FFFC2A903802}" type="pres">
      <dgm:prSet presAssocID="{4831D605-BB4B-4994-A508-AB9A143A0D9F}" presName="spacer" presStyleCnt="0"/>
      <dgm:spPr/>
    </dgm:pt>
    <dgm:pt modelId="{4038F6E8-7C3F-4F76-94C2-9B2DF870C97E}" type="pres">
      <dgm:prSet presAssocID="{962ACA99-36B2-44DA-AB28-545261627EC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4070C02-A8C7-4A4E-A983-3728759D2D5D}" srcId="{E7FF6C59-4CEB-4358-952D-2B3E1573AA54}" destId="{D00AB513-D7FA-45F6-8F22-C36F955658DD}" srcOrd="0" destOrd="0" parTransId="{66FE277F-7C83-47DF-B932-7643DC4A39A1}" sibTransId="{4831D605-BB4B-4994-A508-AB9A143A0D9F}"/>
    <dgm:cxn modelId="{8AF70B70-E937-4B1C-9BB1-FEBD03222FEC}" type="presOf" srcId="{D00AB513-D7FA-45F6-8F22-C36F955658DD}" destId="{2315AE0C-93BC-4475-9B5F-60498F52E38C}" srcOrd="0" destOrd="0" presId="urn:microsoft.com/office/officeart/2005/8/layout/vList2"/>
    <dgm:cxn modelId="{43F071A3-0FB4-4B93-9360-CC9098E7A0BC}" type="presOf" srcId="{E7FF6C59-4CEB-4358-952D-2B3E1573AA54}" destId="{2924A3A9-5964-496E-B876-425734557DDA}" srcOrd="0" destOrd="0" presId="urn:microsoft.com/office/officeart/2005/8/layout/vList2"/>
    <dgm:cxn modelId="{644E25A7-1395-48BB-A8F9-A983D10FE90F}" srcId="{E7FF6C59-4CEB-4358-952D-2B3E1573AA54}" destId="{962ACA99-36B2-44DA-AB28-545261627EC8}" srcOrd="1" destOrd="0" parTransId="{66EDEB3E-3AB4-439F-A3E2-47B5B5637C4B}" sibTransId="{525ABFF3-ABF6-451E-88CE-37543E56F7D8}"/>
    <dgm:cxn modelId="{BF9792E1-4788-452D-92FE-2A337D5FFED3}" type="presOf" srcId="{962ACA99-36B2-44DA-AB28-545261627EC8}" destId="{4038F6E8-7C3F-4F76-94C2-9B2DF870C97E}" srcOrd="0" destOrd="0" presId="urn:microsoft.com/office/officeart/2005/8/layout/vList2"/>
    <dgm:cxn modelId="{1C89C5BB-E3AF-4ACD-B4F3-0EF46CA51923}" type="presParOf" srcId="{2924A3A9-5964-496E-B876-425734557DDA}" destId="{2315AE0C-93BC-4475-9B5F-60498F52E38C}" srcOrd="0" destOrd="0" presId="urn:microsoft.com/office/officeart/2005/8/layout/vList2"/>
    <dgm:cxn modelId="{C9F1EB40-3290-46BC-AACF-FCB8077E88DA}" type="presParOf" srcId="{2924A3A9-5964-496E-B876-425734557DDA}" destId="{A8345961-5927-4646-9E3D-FFFC2A903802}" srcOrd="1" destOrd="0" presId="urn:microsoft.com/office/officeart/2005/8/layout/vList2"/>
    <dgm:cxn modelId="{45CB64F2-490C-4E42-99C6-0FACEC993964}" type="presParOf" srcId="{2924A3A9-5964-496E-B876-425734557DDA}" destId="{4038F6E8-7C3F-4F76-94C2-9B2DF870C97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B1825-AAAB-47EE-9A02-E84083B95D5E}">
      <dsp:nvSpPr>
        <dsp:cNvPr id="0" name=""/>
        <dsp:cNvSpPr/>
      </dsp:nvSpPr>
      <dsp:spPr>
        <a:xfrm>
          <a:off x="0" y="14279"/>
          <a:ext cx="5676900" cy="12741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/>
            <a:t>➕ What is it?</a:t>
          </a:r>
          <a:endParaRPr lang="en-US" sz="3300" kern="1200"/>
        </a:p>
      </dsp:txBody>
      <dsp:txXfrm>
        <a:off x="62198" y="76477"/>
        <a:ext cx="5552504" cy="1149734"/>
      </dsp:txXfrm>
    </dsp:sp>
    <dsp:sp modelId="{6AFC4976-9EB3-4639-A880-6AF7EAF0159B}">
      <dsp:nvSpPr>
        <dsp:cNvPr id="0" name=""/>
        <dsp:cNvSpPr/>
      </dsp:nvSpPr>
      <dsp:spPr>
        <a:xfrm>
          <a:off x="0" y="1383450"/>
          <a:ext cx="5676900" cy="1274130"/>
        </a:xfrm>
        <a:prstGeom prst="roundRect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It </a:t>
          </a:r>
          <a:r>
            <a:rPr lang="en-IN" sz="3300" b="1" kern="1200"/>
            <a:t>converts each category to a unique number</a:t>
          </a:r>
          <a:r>
            <a:rPr lang="en-IN" sz="3300" kern="1200"/>
            <a:t>.</a:t>
          </a:r>
          <a:endParaRPr lang="en-US" sz="3300" kern="1200"/>
        </a:p>
      </dsp:txBody>
      <dsp:txXfrm>
        <a:off x="62198" y="1445648"/>
        <a:ext cx="5552504" cy="1149734"/>
      </dsp:txXfrm>
    </dsp:sp>
    <dsp:sp modelId="{6E87CDC3-3075-4E72-9159-B6C5863914ED}">
      <dsp:nvSpPr>
        <dsp:cNvPr id="0" name=""/>
        <dsp:cNvSpPr/>
      </dsp:nvSpPr>
      <dsp:spPr>
        <a:xfrm>
          <a:off x="0" y="2752620"/>
          <a:ext cx="5676900" cy="1274130"/>
        </a:xfrm>
        <a:prstGeom prst="roundRect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Ex. Gender-- -&gt; male , female</a:t>
          </a:r>
          <a:endParaRPr lang="en-US" sz="3300" kern="1200"/>
        </a:p>
      </dsp:txBody>
      <dsp:txXfrm>
        <a:off x="62198" y="2814818"/>
        <a:ext cx="5552504" cy="1149734"/>
      </dsp:txXfrm>
    </dsp:sp>
    <dsp:sp modelId="{25D1FD39-DF0A-41BB-9688-33E9628D1524}">
      <dsp:nvSpPr>
        <dsp:cNvPr id="0" name=""/>
        <dsp:cNvSpPr/>
      </dsp:nvSpPr>
      <dsp:spPr>
        <a:xfrm>
          <a:off x="0" y="4121790"/>
          <a:ext cx="5676900" cy="1274130"/>
        </a:xfrm>
        <a:prstGeom prst="roundRect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kern="1200"/>
            <a:t>Converted to</a:t>
          </a:r>
          <a:r>
            <a:rPr lang="en-IN" sz="3300" kern="1200">
              <a:sym typeface="Wingdings" panose="05000000000000000000" pitchFamily="2" charset="2"/>
            </a:rPr>
            <a:t></a:t>
          </a:r>
          <a:r>
            <a:rPr lang="en-IN" sz="3300" kern="1200"/>
            <a:t> 1, 0</a:t>
          </a:r>
          <a:endParaRPr lang="en-US" sz="3300" kern="1200"/>
        </a:p>
      </dsp:txBody>
      <dsp:txXfrm>
        <a:off x="62198" y="4183988"/>
        <a:ext cx="5552504" cy="1149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5AE0C-93BC-4475-9B5F-60498F52E38C}">
      <dsp:nvSpPr>
        <dsp:cNvPr id="0" name=""/>
        <dsp:cNvSpPr/>
      </dsp:nvSpPr>
      <dsp:spPr>
        <a:xfrm>
          <a:off x="0" y="218400"/>
          <a:ext cx="5676900" cy="24218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kern="1200"/>
            <a:t>Use </a:t>
          </a:r>
          <a:r>
            <a:rPr lang="en-IN" sz="4500" b="1" kern="1200"/>
            <a:t>Label Encoding</a:t>
          </a:r>
          <a:r>
            <a:rPr lang="en-IN" sz="4500" kern="1200"/>
            <a:t> for binary features (e.g., Male/Female),</a:t>
          </a:r>
          <a:endParaRPr lang="en-US" sz="4500" kern="1200"/>
        </a:p>
      </dsp:txBody>
      <dsp:txXfrm>
        <a:off x="118227" y="336627"/>
        <a:ext cx="5440446" cy="2185445"/>
      </dsp:txXfrm>
    </dsp:sp>
    <dsp:sp modelId="{4038F6E8-7C3F-4F76-94C2-9B2DF870C97E}">
      <dsp:nvSpPr>
        <dsp:cNvPr id="0" name=""/>
        <dsp:cNvSpPr/>
      </dsp:nvSpPr>
      <dsp:spPr>
        <a:xfrm>
          <a:off x="0" y="2769900"/>
          <a:ext cx="5676900" cy="2421899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500" b="1" kern="1200"/>
            <a:t>One-Hot Encoding</a:t>
          </a:r>
          <a:r>
            <a:rPr lang="en-IN" sz="4500" kern="1200"/>
            <a:t> for features with 3+ categories.</a:t>
          </a:r>
          <a:endParaRPr lang="en-US" sz="4500" kern="1200"/>
        </a:p>
      </dsp:txBody>
      <dsp:txXfrm>
        <a:off x="118227" y="2888127"/>
        <a:ext cx="5440446" cy="2185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3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8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45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65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5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50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66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5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87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9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7AEBFA8-DDF2-BFB4-DFF7-9F0BC6A5C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1" r="1" b="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79B62-64DD-E393-7A8F-60811A829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36" y="908651"/>
            <a:ext cx="4754880" cy="417177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600" dirty="0"/>
              <a:t>Changing categorical variable to numeric 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F0B97-CDE5-1BC7-B67D-5AEBFE132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736" y="5216955"/>
            <a:ext cx="4754880" cy="1003638"/>
          </a:xfrm>
        </p:spPr>
        <p:txBody>
          <a:bodyPr anchor="b">
            <a:normAutofit/>
          </a:bodyPr>
          <a:lstStyle/>
          <a:p>
            <a:r>
              <a:rPr lang="en-IN" sz="2200"/>
              <a:t>Created by: Mahipal singh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807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1EFB2-31C3-8DAB-EE4A-BEA27B4F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800" b="1"/>
              <a:t>What are Categorical Variables?</a:t>
            </a:r>
            <a:br>
              <a:rPr lang="en-IN" sz="2800"/>
            </a:br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FDE8F-0240-5250-0738-9271DDFB8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57" r="14950" b="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D65D7-0F33-B549-19AC-B0B41118E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r>
              <a:rPr lang="en-IN" b="1" dirty="0"/>
              <a:t>Categorical variables </a:t>
            </a:r>
            <a:r>
              <a:rPr lang="en-IN" dirty="0"/>
              <a:t>are columns with discrete values that represent </a:t>
            </a:r>
            <a:r>
              <a:rPr lang="en-IN" b="1" dirty="0"/>
              <a:t>categories</a:t>
            </a:r>
            <a:r>
              <a:rPr lang="en-IN" dirty="0"/>
              <a:t>, like:</a:t>
            </a:r>
          </a:p>
          <a:p>
            <a:pPr lvl="0"/>
            <a:r>
              <a:rPr lang="en-IN" b="1" dirty="0"/>
              <a:t>Gender: </a:t>
            </a:r>
            <a:r>
              <a:rPr lang="en-IN" dirty="0"/>
              <a:t>Male, Female</a:t>
            </a:r>
          </a:p>
          <a:p>
            <a:pPr lvl="0"/>
            <a:r>
              <a:rPr lang="en-IN" b="1" dirty="0" err="1"/>
              <a:t>InternetService</a:t>
            </a:r>
            <a:r>
              <a:rPr lang="en-IN" b="1" dirty="0"/>
              <a:t>: </a:t>
            </a:r>
            <a:r>
              <a:rPr lang="en-IN" dirty="0"/>
              <a:t>DSL, Fiber optic, No</a:t>
            </a:r>
          </a:p>
          <a:p>
            <a:pPr lvl="0"/>
            <a:r>
              <a:rPr lang="en-IN" b="1" dirty="0"/>
              <a:t>Contract: </a:t>
            </a:r>
            <a:r>
              <a:rPr lang="en-IN" dirty="0"/>
              <a:t>Month-to-month, One year, Two year</a:t>
            </a:r>
          </a:p>
          <a:p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946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E2B8-F309-5B7A-92F7-283DD4687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Encode?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D105-7860-DBA7-03BD-14676794E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/>
              <a:t>ML models like </a:t>
            </a:r>
            <a:r>
              <a:rPr lang="en-IN" sz="3200" b="1" dirty="0"/>
              <a:t>Logistic Regression</a:t>
            </a:r>
            <a:r>
              <a:rPr lang="en-IN" sz="3200" dirty="0"/>
              <a:t>, </a:t>
            </a:r>
            <a:r>
              <a:rPr lang="en-IN" sz="3200" b="1" dirty="0"/>
              <a:t>SVM</a:t>
            </a:r>
            <a:r>
              <a:rPr lang="en-IN" sz="3200" dirty="0"/>
              <a:t>, or </a:t>
            </a:r>
            <a:r>
              <a:rPr lang="en-IN" sz="3200" b="1" dirty="0"/>
              <a:t>Random Forest</a:t>
            </a:r>
            <a:r>
              <a:rPr lang="en-IN" sz="3200" dirty="0"/>
              <a:t> can’t work directly with text labels. You must </a:t>
            </a:r>
            <a:r>
              <a:rPr lang="en-IN" sz="3200" b="1" dirty="0"/>
              <a:t>convert categorical values to numbers</a:t>
            </a:r>
            <a:r>
              <a:rPr lang="en-IN" sz="3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417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04E3C-37DE-AFDF-5FD2-DF0C9455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</a:rPr>
              <a:t>Label Encoding</a:t>
            </a:r>
            <a:br>
              <a:rPr lang="en-IN">
                <a:solidFill>
                  <a:schemeClr val="bg1"/>
                </a:solidFill>
              </a:rPr>
            </a:br>
            <a:endParaRPr lang="en-IN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8EEF72-2EB5-0D49-01D0-22462F2DD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585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342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4500-1979-4643-2D4D-06AA89DD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One-Hot Encoding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0BC62-DAEF-94F0-AF47-AE7AB771C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02" y="2103459"/>
            <a:ext cx="10691265" cy="3739896"/>
          </a:xfrm>
        </p:spPr>
        <p:txBody>
          <a:bodyPr/>
          <a:lstStyle/>
          <a:p>
            <a:r>
              <a:rPr lang="en-IN" b="1" dirty="0"/>
              <a:t>➕ What is it?</a:t>
            </a:r>
            <a:endParaRPr lang="en-IN" dirty="0"/>
          </a:p>
          <a:p>
            <a:r>
              <a:rPr lang="en-IN" dirty="0"/>
              <a:t>Creates </a:t>
            </a:r>
            <a:r>
              <a:rPr lang="en-IN" b="1" dirty="0"/>
              <a:t>new binary columns</a:t>
            </a:r>
            <a:r>
              <a:rPr lang="en-IN" dirty="0"/>
              <a:t> for each category.</a:t>
            </a:r>
          </a:p>
          <a:p>
            <a:r>
              <a:rPr lang="en-IN" dirty="0"/>
              <a:t>Example: east, west, north, south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3C89CC-D561-63F6-2FAF-304B87C5A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66036"/>
              </p:ext>
            </p:extLst>
          </p:nvPr>
        </p:nvGraphicFramePr>
        <p:xfrm>
          <a:off x="1193800" y="3572932"/>
          <a:ext cx="8128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310487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009371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799551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17454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East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North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340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4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890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11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98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68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B51A-DF52-0F55-3DD1-D1975DF4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When to use: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87762-8662-4A6F-97EC-F49EBEDC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800" dirty="0"/>
              <a:t>For </a:t>
            </a:r>
            <a:r>
              <a:rPr lang="en-IN" sz="2800" b="1" dirty="0"/>
              <a:t>nominal categorical </a:t>
            </a:r>
            <a:r>
              <a:rPr lang="en-IN" sz="2800" dirty="0"/>
              <a:t>variables</a:t>
            </a:r>
          </a:p>
          <a:p>
            <a:pPr lvl="0"/>
            <a:r>
              <a:rPr lang="en-IN" sz="2800" dirty="0"/>
              <a:t>When using algorithms sensitive to numerical magnitude (e.g., Logistic Regression, KNN)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93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BF659-2D91-11BF-3B62-60FD3C573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Summary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8365B3-4535-99F3-2927-A06DAA0CD9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9632359"/>
              </p:ext>
            </p:extLst>
          </p:nvPr>
        </p:nvGraphicFramePr>
        <p:xfrm>
          <a:off x="3484880" y="1056639"/>
          <a:ext cx="7907021" cy="4902337"/>
        </p:xfrm>
        <a:graphic>
          <a:graphicData uri="http://schemas.openxmlformats.org/drawingml/2006/table">
            <a:tbl>
              <a:tblPr firstRow="1" firstCol="1"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1591771">
                  <a:extLst>
                    <a:ext uri="{9D8B030D-6E8A-4147-A177-3AD203B41FA5}">
                      <a16:colId xmlns:a16="http://schemas.microsoft.com/office/drawing/2014/main" val="3504974267"/>
                    </a:ext>
                  </a:extLst>
                </a:gridCol>
                <a:gridCol w="1355406">
                  <a:extLst>
                    <a:ext uri="{9D8B030D-6E8A-4147-A177-3AD203B41FA5}">
                      <a16:colId xmlns:a16="http://schemas.microsoft.com/office/drawing/2014/main" val="2474596117"/>
                    </a:ext>
                  </a:extLst>
                </a:gridCol>
                <a:gridCol w="1530352">
                  <a:extLst>
                    <a:ext uri="{9D8B030D-6E8A-4147-A177-3AD203B41FA5}">
                      <a16:colId xmlns:a16="http://schemas.microsoft.com/office/drawing/2014/main" val="105171660"/>
                    </a:ext>
                  </a:extLst>
                </a:gridCol>
                <a:gridCol w="1575984">
                  <a:extLst>
                    <a:ext uri="{9D8B030D-6E8A-4147-A177-3AD203B41FA5}">
                      <a16:colId xmlns:a16="http://schemas.microsoft.com/office/drawing/2014/main" val="3221108238"/>
                    </a:ext>
                  </a:extLst>
                </a:gridCol>
                <a:gridCol w="1853508">
                  <a:extLst>
                    <a:ext uri="{9D8B030D-6E8A-4147-A177-3AD203B41FA5}">
                      <a16:colId xmlns:a16="http://schemas.microsoft.com/office/drawing/2014/main" val="2563809324"/>
                    </a:ext>
                  </a:extLst>
                </a:gridCol>
              </a:tblGrid>
              <a:tr h="13177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Encoding Type</a:t>
                      </a:r>
                      <a:endParaRPr lang="en-IN" sz="1400" b="1" kern="100" cap="all" spc="6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4494" marR="164494" marT="164494" marB="16449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spc="60">
                          <a:solidFill>
                            <a:schemeClr val="tx1"/>
                          </a:solidFill>
                          <a:effectLst/>
                        </a:rPr>
                        <a:t>Output Format</a:t>
                      </a:r>
                      <a:endParaRPr lang="en-IN" sz="1400" b="1" kern="100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4494" marR="164494" marT="164494" marB="16449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spc="60">
                          <a:solidFill>
                            <a:schemeClr val="tx1"/>
                          </a:solidFill>
                          <a:effectLst/>
                        </a:rPr>
                        <a:t>Suitable For</a:t>
                      </a:r>
                      <a:endParaRPr lang="en-IN" sz="1400" b="1" kern="100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4494" marR="164494" marT="164494" marB="16449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spc="60">
                          <a:solidFill>
                            <a:schemeClr val="tx1"/>
                          </a:solidFill>
                          <a:effectLst/>
                        </a:rPr>
                        <a:t>Pros</a:t>
                      </a:r>
                      <a:endParaRPr lang="en-IN" sz="1400" b="1" kern="100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4494" marR="164494" marT="164494" marB="16449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all" spc="60">
                          <a:solidFill>
                            <a:schemeClr val="tx1"/>
                          </a:solidFill>
                          <a:effectLst/>
                        </a:rPr>
                        <a:t>Cons</a:t>
                      </a:r>
                      <a:endParaRPr lang="en-IN" sz="1400" b="1" kern="100" cap="all" spc="6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64494" marR="164494" marT="164494" marB="16449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995638"/>
                  </a:ext>
                </a:extLst>
              </a:tr>
              <a:tr h="17922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Label Encoding</a:t>
                      </a:r>
                      <a:endParaRPr lang="en-IN" sz="14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Single numeric col</a:t>
                      </a:r>
                      <a:endParaRPr lang="en-IN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Binary or ordinal data</a:t>
                      </a:r>
                      <a:endParaRPr lang="en-IN" sz="19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Fast, simple</a:t>
                      </a:r>
                      <a:endParaRPr lang="en-IN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Only one column required</a:t>
                      </a:r>
                      <a:endParaRPr lang="en-IN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809304"/>
                  </a:ext>
                </a:extLst>
              </a:tr>
              <a:tr h="17922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cap="none" spc="0">
                          <a:solidFill>
                            <a:schemeClr val="tx1"/>
                          </a:solidFill>
                          <a:effectLst/>
                        </a:rPr>
                        <a:t>One-Hot Encoding</a:t>
                      </a:r>
                      <a:endParaRPr lang="en-IN" sz="14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Multiple binary cols</a:t>
                      </a:r>
                      <a:endParaRPr lang="en-IN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Nominal categorical data</a:t>
                      </a:r>
                      <a:endParaRPr lang="en-IN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>
                          <a:solidFill>
                            <a:schemeClr val="tx1"/>
                          </a:solidFill>
                          <a:effectLst/>
                        </a:rPr>
                        <a:t>No ordering assumption</a:t>
                      </a:r>
                      <a:endParaRPr lang="en-IN" sz="19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90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Increases dimensionality</a:t>
                      </a:r>
                      <a:endParaRPr lang="en-IN" sz="19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1424" marR="11424" marT="11424" marB="109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576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5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A3C53-F684-D50F-722A-896EE61F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chemeClr val="bg1"/>
                </a:solidFill>
              </a:rPr>
              <a:t>Best Practice (Combine Both)</a:t>
            </a:r>
            <a:br>
              <a:rPr lang="en-IN">
                <a:solidFill>
                  <a:schemeClr val="bg1"/>
                </a:solidFill>
              </a:rPr>
            </a:br>
            <a:endParaRPr lang="en-IN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E65E99-2722-AD2D-E627-1B425FE516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524232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020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D347F5-09E6-5810-94AA-BE3A1770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1300"/>
            <a:ext cx="2171055" cy="4265842"/>
          </a:xfrm>
        </p:spPr>
        <p:txBody>
          <a:bodyPr>
            <a:normAutofit/>
          </a:bodyPr>
          <a:lstStyle/>
          <a:p>
            <a:r>
              <a:rPr lang="en-IN" sz="2400"/>
              <a:t>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AAB71-C4C3-A5BC-0763-F44AAC5EB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753" y="578015"/>
            <a:ext cx="7601609" cy="554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df_processed</a:t>
            </a:r>
            <a:r>
              <a:rPr lang="en-IN" dirty="0">
                <a:solidFill>
                  <a:srgbClr val="0070C0"/>
                </a:solidFill>
              </a:rPr>
              <a:t> = </a:t>
            </a:r>
            <a:r>
              <a:rPr lang="en-IN" dirty="0" err="1">
                <a:solidFill>
                  <a:srgbClr val="0070C0"/>
                </a:solidFill>
              </a:rPr>
              <a:t>df.copy</a:t>
            </a:r>
            <a:r>
              <a:rPr lang="en-IN" dirty="0">
                <a:solidFill>
                  <a:srgbClr val="0070C0"/>
                </a:solidFill>
              </a:rPr>
              <a:t>() </a:t>
            </a:r>
          </a:p>
          <a:p>
            <a:pPr marL="0" indent="0">
              <a:buNone/>
            </a:pPr>
            <a:r>
              <a:rPr lang="en-IN" b="1" dirty="0"/>
              <a:t># Label encode binary columns</a:t>
            </a: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binary_cols</a:t>
            </a:r>
            <a:r>
              <a:rPr lang="en-IN" dirty="0">
                <a:solidFill>
                  <a:srgbClr val="0070C0"/>
                </a:solidFill>
              </a:rPr>
              <a:t> = ['gender', 'Partner', 'Dependents', '</a:t>
            </a:r>
            <a:r>
              <a:rPr lang="en-IN" dirty="0" err="1">
                <a:solidFill>
                  <a:srgbClr val="0070C0"/>
                </a:solidFill>
              </a:rPr>
              <a:t>PhoneService</a:t>
            </a:r>
            <a:r>
              <a:rPr lang="en-IN" dirty="0">
                <a:solidFill>
                  <a:srgbClr val="0070C0"/>
                </a:solidFill>
              </a:rPr>
              <a:t>', '</a:t>
            </a:r>
            <a:r>
              <a:rPr lang="en-IN" dirty="0" err="1">
                <a:solidFill>
                  <a:srgbClr val="0070C0"/>
                </a:solidFill>
              </a:rPr>
              <a:t>PaperlessBilling</a:t>
            </a:r>
            <a:r>
              <a:rPr lang="en-IN" dirty="0">
                <a:solidFill>
                  <a:srgbClr val="0070C0"/>
                </a:solidFill>
              </a:rPr>
              <a:t>', 'Churn']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le = </a:t>
            </a:r>
            <a:r>
              <a:rPr lang="en-IN" dirty="0" err="1">
                <a:solidFill>
                  <a:srgbClr val="0070C0"/>
                </a:solidFill>
              </a:rPr>
              <a:t>LabelEncoder</a:t>
            </a:r>
            <a:r>
              <a:rPr lang="en-IN" dirty="0">
                <a:solidFill>
                  <a:srgbClr val="0070C0"/>
                </a:solidFill>
              </a:rPr>
              <a:t>()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for col in </a:t>
            </a:r>
            <a:r>
              <a:rPr lang="en-IN" dirty="0" err="1">
                <a:solidFill>
                  <a:srgbClr val="0070C0"/>
                </a:solidFill>
              </a:rPr>
              <a:t>binary_cols</a:t>
            </a:r>
            <a:r>
              <a:rPr lang="en-IN" dirty="0">
                <a:solidFill>
                  <a:srgbClr val="0070C0"/>
                </a:solidFill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    </a:t>
            </a:r>
            <a:r>
              <a:rPr lang="en-IN" dirty="0" err="1">
                <a:solidFill>
                  <a:srgbClr val="0070C0"/>
                </a:solidFill>
              </a:rPr>
              <a:t>df_processed</a:t>
            </a:r>
            <a:r>
              <a:rPr lang="en-IN" dirty="0">
                <a:solidFill>
                  <a:srgbClr val="0070C0"/>
                </a:solidFill>
              </a:rPr>
              <a:t>[col] = </a:t>
            </a:r>
            <a:r>
              <a:rPr lang="en-IN" dirty="0" err="1">
                <a:solidFill>
                  <a:srgbClr val="0070C0"/>
                </a:solidFill>
              </a:rPr>
              <a:t>le.fit_transform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 err="1">
                <a:solidFill>
                  <a:srgbClr val="0070C0"/>
                </a:solidFill>
              </a:rPr>
              <a:t>df_processed</a:t>
            </a:r>
            <a:r>
              <a:rPr lang="en-IN" dirty="0">
                <a:solidFill>
                  <a:srgbClr val="0070C0"/>
                </a:solidFill>
              </a:rPr>
              <a:t>[col])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# One-hot encode multi-category columns</a:t>
            </a: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multi_cat_cols</a:t>
            </a:r>
            <a:r>
              <a:rPr lang="en-IN" dirty="0">
                <a:solidFill>
                  <a:srgbClr val="0070C0"/>
                </a:solidFill>
              </a:rPr>
              <a:t> = ['</a:t>
            </a:r>
            <a:r>
              <a:rPr lang="en-IN" dirty="0" err="1">
                <a:solidFill>
                  <a:srgbClr val="0070C0"/>
                </a:solidFill>
              </a:rPr>
              <a:t>InternetService</a:t>
            </a:r>
            <a:r>
              <a:rPr lang="en-IN" dirty="0">
                <a:solidFill>
                  <a:srgbClr val="0070C0"/>
                </a:solidFill>
              </a:rPr>
              <a:t>', 'Contract', '</a:t>
            </a:r>
            <a:r>
              <a:rPr lang="en-IN" dirty="0" err="1">
                <a:solidFill>
                  <a:srgbClr val="0070C0"/>
                </a:solidFill>
              </a:rPr>
              <a:t>PaymentMethod</a:t>
            </a:r>
            <a:r>
              <a:rPr lang="en-IN" dirty="0">
                <a:solidFill>
                  <a:srgbClr val="0070C0"/>
                </a:solidFill>
              </a:rPr>
              <a:t>']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70C0"/>
                </a:solidFill>
              </a:rPr>
              <a:t>df_processed</a:t>
            </a:r>
            <a:r>
              <a:rPr lang="en-IN" dirty="0">
                <a:solidFill>
                  <a:srgbClr val="0070C0"/>
                </a:solidFill>
              </a:rPr>
              <a:t> = </a:t>
            </a:r>
            <a:r>
              <a:rPr lang="en-IN" dirty="0" err="1">
                <a:solidFill>
                  <a:srgbClr val="0070C0"/>
                </a:solidFill>
              </a:rPr>
              <a:t>pd.get_dummies</a:t>
            </a:r>
            <a:r>
              <a:rPr lang="en-IN" dirty="0">
                <a:solidFill>
                  <a:srgbClr val="0070C0"/>
                </a:solidFill>
              </a:rPr>
              <a:t>(</a:t>
            </a:r>
            <a:r>
              <a:rPr lang="en-IN" dirty="0" err="1">
                <a:solidFill>
                  <a:srgbClr val="0070C0"/>
                </a:solidFill>
              </a:rPr>
              <a:t>df_processed</a:t>
            </a:r>
            <a:r>
              <a:rPr lang="en-IN" dirty="0">
                <a:solidFill>
                  <a:srgbClr val="0070C0"/>
                </a:solidFill>
              </a:rPr>
              <a:t>, columns=</a:t>
            </a:r>
            <a:r>
              <a:rPr lang="en-IN" dirty="0" err="1">
                <a:solidFill>
                  <a:srgbClr val="0070C0"/>
                </a:solidFill>
              </a:rPr>
              <a:t>multi_cat_cols</a:t>
            </a:r>
            <a:r>
              <a:rPr lang="en-IN" dirty="0">
                <a:solidFill>
                  <a:srgbClr val="0070C0"/>
                </a:solidFill>
              </a:rPr>
              <a:t>)</a:t>
            </a:r>
          </a:p>
          <a:p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EFE17E-B5DA-47FC-A72C-F0C7C8649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28265" y="723900"/>
            <a:ext cx="0" cy="5410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0786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356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Calisto MT</vt:lpstr>
      <vt:lpstr>Neue Haas Grotesk Text Pro</vt:lpstr>
      <vt:lpstr>Univers Condensed</vt:lpstr>
      <vt:lpstr>Wingdings</vt:lpstr>
      <vt:lpstr>ChronicleVTI</vt:lpstr>
      <vt:lpstr>Changing categorical variable to numeric form</vt:lpstr>
      <vt:lpstr>What are Categorical Variables? </vt:lpstr>
      <vt:lpstr>Why Encode? </vt:lpstr>
      <vt:lpstr>Label Encoding </vt:lpstr>
      <vt:lpstr>One-Hot Encoding </vt:lpstr>
      <vt:lpstr>When to use: </vt:lpstr>
      <vt:lpstr>Summary</vt:lpstr>
      <vt:lpstr>Best Practice (Combine Both) </vt:lpstr>
      <vt:lpstr>Code snippet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3</cp:revision>
  <dcterms:created xsi:type="dcterms:W3CDTF">2025-06-20T12:09:49Z</dcterms:created>
  <dcterms:modified xsi:type="dcterms:W3CDTF">2025-06-23T13:28:27Z</dcterms:modified>
</cp:coreProperties>
</file>