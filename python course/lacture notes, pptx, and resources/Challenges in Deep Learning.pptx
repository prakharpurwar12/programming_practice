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1" r:id="rId7"/>
    <p:sldId id="260"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A0971-86F5-9560-1E1E-AB2AA5D113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C3A204-F48C-6C3B-975E-BC90BF7827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B9083A-A485-F4B0-6886-7F092192ED2E}"/>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5" name="Footer Placeholder 4">
            <a:extLst>
              <a:ext uri="{FF2B5EF4-FFF2-40B4-BE49-F238E27FC236}">
                <a16:creationId xmlns:a16="http://schemas.microsoft.com/office/drawing/2014/main" id="{6A5E4E13-49E2-6267-BC59-499A18665C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0AF22-A7D6-0BD8-4AEA-9EF082446825}"/>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2561114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821A-C82C-6B82-488E-A38F066D43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4BAC23-E279-C885-57C8-0E24F2A559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E93F0F-35A5-41CF-A3E2-7DC266D443A9}"/>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5" name="Footer Placeholder 4">
            <a:extLst>
              <a:ext uri="{FF2B5EF4-FFF2-40B4-BE49-F238E27FC236}">
                <a16:creationId xmlns:a16="http://schemas.microsoft.com/office/drawing/2014/main" id="{26BBB2DE-88F3-65A6-755C-BB1E14246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044A4F-D60E-FECB-63CF-6B409B212E16}"/>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352645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CF2C8-CC16-26BD-1B52-FF0D613FEF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CC327C-9B36-2786-633B-8A9A9EFEBE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5355B9-93E0-EB74-4BD2-F9CC8D2CCEB6}"/>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5" name="Footer Placeholder 4">
            <a:extLst>
              <a:ext uri="{FF2B5EF4-FFF2-40B4-BE49-F238E27FC236}">
                <a16:creationId xmlns:a16="http://schemas.microsoft.com/office/drawing/2014/main" id="{A05C804A-7CBF-D2A3-88EA-9461CF765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6016A4-65A1-E29C-E902-B886843663FC}"/>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4123348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9AF1-C358-16E6-B1A4-9FE9B7220E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0B5BB5-D5C0-4251-CEA4-73EC33D193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04B8AB-A5C8-D091-9EB8-4E38DA0B4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179674-B8DB-D8B5-9C7C-2F675DCEDF64}"/>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6" name="Footer Placeholder 5">
            <a:extLst>
              <a:ext uri="{FF2B5EF4-FFF2-40B4-BE49-F238E27FC236}">
                <a16:creationId xmlns:a16="http://schemas.microsoft.com/office/drawing/2014/main" id="{0FBF79B1-0C65-443A-913B-8094764FC9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CD3508-DCF2-A441-8936-F3270E7F71EE}"/>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111837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E9B7-8D7C-1358-1565-C0CD828C4A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0512B9-6E52-4FB3-600E-182E84AFE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F2F1AC-09E4-6B30-A5D0-C5E517E430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FDE631-267F-CE77-1A46-EE4ED16D1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1EB7F-3D06-CD31-643B-B576377171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C0F647-4697-05B0-C4DB-F2C3C1B9D1C8}"/>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8" name="Footer Placeholder 7">
            <a:extLst>
              <a:ext uri="{FF2B5EF4-FFF2-40B4-BE49-F238E27FC236}">
                <a16:creationId xmlns:a16="http://schemas.microsoft.com/office/drawing/2014/main" id="{C49A84C6-8290-0ADC-A1EE-2ED9450C5D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33BC5A-428E-6D3F-05BD-82DB2AC6DC22}"/>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4101447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59F-CA3C-2423-9A4A-4526178F04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582907-9109-D5A7-BC92-A33AC95BE60E}"/>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4" name="Footer Placeholder 3">
            <a:extLst>
              <a:ext uri="{FF2B5EF4-FFF2-40B4-BE49-F238E27FC236}">
                <a16:creationId xmlns:a16="http://schemas.microsoft.com/office/drawing/2014/main" id="{C52639A0-1C80-6022-4A1E-8F4050A670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70AA97-AD30-DD72-8C5C-AC1220207628}"/>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1604928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C22A64-529C-AD50-90E2-F4EA144337E6}"/>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3" name="Footer Placeholder 2">
            <a:extLst>
              <a:ext uri="{FF2B5EF4-FFF2-40B4-BE49-F238E27FC236}">
                <a16:creationId xmlns:a16="http://schemas.microsoft.com/office/drawing/2014/main" id="{1AE11FAF-0723-8C6A-5F0A-45DF5F2AB9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A4D56D-AD02-42D8-6030-6D446A75827A}"/>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3160132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2824-B7FF-4004-6460-5EFCA0A9D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BD523D-4F15-BD55-AFA6-8024F9B67A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5B4AEA-457E-FE99-91E6-FD43C2779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32147-F2A8-E85F-016B-065BAF4F9F12}"/>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6" name="Footer Placeholder 5">
            <a:extLst>
              <a:ext uri="{FF2B5EF4-FFF2-40B4-BE49-F238E27FC236}">
                <a16:creationId xmlns:a16="http://schemas.microsoft.com/office/drawing/2014/main" id="{C2251895-9755-63C5-B630-6C9BFA2317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25D3E2-8E6E-9F03-7C97-3210E17A80A8}"/>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36849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FC96-207E-C840-7548-103BC9EB6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AC000F-DEBC-9ACD-12BA-58C1E89720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3F76A-ECC6-BF1C-B7BB-9F6599F673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B04497-B929-D354-E1C5-5112B092C563}"/>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6" name="Footer Placeholder 5">
            <a:extLst>
              <a:ext uri="{FF2B5EF4-FFF2-40B4-BE49-F238E27FC236}">
                <a16:creationId xmlns:a16="http://schemas.microsoft.com/office/drawing/2014/main" id="{A5A0BDAC-6216-3337-B320-FC7207446C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4EAA66-0D6E-C1D8-A114-74B716C51427}"/>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241376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360E-9BF8-BE50-904C-95ECA645EF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89FA61-EC2A-73B0-99A1-C7BC41E4F8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E383A7-B801-6E9E-C1BB-2853F683A439}"/>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5" name="Footer Placeholder 4">
            <a:extLst>
              <a:ext uri="{FF2B5EF4-FFF2-40B4-BE49-F238E27FC236}">
                <a16:creationId xmlns:a16="http://schemas.microsoft.com/office/drawing/2014/main" id="{4D830787-5CDF-8967-9626-3E840FF120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BC7904-A3BE-4882-6E29-1A64ECA73593}"/>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1319866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6DFB73-734A-D963-1E4C-7A95194D19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C6A472-CBE4-52DE-3F42-3EBA9D9B0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B07D88-689D-19C2-9A71-09CF4CDFA9B9}"/>
              </a:ext>
            </a:extLst>
          </p:cNvPr>
          <p:cNvSpPr>
            <a:spLocks noGrp="1"/>
          </p:cNvSpPr>
          <p:nvPr>
            <p:ph type="dt" sz="half" idx="10"/>
          </p:nvPr>
        </p:nvSpPr>
        <p:spPr/>
        <p:txBody>
          <a:bodyPr/>
          <a:lstStyle/>
          <a:p>
            <a:fld id="{5F209456-B3DE-4C28-82F7-E46C2668CC6B}" type="datetimeFigureOut">
              <a:rPr lang="en-IN" smtClean="0"/>
              <a:t>04-07-2025</a:t>
            </a:fld>
            <a:endParaRPr lang="en-IN"/>
          </a:p>
        </p:txBody>
      </p:sp>
      <p:sp>
        <p:nvSpPr>
          <p:cNvPr id="5" name="Footer Placeholder 4">
            <a:extLst>
              <a:ext uri="{FF2B5EF4-FFF2-40B4-BE49-F238E27FC236}">
                <a16:creationId xmlns:a16="http://schemas.microsoft.com/office/drawing/2014/main" id="{9DA01EA6-8BAE-1FB1-C592-D1EF884B83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480AD-1704-D108-F8FE-A1B627F785DA}"/>
              </a:ext>
            </a:extLst>
          </p:cNvPr>
          <p:cNvSpPr>
            <a:spLocks noGrp="1"/>
          </p:cNvSpPr>
          <p:nvPr>
            <p:ph type="sldNum" sz="quarter" idx="12"/>
          </p:nvPr>
        </p:nvSpPr>
        <p:spPr/>
        <p:txBody>
          <a:bodyPr/>
          <a:lstStyle/>
          <a:p>
            <a:fld id="{DF0ED031-3599-4D70-8D4C-FF7AE83A1412}" type="slidenum">
              <a:rPr lang="en-IN" smtClean="0"/>
              <a:t>‹#›</a:t>
            </a:fld>
            <a:endParaRPr lang="en-IN"/>
          </a:p>
        </p:txBody>
      </p:sp>
    </p:spTree>
    <p:extLst>
      <p:ext uri="{BB962C8B-B14F-4D97-AF65-F5344CB8AC3E}">
        <p14:creationId xmlns:p14="http://schemas.microsoft.com/office/powerpoint/2010/main" val="1960879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2FC5B-AF37-6538-6440-71F4D7383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9AA956-5F0D-C832-8974-D218CDF7C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683510-BAFC-41E0-6EF9-E74325BDEF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209456-B3DE-4C28-82F7-E46C2668CC6B}" type="datetimeFigureOut">
              <a:rPr lang="en-IN" smtClean="0"/>
              <a:t>04-07-2025</a:t>
            </a:fld>
            <a:endParaRPr lang="en-IN"/>
          </a:p>
        </p:txBody>
      </p:sp>
      <p:sp>
        <p:nvSpPr>
          <p:cNvPr id="5" name="Footer Placeholder 4">
            <a:extLst>
              <a:ext uri="{FF2B5EF4-FFF2-40B4-BE49-F238E27FC236}">
                <a16:creationId xmlns:a16="http://schemas.microsoft.com/office/drawing/2014/main" id="{9F5D4E62-F6CD-DACD-5090-777D959C73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B1B999D-35FA-47B3-D55E-6E10294EC6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ED031-3599-4D70-8D4C-FF7AE83A1412}" type="slidenum">
              <a:rPr lang="en-IN" smtClean="0"/>
              <a:t>‹#›</a:t>
            </a:fld>
            <a:endParaRPr lang="en-IN"/>
          </a:p>
        </p:txBody>
      </p:sp>
    </p:spTree>
    <p:extLst>
      <p:ext uri="{BB962C8B-B14F-4D97-AF65-F5344CB8AC3E}">
        <p14:creationId xmlns:p14="http://schemas.microsoft.com/office/powerpoint/2010/main" val="3706924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C62EDB7-C875-EF4E-F339-9BB42AD39C34}"/>
              </a:ext>
            </a:extLst>
          </p:cNvPr>
          <p:cNvSpPr>
            <a:spLocks noGrp="1"/>
          </p:cNvSpPr>
          <p:nvPr>
            <p:ph type="ctrTitle"/>
          </p:nvPr>
        </p:nvSpPr>
        <p:spPr>
          <a:xfrm>
            <a:off x="5093520" y="2744662"/>
            <a:ext cx="6589707" cy="2387600"/>
          </a:xfrm>
        </p:spPr>
        <p:txBody>
          <a:bodyPr>
            <a:normAutofit/>
          </a:bodyPr>
          <a:lstStyle/>
          <a:p>
            <a:pPr algn="r"/>
            <a:r>
              <a:rPr lang="en-IN">
                <a:solidFill>
                  <a:srgbClr val="FFFFFF"/>
                </a:solidFill>
              </a:rPr>
              <a:t>Challenges in Deep Learning</a:t>
            </a:r>
          </a:p>
        </p:txBody>
      </p:sp>
      <p:sp>
        <p:nvSpPr>
          <p:cNvPr id="3" name="Subtitle 2">
            <a:extLst>
              <a:ext uri="{FF2B5EF4-FFF2-40B4-BE49-F238E27FC236}">
                <a16:creationId xmlns:a16="http://schemas.microsoft.com/office/drawing/2014/main" id="{27B17E28-163E-57F2-9438-61587C6516B6}"/>
              </a:ext>
            </a:extLst>
          </p:cNvPr>
          <p:cNvSpPr>
            <a:spLocks noGrp="1"/>
          </p:cNvSpPr>
          <p:nvPr>
            <p:ph type="subTitle" idx="1"/>
          </p:nvPr>
        </p:nvSpPr>
        <p:spPr>
          <a:xfrm>
            <a:off x="5093520" y="5224337"/>
            <a:ext cx="6589707" cy="1329443"/>
          </a:xfrm>
        </p:spPr>
        <p:txBody>
          <a:bodyPr>
            <a:normAutofit/>
          </a:bodyPr>
          <a:lstStyle/>
          <a:p>
            <a:pPr algn="r"/>
            <a:r>
              <a:rPr lang="en-IN">
                <a:solidFill>
                  <a:srgbClr val="FFFFFF"/>
                </a:solidFill>
              </a:rPr>
              <a:t>Mahipal Singh</a:t>
            </a:r>
          </a:p>
        </p:txBody>
      </p:sp>
      <p:cxnSp>
        <p:nvCxnSpPr>
          <p:cNvPr id="12" name="Straight Connector 11">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360859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93C97-710E-7993-43B9-85B536690A0D}"/>
              </a:ext>
            </a:extLst>
          </p:cNvPr>
          <p:cNvSpPr>
            <a:spLocks noGrp="1"/>
          </p:cNvSpPr>
          <p:nvPr>
            <p:ph type="title"/>
          </p:nvPr>
        </p:nvSpPr>
        <p:spPr>
          <a:xfrm>
            <a:off x="686834" y="1153572"/>
            <a:ext cx="3200400" cy="4461163"/>
          </a:xfrm>
        </p:spPr>
        <p:txBody>
          <a:bodyPr>
            <a:normAutofit/>
          </a:bodyPr>
          <a:lstStyle/>
          <a:p>
            <a:r>
              <a:rPr lang="en-IN">
                <a:solidFill>
                  <a:srgbClr val="FFFFFF"/>
                </a:solidFill>
              </a:rPr>
              <a:t>Challenge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62B95A5-141D-4C2D-3C6F-EA060C94AE21}"/>
              </a:ext>
            </a:extLst>
          </p:cNvPr>
          <p:cNvSpPr>
            <a:spLocks noGrp="1"/>
          </p:cNvSpPr>
          <p:nvPr>
            <p:ph idx="1"/>
          </p:nvPr>
        </p:nvSpPr>
        <p:spPr>
          <a:xfrm>
            <a:off x="4447308" y="591344"/>
            <a:ext cx="6906491" cy="5585619"/>
          </a:xfrm>
        </p:spPr>
        <p:txBody>
          <a:bodyPr anchor="ctr">
            <a:normAutofit/>
          </a:bodyPr>
          <a:lstStyle/>
          <a:p>
            <a:r>
              <a:rPr lang="en-IN" dirty="0"/>
              <a:t>Training large language models (LLMs) like GPT, PaLM, or LLaMA from scratch requires massive computing power, memory, and data, which are out of reach for individual students or small institutions. However, as a student, </a:t>
            </a:r>
            <a:r>
              <a:rPr lang="en-IN" b="1" dirty="0"/>
              <a:t>you can still make powerful and meaningful use of these models</a:t>
            </a:r>
            <a:r>
              <a:rPr lang="en-IN" dirty="0"/>
              <a:t> through several accessible and cost-effective methods. Here’s how:</a:t>
            </a:r>
          </a:p>
          <a:p>
            <a:endParaRPr lang="en-IN" dirty="0"/>
          </a:p>
        </p:txBody>
      </p:sp>
    </p:spTree>
    <p:extLst>
      <p:ext uri="{BB962C8B-B14F-4D97-AF65-F5344CB8AC3E}">
        <p14:creationId xmlns:p14="http://schemas.microsoft.com/office/powerpoint/2010/main" val="2664022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8C6520-9B24-5169-AE68-849A5056D872}"/>
              </a:ext>
            </a:extLst>
          </p:cNvPr>
          <p:cNvSpPr>
            <a:spLocks noGrp="1"/>
          </p:cNvSpPr>
          <p:nvPr>
            <p:ph type="title"/>
          </p:nvPr>
        </p:nvSpPr>
        <p:spPr>
          <a:xfrm>
            <a:off x="686834" y="1153572"/>
            <a:ext cx="3200400" cy="4461163"/>
          </a:xfrm>
        </p:spPr>
        <p:txBody>
          <a:bodyPr>
            <a:normAutofit/>
          </a:bodyPr>
          <a:lstStyle/>
          <a:p>
            <a:r>
              <a:rPr lang="en-IN" b="1">
                <a:solidFill>
                  <a:srgbClr val="FFFFFF"/>
                </a:solidFill>
              </a:rPr>
              <a:t>1. Use Pretrained Models via APIs (No Training Required)</a:t>
            </a: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DB4B3B6-6FC3-8D39-B761-3541F8A7BBBD}"/>
              </a:ext>
            </a:extLst>
          </p:cNvPr>
          <p:cNvSpPr>
            <a:spLocks noGrp="1"/>
          </p:cNvSpPr>
          <p:nvPr>
            <p:ph idx="1"/>
          </p:nvPr>
        </p:nvSpPr>
        <p:spPr>
          <a:xfrm>
            <a:off x="4447308" y="591344"/>
            <a:ext cx="6906491" cy="5585619"/>
          </a:xfrm>
        </p:spPr>
        <p:txBody>
          <a:bodyPr anchor="ctr">
            <a:normAutofit/>
          </a:bodyPr>
          <a:lstStyle/>
          <a:p>
            <a:r>
              <a:rPr lang="en-IN" dirty="0"/>
              <a:t>Many tech companies provide </a:t>
            </a:r>
            <a:r>
              <a:rPr lang="en-IN" b="1" dirty="0"/>
              <a:t>APIs</a:t>
            </a:r>
            <a:r>
              <a:rPr lang="en-IN" dirty="0"/>
              <a:t> to interact with state-of-the-art LLMs:</a:t>
            </a:r>
          </a:p>
          <a:p>
            <a:pPr lvl="0"/>
            <a:r>
              <a:rPr lang="en-IN" b="1" dirty="0"/>
              <a:t>OpenAI (ChatGPT, GPT-4, etc.)</a:t>
            </a:r>
            <a:endParaRPr lang="en-IN" dirty="0"/>
          </a:p>
          <a:p>
            <a:pPr lvl="0"/>
            <a:r>
              <a:rPr lang="en-IN" b="1" dirty="0"/>
              <a:t>Google (Gemini)</a:t>
            </a:r>
            <a:endParaRPr lang="en-IN" dirty="0"/>
          </a:p>
          <a:p>
            <a:pPr lvl="0"/>
            <a:r>
              <a:rPr lang="en-IN" b="1" dirty="0"/>
              <a:t>Anthropic (Claude)</a:t>
            </a:r>
            <a:endParaRPr lang="en-IN" dirty="0"/>
          </a:p>
          <a:p>
            <a:pPr lvl="0"/>
            <a:r>
              <a:rPr lang="pt-PT" b="1" dirty="0"/>
              <a:t>Meta (LLaMA via Hugging Face)</a:t>
            </a:r>
            <a:endParaRPr lang="en-IN" dirty="0"/>
          </a:p>
          <a:p>
            <a:r>
              <a:rPr lang="en-IN" dirty="0"/>
              <a:t>📌 </a:t>
            </a:r>
            <a:r>
              <a:rPr lang="en-IN" b="1" dirty="0"/>
              <a:t>Benefit</a:t>
            </a:r>
            <a:r>
              <a:rPr lang="en-IN" dirty="0"/>
              <a:t>: You don’t need GPUs, just internet access.</a:t>
            </a:r>
            <a:br>
              <a:rPr lang="en-IN" dirty="0"/>
            </a:br>
            <a:r>
              <a:rPr lang="en-IN" dirty="0"/>
              <a:t>📌 </a:t>
            </a:r>
            <a:r>
              <a:rPr lang="en-IN" b="1" dirty="0"/>
              <a:t>Use case</a:t>
            </a:r>
            <a:r>
              <a:rPr lang="en-IN" dirty="0"/>
              <a:t>: Text summarization, Q&amp;A bots, translation, code generation, etc.</a:t>
            </a:r>
          </a:p>
          <a:p>
            <a:endParaRPr lang="en-IN" dirty="0"/>
          </a:p>
        </p:txBody>
      </p:sp>
    </p:spTree>
    <p:extLst>
      <p:ext uri="{BB962C8B-B14F-4D97-AF65-F5344CB8AC3E}">
        <p14:creationId xmlns:p14="http://schemas.microsoft.com/office/powerpoint/2010/main" val="3764208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515A9D-F6D8-CF11-C546-8C474DB661CA}"/>
              </a:ext>
            </a:extLst>
          </p:cNvPr>
          <p:cNvSpPr>
            <a:spLocks noGrp="1"/>
          </p:cNvSpPr>
          <p:nvPr>
            <p:ph type="title"/>
          </p:nvPr>
        </p:nvSpPr>
        <p:spPr>
          <a:xfrm>
            <a:off x="686834" y="1153572"/>
            <a:ext cx="3200400" cy="4461163"/>
          </a:xfrm>
        </p:spPr>
        <p:txBody>
          <a:bodyPr>
            <a:normAutofit/>
          </a:bodyPr>
          <a:lstStyle/>
          <a:p>
            <a:r>
              <a:rPr lang="en-IN" b="1">
                <a:solidFill>
                  <a:srgbClr val="FFFFFF"/>
                </a:solidFill>
              </a:rPr>
              <a:t>2. RAG (Retrieval-Augmented Generation) – Use LLMs with Your Own Data</a:t>
            </a: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A8C71AA-5AD0-81BC-BDBC-80D4873E6EBA}"/>
              </a:ext>
            </a:extLst>
          </p:cNvPr>
          <p:cNvSpPr>
            <a:spLocks noGrp="1"/>
          </p:cNvSpPr>
          <p:nvPr>
            <p:ph idx="1"/>
          </p:nvPr>
        </p:nvSpPr>
        <p:spPr>
          <a:xfrm>
            <a:off x="4447308" y="591344"/>
            <a:ext cx="6906491" cy="5585619"/>
          </a:xfrm>
        </p:spPr>
        <p:txBody>
          <a:bodyPr anchor="ctr">
            <a:normAutofit/>
          </a:bodyPr>
          <a:lstStyle/>
          <a:p>
            <a:r>
              <a:rPr lang="en-IN" sz="3200" b="1" dirty="0"/>
              <a:t>RAG</a:t>
            </a:r>
            <a:r>
              <a:rPr lang="en-IN" sz="3200" dirty="0"/>
              <a:t> enhances LLMs by retrieving relevant documents from a </a:t>
            </a:r>
            <a:r>
              <a:rPr lang="en-IN" sz="3200" b="1" dirty="0"/>
              <a:t>local or cloud knowledge base</a:t>
            </a:r>
            <a:r>
              <a:rPr lang="en-IN" sz="3200" dirty="0"/>
              <a:t> before generating answers.</a:t>
            </a:r>
          </a:p>
          <a:p>
            <a:r>
              <a:rPr lang="en-IN" sz="3200" dirty="0"/>
              <a:t>🛠️ </a:t>
            </a:r>
            <a:r>
              <a:rPr lang="en-IN" sz="3200" b="1" dirty="0"/>
              <a:t>Tools</a:t>
            </a:r>
            <a:r>
              <a:rPr lang="en-IN" sz="3200" dirty="0"/>
              <a:t>:</a:t>
            </a:r>
          </a:p>
          <a:p>
            <a:pPr lvl="0"/>
            <a:r>
              <a:rPr lang="en-IN" sz="3200" b="1" dirty="0"/>
              <a:t>LangChain</a:t>
            </a:r>
            <a:endParaRPr lang="en-IN" sz="3200" dirty="0"/>
          </a:p>
          <a:p>
            <a:pPr lvl="0"/>
            <a:r>
              <a:rPr lang="en-IN" sz="3200" b="1" dirty="0"/>
              <a:t>LlamaIndex</a:t>
            </a:r>
            <a:endParaRPr lang="en-IN" sz="3200" dirty="0"/>
          </a:p>
          <a:p>
            <a:pPr lvl="0"/>
            <a:r>
              <a:rPr lang="en-IN" sz="3200" b="1" dirty="0"/>
              <a:t>Haystack</a:t>
            </a:r>
            <a:endParaRPr lang="en-IN" sz="3200" dirty="0"/>
          </a:p>
          <a:p>
            <a:endParaRPr lang="en-IN" dirty="0"/>
          </a:p>
          <a:p>
            <a:endParaRPr lang="en-IN" dirty="0"/>
          </a:p>
        </p:txBody>
      </p:sp>
    </p:spTree>
    <p:extLst>
      <p:ext uri="{BB962C8B-B14F-4D97-AF65-F5344CB8AC3E}">
        <p14:creationId xmlns:p14="http://schemas.microsoft.com/office/powerpoint/2010/main" val="199248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7E314-532C-3EBE-DE85-8DF6F6B9C33A}"/>
              </a:ext>
            </a:extLst>
          </p:cNvPr>
          <p:cNvSpPr>
            <a:spLocks noGrp="1"/>
          </p:cNvSpPr>
          <p:nvPr>
            <p:ph type="title"/>
          </p:nvPr>
        </p:nvSpPr>
        <p:spPr>
          <a:xfrm>
            <a:off x="686834" y="1153572"/>
            <a:ext cx="3200400" cy="4461163"/>
          </a:xfrm>
        </p:spPr>
        <p:txBody>
          <a:bodyPr>
            <a:normAutofit/>
          </a:bodyPr>
          <a:lstStyle/>
          <a:p>
            <a:r>
              <a:rPr lang="en-IN">
                <a:solidFill>
                  <a:srgbClr val="FFFFFF"/>
                </a:solidFill>
              </a:rPr>
              <a:t>Continue..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97E1522-9ECF-A807-DE9E-6695943085F7}"/>
              </a:ext>
            </a:extLst>
          </p:cNvPr>
          <p:cNvSpPr>
            <a:spLocks noGrp="1"/>
          </p:cNvSpPr>
          <p:nvPr>
            <p:ph idx="1"/>
          </p:nvPr>
        </p:nvSpPr>
        <p:spPr>
          <a:xfrm>
            <a:off x="4447308" y="591344"/>
            <a:ext cx="6906491" cy="5585619"/>
          </a:xfrm>
        </p:spPr>
        <p:txBody>
          <a:bodyPr anchor="ctr">
            <a:normAutofit/>
          </a:bodyPr>
          <a:lstStyle/>
          <a:p>
            <a:r>
              <a:rPr lang="en-IN" dirty="0"/>
              <a:t>📚 </a:t>
            </a:r>
            <a:r>
              <a:rPr lang="en-IN" b="1" dirty="0"/>
              <a:t>Example Use Cases</a:t>
            </a:r>
            <a:r>
              <a:rPr lang="en-IN" dirty="0"/>
              <a:t>:</a:t>
            </a:r>
          </a:p>
          <a:p>
            <a:pPr lvl="0"/>
            <a:r>
              <a:rPr lang="en-IN" dirty="0"/>
              <a:t>Build a Q&amp;A bot that answers from your college's PDFs.</a:t>
            </a:r>
          </a:p>
          <a:p>
            <a:pPr lvl="0"/>
            <a:r>
              <a:rPr lang="en-IN" dirty="0"/>
              <a:t>Personal academic assistant that pulls answers from lecture notes.</a:t>
            </a:r>
          </a:p>
          <a:p>
            <a:r>
              <a:rPr lang="en-IN" dirty="0"/>
              <a:t>💻 </a:t>
            </a:r>
            <a:r>
              <a:rPr lang="en-IN" b="1" dirty="0"/>
              <a:t>Requirements</a:t>
            </a:r>
            <a:r>
              <a:rPr lang="en-IN" dirty="0"/>
              <a:t>:</a:t>
            </a:r>
          </a:p>
          <a:p>
            <a:pPr lvl="0"/>
            <a:r>
              <a:rPr lang="en-IN" dirty="0"/>
              <a:t>Light compute (your laptop is fine).</a:t>
            </a:r>
          </a:p>
          <a:p>
            <a:pPr lvl="0"/>
            <a:r>
              <a:rPr lang="en-IN" dirty="0"/>
              <a:t>Can run with small models (e.g., </a:t>
            </a:r>
            <a:r>
              <a:rPr lang="en-IN" dirty="0" err="1"/>
              <a:t>MiniLM</a:t>
            </a:r>
            <a:r>
              <a:rPr lang="en-IN" dirty="0"/>
              <a:t>, BGE) and combine with GPT via API</a:t>
            </a:r>
          </a:p>
        </p:txBody>
      </p:sp>
    </p:spTree>
    <p:extLst>
      <p:ext uri="{BB962C8B-B14F-4D97-AF65-F5344CB8AC3E}">
        <p14:creationId xmlns:p14="http://schemas.microsoft.com/office/powerpoint/2010/main" val="612628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EECB88-4E6E-9B48-A820-6331BC6D9BE0}"/>
              </a:ext>
            </a:extLst>
          </p:cNvPr>
          <p:cNvSpPr>
            <a:spLocks noGrp="1"/>
          </p:cNvSpPr>
          <p:nvPr>
            <p:ph type="title"/>
          </p:nvPr>
        </p:nvSpPr>
        <p:spPr>
          <a:xfrm>
            <a:off x="686834" y="1153572"/>
            <a:ext cx="3200400" cy="4461163"/>
          </a:xfrm>
        </p:spPr>
        <p:txBody>
          <a:bodyPr>
            <a:normAutofit/>
          </a:bodyPr>
          <a:lstStyle/>
          <a:p>
            <a:r>
              <a:rPr lang="en-IN" b="1">
                <a:solidFill>
                  <a:srgbClr val="FFFFFF"/>
                </a:solidFill>
              </a:rPr>
              <a:t>3. Fine-Tuning (on a Budget)</a:t>
            </a:r>
            <a:br>
              <a:rPr lang="en-IN">
                <a:solidFill>
                  <a:srgbClr val="FFFFFF"/>
                </a:solidFill>
              </a:rPr>
            </a:b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E7114DC-521E-AA88-3A5A-8772A311D9A5}"/>
              </a:ext>
            </a:extLst>
          </p:cNvPr>
          <p:cNvSpPr>
            <a:spLocks noGrp="1"/>
          </p:cNvSpPr>
          <p:nvPr>
            <p:ph idx="1"/>
          </p:nvPr>
        </p:nvSpPr>
        <p:spPr>
          <a:xfrm>
            <a:off x="4447308" y="591344"/>
            <a:ext cx="6906491" cy="5585619"/>
          </a:xfrm>
        </p:spPr>
        <p:txBody>
          <a:bodyPr anchor="ctr">
            <a:normAutofit/>
          </a:bodyPr>
          <a:lstStyle/>
          <a:p>
            <a:r>
              <a:rPr lang="en-IN" sz="2400" dirty="0"/>
              <a:t>You don’t need to fine-tune full models! Use </a:t>
            </a:r>
            <a:r>
              <a:rPr lang="en-IN" sz="2400" b="1" dirty="0"/>
              <a:t>parameter-efficient fine-tuning</a:t>
            </a:r>
            <a:r>
              <a:rPr lang="en-IN" sz="2400" dirty="0"/>
              <a:t>:</a:t>
            </a:r>
          </a:p>
          <a:p>
            <a:r>
              <a:rPr lang="en-IN" sz="2400" dirty="0"/>
              <a:t>🔧 </a:t>
            </a:r>
            <a:r>
              <a:rPr lang="en-IN" sz="2400" b="1" dirty="0"/>
              <a:t>Techniques</a:t>
            </a:r>
            <a:r>
              <a:rPr lang="en-IN" sz="2400" dirty="0"/>
              <a:t>:</a:t>
            </a:r>
          </a:p>
          <a:p>
            <a:pPr lvl="0"/>
            <a:r>
              <a:rPr lang="en-IN" sz="2400" b="1" dirty="0"/>
              <a:t>LoRA (Low-Rank Adaptation)</a:t>
            </a:r>
            <a:endParaRPr lang="en-IN" sz="2400" dirty="0"/>
          </a:p>
          <a:p>
            <a:pPr lvl="0"/>
            <a:r>
              <a:rPr lang="en-IN" sz="2400" b="1" dirty="0"/>
              <a:t>QLoRA (Quantized LoRA)</a:t>
            </a:r>
            <a:endParaRPr lang="en-IN" sz="2400" dirty="0"/>
          </a:p>
          <a:p>
            <a:pPr lvl="0"/>
            <a:r>
              <a:rPr lang="en-IN" sz="2400" b="1" dirty="0"/>
              <a:t>Adapters / PEFT (Parameter Efficient Fine-Tuning)</a:t>
            </a:r>
            <a:endParaRPr lang="en-IN" sz="2400" dirty="0"/>
          </a:p>
          <a:p>
            <a:r>
              <a:rPr lang="en-IN" sz="2400" dirty="0"/>
              <a:t>🧰 </a:t>
            </a:r>
            <a:r>
              <a:rPr lang="en-IN" sz="2400" b="1" dirty="0"/>
              <a:t>Tools</a:t>
            </a:r>
            <a:r>
              <a:rPr lang="en-IN" sz="2400" dirty="0"/>
              <a:t>:</a:t>
            </a:r>
          </a:p>
          <a:p>
            <a:pPr lvl="0"/>
            <a:r>
              <a:rPr lang="en-IN" sz="2400" dirty="0"/>
              <a:t>Hugging Face Transformers + PEFT library</a:t>
            </a:r>
          </a:p>
          <a:p>
            <a:pPr lvl="0"/>
            <a:r>
              <a:rPr lang="en-IN" sz="2400" dirty="0"/>
              <a:t>Google Colab or Kaggle (free GPU)</a:t>
            </a:r>
          </a:p>
          <a:p>
            <a:r>
              <a:rPr lang="en-IN" sz="2400" dirty="0"/>
              <a:t>🎓 </a:t>
            </a:r>
            <a:r>
              <a:rPr lang="en-IN" sz="2400" b="1" dirty="0"/>
              <a:t>Use case</a:t>
            </a:r>
            <a:r>
              <a:rPr lang="en-IN" sz="2400" dirty="0"/>
              <a:t>: Fine-tune a small open-source LLM on your own dataset like chat logs, support tickets, or student FAQs.</a:t>
            </a:r>
          </a:p>
          <a:p>
            <a:endParaRPr lang="en-IN" sz="2400" dirty="0"/>
          </a:p>
        </p:txBody>
      </p:sp>
    </p:spTree>
    <p:extLst>
      <p:ext uri="{BB962C8B-B14F-4D97-AF65-F5344CB8AC3E}">
        <p14:creationId xmlns:p14="http://schemas.microsoft.com/office/powerpoint/2010/main" val="2709573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4B4A4A-A79C-FFA1-DB5E-4C1F96B93CE6}"/>
              </a:ext>
            </a:extLst>
          </p:cNvPr>
          <p:cNvSpPr>
            <a:spLocks noGrp="1"/>
          </p:cNvSpPr>
          <p:nvPr>
            <p:ph type="title"/>
          </p:nvPr>
        </p:nvSpPr>
        <p:spPr>
          <a:xfrm>
            <a:off x="466722" y="586855"/>
            <a:ext cx="3201366" cy="3387497"/>
          </a:xfrm>
        </p:spPr>
        <p:txBody>
          <a:bodyPr anchor="b">
            <a:normAutofit/>
          </a:bodyPr>
          <a:lstStyle/>
          <a:p>
            <a:pPr algn="r"/>
            <a:r>
              <a:rPr lang="en-IN" sz="4000" b="1" dirty="0">
                <a:solidFill>
                  <a:srgbClr val="FFFFFF"/>
                </a:solidFill>
              </a:rPr>
              <a:t> 4. LangChain and Agentic AI</a:t>
            </a:r>
            <a:br>
              <a:rPr lang="en-IN" sz="4000" dirty="0">
                <a:solidFill>
                  <a:srgbClr val="FFFFFF"/>
                </a:solidFill>
              </a:rPr>
            </a:br>
            <a:endParaRPr lang="en-IN" sz="4000" dirty="0">
              <a:solidFill>
                <a:srgbClr val="FFFFFF"/>
              </a:solidFill>
            </a:endParaRPr>
          </a:p>
        </p:txBody>
      </p:sp>
      <p:sp>
        <p:nvSpPr>
          <p:cNvPr id="3" name="Content Placeholder 2">
            <a:extLst>
              <a:ext uri="{FF2B5EF4-FFF2-40B4-BE49-F238E27FC236}">
                <a16:creationId xmlns:a16="http://schemas.microsoft.com/office/drawing/2014/main" id="{57506F66-1B40-1CA7-79DA-282FAE2ECECB}"/>
              </a:ext>
            </a:extLst>
          </p:cNvPr>
          <p:cNvSpPr>
            <a:spLocks noGrp="1"/>
          </p:cNvSpPr>
          <p:nvPr>
            <p:ph idx="1"/>
          </p:nvPr>
        </p:nvSpPr>
        <p:spPr>
          <a:xfrm>
            <a:off x="4810259" y="649480"/>
            <a:ext cx="6915019" cy="5974840"/>
          </a:xfrm>
        </p:spPr>
        <p:txBody>
          <a:bodyPr anchor="ctr">
            <a:normAutofit/>
          </a:bodyPr>
          <a:lstStyle/>
          <a:p>
            <a:r>
              <a:rPr lang="en-IN" sz="2400" dirty="0"/>
              <a:t>LangChain helps you build </a:t>
            </a:r>
            <a:r>
              <a:rPr lang="en-IN" sz="2400" b="1" dirty="0"/>
              <a:t>LLM-powered apps</a:t>
            </a:r>
            <a:r>
              <a:rPr lang="en-IN" sz="2400" dirty="0"/>
              <a:t> by combining tools, memory, agents, and chains of prompts.</a:t>
            </a:r>
          </a:p>
          <a:p>
            <a:r>
              <a:rPr lang="en-IN" sz="2400" dirty="0"/>
              <a:t>🧠 </a:t>
            </a:r>
            <a:r>
              <a:rPr lang="en-IN" sz="2400" b="1" dirty="0"/>
              <a:t>Agentic AI</a:t>
            </a:r>
            <a:r>
              <a:rPr lang="en-IN" sz="2400" dirty="0"/>
              <a:t> = LLMs that </a:t>
            </a:r>
            <a:r>
              <a:rPr lang="en-IN" sz="2400" b="1" dirty="0"/>
              <a:t>decide what tools to use</a:t>
            </a:r>
            <a:r>
              <a:rPr lang="en-IN" sz="2400" dirty="0"/>
              <a:t> and </a:t>
            </a:r>
            <a:r>
              <a:rPr lang="en-IN" sz="2400" b="1" dirty="0"/>
              <a:t>how to respond</a:t>
            </a:r>
            <a:r>
              <a:rPr lang="en-IN" sz="2400" dirty="0"/>
              <a:t>.</a:t>
            </a:r>
          </a:p>
          <a:p>
            <a:r>
              <a:rPr lang="en-IN" sz="2400" dirty="0"/>
              <a:t>💡 </a:t>
            </a:r>
            <a:r>
              <a:rPr lang="en-IN" sz="2400" b="1" dirty="0"/>
              <a:t>Example Use Cases</a:t>
            </a:r>
            <a:r>
              <a:rPr lang="en-IN" sz="2400" dirty="0"/>
              <a:t>:</a:t>
            </a:r>
          </a:p>
          <a:p>
            <a:pPr lvl="0"/>
            <a:r>
              <a:rPr lang="en-IN" sz="2400" dirty="0"/>
              <a:t>A research assistant that searches academic papers + answers questions.</a:t>
            </a:r>
          </a:p>
          <a:p>
            <a:pPr lvl="0"/>
            <a:r>
              <a:rPr lang="en-IN" sz="2400" dirty="0"/>
              <a:t>A coding tutor that writes and debugs Python interactively.</a:t>
            </a:r>
          </a:p>
          <a:p>
            <a:r>
              <a:rPr lang="en-IN" sz="2400" dirty="0"/>
              <a:t>📦 </a:t>
            </a:r>
            <a:r>
              <a:rPr lang="en-IN" sz="2400" b="1" dirty="0"/>
              <a:t>What You Need</a:t>
            </a:r>
            <a:r>
              <a:rPr lang="en-IN" sz="2400" dirty="0"/>
              <a:t>:</a:t>
            </a:r>
          </a:p>
          <a:p>
            <a:pPr lvl="0"/>
            <a:r>
              <a:rPr lang="en-IN" sz="2400" dirty="0"/>
              <a:t>Python knowledge</a:t>
            </a:r>
          </a:p>
          <a:p>
            <a:pPr lvl="0"/>
            <a:r>
              <a:rPr lang="en-IN" sz="2400" dirty="0"/>
              <a:t>LangChain</a:t>
            </a:r>
          </a:p>
          <a:p>
            <a:pPr lvl="0"/>
            <a:r>
              <a:rPr lang="en-IN" sz="2400" dirty="0"/>
              <a:t>API access (e.g., OpenAI or </a:t>
            </a:r>
            <a:r>
              <a:rPr lang="en-IN" sz="2400" dirty="0" err="1"/>
              <a:t>HuggingFace</a:t>
            </a:r>
            <a:r>
              <a:rPr lang="en-IN" sz="2400" dirty="0"/>
              <a:t>)</a:t>
            </a:r>
          </a:p>
          <a:p>
            <a:endParaRPr lang="en-IN" sz="2000" dirty="0"/>
          </a:p>
        </p:txBody>
      </p:sp>
    </p:spTree>
    <p:extLst>
      <p:ext uri="{BB962C8B-B14F-4D97-AF65-F5344CB8AC3E}">
        <p14:creationId xmlns:p14="http://schemas.microsoft.com/office/powerpoint/2010/main" val="324505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8F1D96-B253-EAA5-D568-329D91A49644}"/>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5. Use Lightweight Local Models</a:t>
            </a:r>
            <a:br>
              <a:rPr lang="en-IN" sz="4000">
                <a:solidFill>
                  <a:srgbClr val="FFFFFF"/>
                </a:solidFill>
              </a:rPr>
            </a:br>
            <a:endParaRPr lang="en-IN" sz="4000">
              <a:solidFill>
                <a:srgbClr val="FFFFFF"/>
              </a:solidFill>
            </a:endParaRPr>
          </a:p>
        </p:txBody>
      </p:sp>
      <p:sp>
        <p:nvSpPr>
          <p:cNvPr id="3" name="Content Placeholder 2">
            <a:extLst>
              <a:ext uri="{FF2B5EF4-FFF2-40B4-BE49-F238E27FC236}">
                <a16:creationId xmlns:a16="http://schemas.microsoft.com/office/drawing/2014/main" id="{A13CB544-8C4C-8C8C-649E-3A521C4F86EC}"/>
              </a:ext>
            </a:extLst>
          </p:cNvPr>
          <p:cNvSpPr>
            <a:spLocks noGrp="1"/>
          </p:cNvSpPr>
          <p:nvPr>
            <p:ph idx="1"/>
          </p:nvPr>
        </p:nvSpPr>
        <p:spPr>
          <a:xfrm>
            <a:off x="4810259" y="649480"/>
            <a:ext cx="6555347" cy="5546047"/>
          </a:xfrm>
        </p:spPr>
        <p:txBody>
          <a:bodyPr anchor="ctr">
            <a:normAutofit/>
          </a:bodyPr>
          <a:lstStyle/>
          <a:p>
            <a:r>
              <a:rPr lang="en-IN" dirty="0"/>
              <a:t>Use </a:t>
            </a:r>
            <a:r>
              <a:rPr lang="en-IN" b="1" dirty="0"/>
              <a:t>small-scale open-source models</a:t>
            </a:r>
            <a:r>
              <a:rPr lang="en-IN" dirty="0"/>
              <a:t> (2B to 7B parameters) on your local system or Colab:</a:t>
            </a:r>
          </a:p>
          <a:p>
            <a:pPr lvl="0"/>
            <a:r>
              <a:rPr lang="en-IN" b="1" dirty="0"/>
              <a:t>Mistral 7B</a:t>
            </a:r>
            <a:r>
              <a:rPr lang="en-IN" dirty="0"/>
              <a:t>, </a:t>
            </a:r>
            <a:r>
              <a:rPr lang="en-IN" b="1" dirty="0"/>
              <a:t>Phi-2</a:t>
            </a:r>
            <a:r>
              <a:rPr lang="en-IN" dirty="0"/>
              <a:t>, </a:t>
            </a:r>
            <a:r>
              <a:rPr lang="en-IN" b="1" dirty="0"/>
              <a:t>TinyLlama</a:t>
            </a:r>
            <a:r>
              <a:rPr lang="en-IN" dirty="0"/>
              <a:t>, </a:t>
            </a:r>
            <a:r>
              <a:rPr lang="en-IN" b="1" dirty="0"/>
              <a:t>GPT2</a:t>
            </a:r>
            <a:r>
              <a:rPr lang="en-IN" dirty="0"/>
              <a:t>, etc.</a:t>
            </a:r>
          </a:p>
          <a:p>
            <a:pPr lvl="0"/>
            <a:r>
              <a:rPr lang="en-IN" dirty="0"/>
              <a:t>Run with </a:t>
            </a:r>
            <a:r>
              <a:rPr lang="en-IN" b="1" dirty="0"/>
              <a:t>ollama</a:t>
            </a:r>
            <a:r>
              <a:rPr lang="en-IN" dirty="0"/>
              <a:t>, </a:t>
            </a:r>
            <a:r>
              <a:rPr lang="en-IN" b="1" dirty="0"/>
              <a:t>transformers + accelerate</a:t>
            </a:r>
            <a:r>
              <a:rPr lang="en-IN" dirty="0"/>
              <a:t>, or </a:t>
            </a:r>
            <a:r>
              <a:rPr lang="en-IN" b="1" dirty="0"/>
              <a:t>LM Studio</a:t>
            </a:r>
            <a:endParaRPr lang="en-IN" dirty="0"/>
          </a:p>
          <a:p>
            <a:r>
              <a:rPr lang="en-IN" dirty="0"/>
              <a:t>✅ </a:t>
            </a:r>
            <a:r>
              <a:rPr lang="en-IN" b="1" dirty="0"/>
              <a:t>Advantages</a:t>
            </a:r>
            <a:r>
              <a:rPr lang="en-IN" dirty="0"/>
              <a:t>:</a:t>
            </a:r>
          </a:p>
          <a:p>
            <a:pPr lvl="0"/>
            <a:r>
              <a:rPr lang="en-IN" dirty="0"/>
              <a:t>No cost after download</a:t>
            </a:r>
          </a:p>
          <a:p>
            <a:pPr lvl="0"/>
            <a:r>
              <a:rPr lang="en-IN" dirty="0"/>
              <a:t>Works offline (great for privacy)</a:t>
            </a:r>
          </a:p>
          <a:p>
            <a:pPr lvl="0"/>
            <a:r>
              <a:rPr lang="en-IN" dirty="0"/>
              <a:t>You control the full pipeline</a:t>
            </a:r>
          </a:p>
          <a:p>
            <a:endParaRPr lang="en-IN" sz="2000" dirty="0"/>
          </a:p>
        </p:txBody>
      </p:sp>
    </p:spTree>
    <p:extLst>
      <p:ext uri="{BB962C8B-B14F-4D97-AF65-F5344CB8AC3E}">
        <p14:creationId xmlns:p14="http://schemas.microsoft.com/office/powerpoint/2010/main" val="3853279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3069E4-A456-9F1D-CD50-FF359C5A14C5}"/>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Example Student Projects</a:t>
            </a:r>
            <a:br>
              <a:rPr lang="en-IN" sz="4000">
                <a:solidFill>
                  <a:srgbClr val="FFFFFF"/>
                </a:solidFill>
              </a:rPr>
            </a:br>
            <a:endParaRPr lang="en-IN" sz="4000">
              <a:solidFill>
                <a:srgbClr val="FFFFFF"/>
              </a:solidFill>
            </a:endParaRPr>
          </a:p>
        </p:txBody>
      </p:sp>
      <p:sp>
        <p:nvSpPr>
          <p:cNvPr id="3" name="Content Placeholder 2">
            <a:extLst>
              <a:ext uri="{FF2B5EF4-FFF2-40B4-BE49-F238E27FC236}">
                <a16:creationId xmlns:a16="http://schemas.microsoft.com/office/drawing/2014/main" id="{06384E66-CE92-AC32-03CA-8DF7BE135A74}"/>
              </a:ext>
            </a:extLst>
          </p:cNvPr>
          <p:cNvSpPr>
            <a:spLocks noGrp="1"/>
          </p:cNvSpPr>
          <p:nvPr>
            <p:ph idx="1"/>
          </p:nvPr>
        </p:nvSpPr>
        <p:spPr>
          <a:xfrm>
            <a:off x="4810259" y="649480"/>
            <a:ext cx="6555347" cy="5546047"/>
          </a:xfrm>
        </p:spPr>
        <p:txBody>
          <a:bodyPr anchor="ctr">
            <a:normAutofit/>
          </a:bodyPr>
          <a:lstStyle/>
          <a:p>
            <a:pPr lvl="0"/>
            <a:r>
              <a:rPr lang="en-IN" b="1" dirty="0"/>
              <a:t>Build a chatbot</a:t>
            </a:r>
            <a:r>
              <a:rPr lang="en-IN" dirty="0"/>
              <a:t> that answers questions from your textbook (RAG + LangChain).</a:t>
            </a:r>
          </a:p>
          <a:p>
            <a:pPr lvl="0"/>
            <a:r>
              <a:rPr lang="en-IN" b="1" dirty="0"/>
              <a:t>Fine-tune a model</a:t>
            </a:r>
            <a:r>
              <a:rPr lang="en-IN" dirty="0"/>
              <a:t> to mimic your professor's lecture style.</a:t>
            </a:r>
          </a:p>
          <a:p>
            <a:pPr lvl="0"/>
            <a:r>
              <a:rPr lang="en-IN" b="1" dirty="0"/>
              <a:t>Create a summarizer</a:t>
            </a:r>
            <a:r>
              <a:rPr lang="en-IN" dirty="0"/>
              <a:t> for YouTube videos or research papers.</a:t>
            </a:r>
          </a:p>
          <a:p>
            <a:pPr lvl="0"/>
            <a:r>
              <a:rPr lang="en-IN" b="1" dirty="0"/>
              <a:t>AI assistant for coding</a:t>
            </a:r>
            <a:r>
              <a:rPr lang="en-IN" dirty="0"/>
              <a:t> using agentic AI (AutoGPT or LangChain agents).</a:t>
            </a:r>
          </a:p>
          <a:p>
            <a:pPr lvl="0"/>
            <a:r>
              <a:rPr lang="en-IN" b="1" dirty="0"/>
              <a:t>Local semantic search</a:t>
            </a:r>
            <a:r>
              <a:rPr lang="en-IN" dirty="0"/>
              <a:t> for your course notes using BERT + FAISS.</a:t>
            </a:r>
          </a:p>
          <a:p>
            <a:endParaRPr lang="en-IN" sz="2000" dirty="0"/>
          </a:p>
        </p:txBody>
      </p:sp>
    </p:spTree>
    <p:extLst>
      <p:ext uri="{BB962C8B-B14F-4D97-AF65-F5344CB8AC3E}">
        <p14:creationId xmlns:p14="http://schemas.microsoft.com/office/powerpoint/2010/main" val="3377156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20" name="Rectangle 19">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1">
            <a:extLst>
              <a:ext uri="{FF2B5EF4-FFF2-40B4-BE49-F238E27FC236}">
                <a16:creationId xmlns:a16="http://schemas.microsoft.com/office/drawing/2014/main" id="{A2BA76D5-E550-424B-EAC4-C822268FBAD5}"/>
              </a:ext>
            </a:extLst>
          </p:cNvPr>
          <p:cNvSpPr>
            <a:spLocks noChangeArrowheads="1"/>
          </p:cNvSpPr>
          <p:nvPr/>
        </p:nvSpPr>
        <p:spPr bwMode="auto">
          <a:xfrm>
            <a:off x="876301" y="2308124"/>
            <a:ext cx="2263139" cy="36735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tab pos="457200" algn="l"/>
              </a:tabLst>
            </a:pPr>
            <a:r>
              <a:rPr kumimoji="0" lang="en-US" altLang="en-US" sz="2000" b="1" i="0" u="none" strike="noStrike" cap="none" normalizeH="0" baseline="0" dirty="0">
                <a:ln>
                  <a:noFill/>
                </a:ln>
                <a:effectLst/>
                <a:latin typeface="+mn-lt"/>
              </a:rPr>
              <a:t>Summary: What You Can Do as a Student</a:t>
            </a:r>
            <a:endParaRPr kumimoji="0" lang="en-US" altLang="en-US" sz="2000" b="0" i="0" u="none" strike="noStrike" cap="none" normalizeH="0" baseline="0" dirty="0">
              <a:ln>
                <a:noFill/>
              </a:ln>
              <a:effectLst/>
              <a:latin typeface="+mn-lt"/>
            </a:endParaRPr>
          </a:p>
        </p:txBody>
      </p:sp>
      <p:graphicFrame>
        <p:nvGraphicFramePr>
          <p:cNvPr id="4" name="Content Placeholder 3">
            <a:extLst>
              <a:ext uri="{FF2B5EF4-FFF2-40B4-BE49-F238E27FC236}">
                <a16:creationId xmlns:a16="http://schemas.microsoft.com/office/drawing/2014/main" id="{F0BAB437-B661-4A79-2F63-47616DFBA131}"/>
              </a:ext>
            </a:extLst>
          </p:cNvPr>
          <p:cNvGraphicFramePr>
            <a:graphicFrameLocks noGrp="1"/>
          </p:cNvGraphicFramePr>
          <p:nvPr>
            <p:ph idx="1"/>
            <p:extLst>
              <p:ext uri="{D42A27DB-BD31-4B8C-83A1-F6EECF244321}">
                <p14:modId xmlns:p14="http://schemas.microsoft.com/office/powerpoint/2010/main" val="1325142612"/>
              </p:ext>
            </p:extLst>
          </p:nvPr>
        </p:nvGraphicFramePr>
        <p:xfrm>
          <a:off x="3048000" y="1727200"/>
          <a:ext cx="8717280" cy="4927600"/>
        </p:xfrm>
        <a:graphic>
          <a:graphicData uri="http://schemas.openxmlformats.org/drawingml/2006/table">
            <a:tbl>
              <a:tblPr firstRow="1" firstCol="1" bandRow="1">
                <a:tableStyleId>{3B4B98B0-60AC-42C2-AFA5-B58CD77FA1E5}</a:tableStyleId>
              </a:tblPr>
              <a:tblGrid>
                <a:gridCol w="1896986">
                  <a:extLst>
                    <a:ext uri="{9D8B030D-6E8A-4147-A177-3AD203B41FA5}">
                      <a16:colId xmlns:a16="http://schemas.microsoft.com/office/drawing/2014/main" val="2104602022"/>
                    </a:ext>
                  </a:extLst>
                </a:gridCol>
                <a:gridCol w="2431607">
                  <a:extLst>
                    <a:ext uri="{9D8B030D-6E8A-4147-A177-3AD203B41FA5}">
                      <a16:colId xmlns:a16="http://schemas.microsoft.com/office/drawing/2014/main" val="1613624022"/>
                    </a:ext>
                  </a:extLst>
                </a:gridCol>
                <a:gridCol w="1504302">
                  <a:extLst>
                    <a:ext uri="{9D8B030D-6E8A-4147-A177-3AD203B41FA5}">
                      <a16:colId xmlns:a16="http://schemas.microsoft.com/office/drawing/2014/main" val="4172322377"/>
                    </a:ext>
                  </a:extLst>
                </a:gridCol>
                <a:gridCol w="2884385">
                  <a:extLst>
                    <a:ext uri="{9D8B030D-6E8A-4147-A177-3AD203B41FA5}">
                      <a16:colId xmlns:a16="http://schemas.microsoft.com/office/drawing/2014/main" val="17753613"/>
                    </a:ext>
                  </a:extLst>
                </a:gridCol>
              </a:tblGrid>
              <a:tr h="484455">
                <a:tc>
                  <a:txBody>
                    <a:bodyPr/>
                    <a:lstStyle/>
                    <a:p>
                      <a:pPr algn="l" fontAlgn="ctr">
                        <a:lnSpc>
                          <a:spcPct val="115000"/>
                        </a:lnSpc>
                        <a:spcAft>
                          <a:spcPts val="800"/>
                        </a:spcAft>
                        <a:buNone/>
                      </a:pPr>
                      <a:r>
                        <a:rPr lang="en-IN" sz="1800" b="1" u="none" strike="noStrike" kern="100">
                          <a:effectLst/>
                        </a:rPr>
                        <a:t>Approach</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1" u="none" strike="noStrike" kern="100">
                          <a:effectLst/>
                        </a:rPr>
                        <a:t>Tools</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1" u="none" strike="noStrike" kern="100">
                          <a:effectLst/>
                        </a:rPr>
                        <a:t>Cost</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1" u="none" strike="noStrike" kern="100">
                          <a:effectLst/>
                        </a:rPr>
                        <a:t>Use Case</a:t>
                      </a:r>
                      <a:endParaRPr lang="en-IN" sz="1800" b="0" i="0" u="none" strike="noStrike">
                        <a:effectLst/>
                        <a:latin typeface="Arial" panose="020B0604020202020204" pitchFamily="34" charset="0"/>
                      </a:endParaRPr>
                    </a:p>
                  </a:txBody>
                  <a:tcPr marL="9672" marR="9672" marT="9672" marB="9672" anchor="ctr"/>
                </a:tc>
                <a:extLst>
                  <a:ext uri="{0D108BD9-81ED-4DB2-BD59-A6C34878D82A}">
                    <a16:rowId xmlns:a16="http://schemas.microsoft.com/office/drawing/2014/main" val="1933825018"/>
                  </a:ext>
                </a:extLst>
              </a:tr>
              <a:tr h="888629">
                <a:tc>
                  <a:txBody>
                    <a:bodyPr/>
                    <a:lstStyle/>
                    <a:p>
                      <a:pPr algn="l" fontAlgn="ctr">
                        <a:lnSpc>
                          <a:spcPct val="115000"/>
                        </a:lnSpc>
                        <a:spcAft>
                          <a:spcPts val="800"/>
                        </a:spcAft>
                        <a:buNone/>
                      </a:pPr>
                      <a:r>
                        <a:rPr lang="en-IN" sz="1800" b="0" u="none" strike="noStrike" kern="100" dirty="0">
                          <a:effectLst/>
                        </a:rPr>
                        <a:t>Pretrained APIs</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a:effectLst/>
                        </a:rPr>
                        <a:t>OpenAI, Claude, Gemini</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a:effectLst/>
                        </a:rPr>
                        <a:t>💲 or Free</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Q&amp;A, Chatbots, Summarization</a:t>
                      </a:r>
                      <a:endParaRPr lang="en-IN" sz="1800" b="0" i="0" u="none" strike="noStrike" dirty="0">
                        <a:effectLst/>
                        <a:latin typeface="Arial" panose="020B0604020202020204" pitchFamily="34" charset="0"/>
                      </a:endParaRPr>
                    </a:p>
                  </a:txBody>
                  <a:tcPr marL="9672" marR="9672" marT="9672" marB="9672" anchor="ctr"/>
                </a:tc>
                <a:extLst>
                  <a:ext uri="{0D108BD9-81ED-4DB2-BD59-A6C34878D82A}">
                    <a16:rowId xmlns:a16="http://schemas.microsoft.com/office/drawing/2014/main" val="1623621321"/>
                  </a:ext>
                </a:extLst>
              </a:tr>
              <a:tr h="888629">
                <a:tc>
                  <a:txBody>
                    <a:bodyPr/>
                    <a:lstStyle/>
                    <a:p>
                      <a:pPr algn="l" fontAlgn="ctr">
                        <a:lnSpc>
                          <a:spcPct val="115000"/>
                        </a:lnSpc>
                        <a:spcAft>
                          <a:spcPts val="800"/>
                        </a:spcAft>
                        <a:buNone/>
                      </a:pPr>
                      <a:r>
                        <a:rPr lang="en-IN" sz="1800" b="0" u="none" strike="noStrike" kern="100" dirty="0">
                          <a:effectLst/>
                        </a:rPr>
                        <a:t>RAG</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LangChain, LlamaIndex</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a:effectLst/>
                        </a:rPr>
                        <a:t>Free/💲</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Custom knowledge-based chatbot</a:t>
                      </a:r>
                      <a:endParaRPr lang="en-IN" sz="1800" b="0" i="0" u="none" strike="noStrike" dirty="0">
                        <a:effectLst/>
                        <a:latin typeface="Arial" panose="020B0604020202020204" pitchFamily="34" charset="0"/>
                      </a:endParaRPr>
                    </a:p>
                  </a:txBody>
                  <a:tcPr marL="9672" marR="9672" marT="9672" marB="9672" anchor="ctr"/>
                </a:tc>
                <a:extLst>
                  <a:ext uri="{0D108BD9-81ED-4DB2-BD59-A6C34878D82A}">
                    <a16:rowId xmlns:a16="http://schemas.microsoft.com/office/drawing/2014/main" val="1196123836"/>
                  </a:ext>
                </a:extLst>
              </a:tr>
              <a:tr h="888629">
                <a:tc>
                  <a:txBody>
                    <a:bodyPr/>
                    <a:lstStyle/>
                    <a:p>
                      <a:pPr algn="l" fontAlgn="ctr">
                        <a:lnSpc>
                          <a:spcPct val="115000"/>
                        </a:lnSpc>
                        <a:spcAft>
                          <a:spcPts val="800"/>
                        </a:spcAft>
                        <a:buNone/>
                      </a:pPr>
                      <a:r>
                        <a:rPr lang="en-IN" sz="1800" b="0" u="none" strike="noStrike" kern="100">
                          <a:effectLst/>
                        </a:rPr>
                        <a:t>Fine-Tuning (PEFT)</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LoRA, QLoRA, Hugging Face</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Free/💲 (Colab)</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Model customization</a:t>
                      </a:r>
                      <a:endParaRPr lang="en-IN" sz="1800" b="0" i="0" u="none" strike="noStrike" dirty="0">
                        <a:effectLst/>
                        <a:latin typeface="Arial" panose="020B0604020202020204" pitchFamily="34" charset="0"/>
                      </a:endParaRPr>
                    </a:p>
                  </a:txBody>
                  <a:tcPr marL="9672" marR="9672" marT="9672" marB="9672" anchor="ctr"/>
                </a:tc>
                <a:extLst>
                  <a:ext uri="{0D108BD9-81ED-4DB2-BD59-A6C34878D82A}">
                    <a16:rowId xmlns:a16="http://schemas.microsoft.com/office/drawing/2014/main" val="1406507723"/>
                  </a:ext>
                </a:extLst>
              </a:tr>
              <a:tr h="888629">
                <a:tc>
                  <a:txBody>
                    <a:bodyPr/>
                    <a:lstStyle/>
                    <a:p>
                      <a:pPr algn="l" fontAlgn="ctr">
                        <a:lnSpc>
                          <a:spcPct val="115000"/>
                        </a:lnSpc>
                        <a:spcAft>
                          <a:spcPts val="800"/>
                        </a:spcAft>
                        <a:buNone/>
                      </a:pPr>
                      <a:r>
                        <a:rPr lang="en-IN" sz="1800" b="0" u="none" strike="noStrike" kern="100" dirty="0">
                          <a:effectLst/>
                        </a:rPr>
                        <a:t>LangChain Agents</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LangChain, Python</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a:effectLst/>
                        </a:rPr>
                        <a:t>Free</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Complex workflows, AI tools</a:t>
                      </a:r>
                      <a:endParaRPr lang="en-IN" sz="1800" b="0" i="0" u="none" strike="noStrike" dirty="0">
                        <a:effectLst/>
                        <a:latin typeface="Arial" panose="020B0604020202020204" pitchFamily="34" charset="0"/>
                      </a:endParaRPr>
                    </a:p>
                  </a:txBody>
                  <a:tcPr marL="9672" marR="9672" marT="9672" marB="9672" anchor="ctr"/>
                </a:tc>
                <a:extLst>
                  <a:ext uri="{0D108BD9-81ED-4DB2-BD59-A6C34878D82A}">
                    <a16:rowId xmlns:a16="http://schemas.microsoft.com/office/drawing/2014/main" val="1684825685"/>
                  </a:ext>
                </a:extLst>
              </a:tr>
              <a:tr h="888629">
                <a:tc>
                  <a:txBody>
                    <a:bodyPr/>
                    <a:lstStyle/>
                    <a:p>
                      <a:pPr algn="l" fontAlgn="ctr">
                        <a:lnSpc>
                          <a:spcPct val="115000"/>
                        </a:lnSpc>
                        <a:spcAft>
                          <a:spcPts val="800"/>
                        </a:spcAft>
                        <a:buNone/>
                      </a:pPr>
                      <a:r>
                        <a:rPr lang="en-IN" sz="1800" b="0" u="none" strike="noStrike" kern="100">
                          <a:effectLst/>
                        </a:rPr>
                        <a:t>Lightweight Local LLMs</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Ollama, LM Studio</a:t>
                      </a:r>
                      <a:endParaRPr lang="en-IN" sz="1800" b="0" i="0" u="none" strike="noStrike" dirty="0">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a:effectLst/>
                        </a:rPr>
                        <a:t>Free</a:t>
                      </a:r>
                      <a:endParaRPr lang="en-IN" sz="1800" b="0" i="0" u="none" strike="noStrike">
                        <a:effectLst/>
                        <a:latin typeface="Arial" panose="020B0604020202020204" pitchFamily="34" charset="0"/>
                      </a:endParaRPr>
                    </a:p>
                  </a:txBody>
                  <a:tcPr marL="9672" marR="9672" marT="9672" marB="9672" anchor="ctr"/>
                </a:tc>
                <a:tc>
                  <a:txBody>
                    <a:bodyPr/>
                    <a:lstStyle/>
                    <a:p>
                      <a:pPr algn="l" fontAlgn="ctr">
                        <a:lnSpc>
                          <a:spcPct val="115000"/>
                        </a:lnSpc>
                        <a:spcAft>
                          <a:spcPts val="800"/>
                        </a:spcAft>
                        <a:buNone/>
                      </a:pPr>
                      <a:r>
                        <a:rPr lang="en-IN" sz="1800" b="0" u="none" strike="noStrike" kern="100" dirty="0">
                          <a:effectLst/>
                        </a:rPr>
                        <a:t>Local privacy-friendly chatbots</a:t>
                      </a:r>
                      <a:endParaRPr lang="en-IN" sz="1800" b="0" i="0" u="none" strike="noStrike" dirty="0">
                        <a:effectLst/>
                        <a:latin typeface="Arial" panose="020B0604020202020204" pitchFamily="34" charset="0"/>
                      </a:endParaRPr>
                    </a:p>
                  </a:txBody>
                  <a:tcPr marL="9672" marR="9672" marT="9672" marB="9672" anchor="ctr"/>
                </a:tc>
                <a:extLst>
                  <a:ext uri="{0D108BD9-81ED-4DB2-BD59-A6C34878D82A}">
                    <a16:rowId xmlns:a16="http://schemas.microsoft.com/office/drawing/2014/main" val="1559803807"/>
                  </a:ext>
                </a:extLst>
              </a:tr>
            </a:tbl>
          </a:graphicData>
        </a:graphic>
      </p:graphicFrame>
    </p:spTree>
    <p:extLst>
      <p:ext uri="{BB962C8B-B14F-4D97-AF65-F5344CB8AC3E}">
        <p14:creationId xmlns:p14="http://schemas.microsoft.com/office/powerpoint/2010/main" val="2151116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3EEA4C25-A44D-8ADD-7958-3C0E6686A2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BF883322-F36A-B3D8-051B-61BCD7719364}"/>
              </a:ext>
            </a:extLst>
          </p:cNvPr>
          <p:cNvSpPr>
            <a:spLocks noGrp="1"/>
          </p:cNvSpPr>
          <p:nvPr>
            <p:ph idx="1"/>
          </p:nvPr>
        </p:nvSpPr>
        <p:spPr>
          <a:xfrm>
            <a:off x="2187364" y="4072044"/>
            <a:ext cx="5801917" cy="2057045"/>
          </a:xfrm>
        </p:spPr>
        <p:txBody>
          <a:bodyPr>
            <a:normAutofit/>
          </a:bodyPr>
          <a:lstStyle/>
          <a:p>
            <a:pPr marL="0" indent="0">
              <a:buNone/>
            </a:pPr>
            <a:r>
              <a:rPr lang="en-IN" sz="5400" dirty="0"/>
              <a:t>Thank you</a:t>
            </a:r>
          </a:p>
        </p:txBody>
      </p:sp>
      <p:pic>
        <p:nvPicPr>
          <p:cNvPr id="9" name="Graphic 8" descr="Smiling Face with No Fill">
            <a:extLst>
              <a:ext uri="{FF2B5EF4-FFF2-40B4-BE49-F238E27FC236}">
                <a16:creationId xmlns:a16="http://schemas.microsoft.com/office/drawing/2014/main" id="{3535FB89-C71D-4071-A757-D7DC3E3964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046660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631</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Challenges in Deep Learning</vt:lpstr>
      <vt:lpstr>Challenge</vt:lpstr>
      <vt:lpstr>1. Use Pretrained Models via APIs (No Training Required)</vt:lpstr>
      <vt:lpstr>2. RAG (Retrieval-Augmented Generation) – Use LLMs with Your Own Data</vt:lpstr>
      <vt:lpstr>Continue..</vt:lpstr>
      <vt:lpstr>3. Fine-Tuning (on a Budget) </vt:lpstr>
      <vt:lpstr> 4. LangChain and Agentic AI </vt:lpstr>
      <vt:lpstr>5. Use Lightweight Local Models </vt:lpstr>
      <vt:lpstr>Example Student Projects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Mahipal Singh</dc:creator>
  <cp:lastModifiedBy>Mahipal Singh</cp:lastModifiedBy>
  <cp:revision>1</cp:revision>
  <dcterms:created xsi:type="dcterms:W3CDTF">2025-07-04T09:56:43Z</dcterms:created>
  <dcterms:modified xsi:type="dcterms:W3CDTF">2025-07-04T10:11:16Z</dcterms:modified>
</cp:coreProperties>
</file>