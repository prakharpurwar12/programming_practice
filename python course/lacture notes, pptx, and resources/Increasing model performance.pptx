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4D61F6-8D80-4DA7-AC15-D08B77123604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015DED4A-8373-42AE-A509-F0BD358E210B}">
      <dgm:prSet/>
      <dgm:spPr/>
      <dgm:t>
        <a:bodyPr/>
        <a:lstStyle/>
        <a:p>
          <a:r>
            <a:rPr lang="en-US"/>
            <a:t>BatchNorm, Learning Rate Schedulers</a:t>
          </a:r>
        </a:p>
      </dgm:t>
    </dgm:pt>
    <dgm:pt modelId="{01A4B642-11B5-4CDA-A3BD-D8E986D51611}" type="parTrans" cxnId="{9DD38633-0C23-4A60-AC89-7384EB86E920}">
      <dgm:prSet/>
      <dgm:spPr/>
      <dgm:t>
        <a:bodyPr/>
        <a:lstStyle/>
        <a:p>
          <a:endParaRPr lang="en-US"/>
        </a:p>
      </dgm:t>
    </dgm:pt>
    <dgm:pt modelId="{4337F6D8-3C99-41ED-AF84-F8CDA393D805}" type="sibTrans" cxnId="{9DD38633-0C23-4A60-AC89-7384EB86E920}">
      <dgm:prSet/>
      <dgm:spPr/>
      <dgm:t>
        <a:bodyPr/>
        <a:lstStyle/>
        <a:p>
          <a:endParaRPr lang="en-US"/>
        </a:p>
      </dgm:t>
    </dgm:pt>
    <dgm:pt modelId="{3589D2D0-29FA-453A-8B5C-E8DF53D0957A}">
      <dgm:prSet/>
      <dgm:spPr/>
      <dgm:t>
        <a:bodyPr/>
        <a:lstStyle/>
        <a:p>
          <a:r>
            <a:rPr lang="en-US"/>
            <a:t>Better architectures (e.g., ResNet, BERT)</a:t>
          </a:r>
        </a:p>
      </dgm:t>
    </dgm:pt>
    <dgm:pt modelId="{4C18121D-3283-406E-A981-2BAC6DD55D04}" type="parTrans" cxnId="{8114F66F-5998-4EFF-8BF3-715BEB7E0EDB}">
      <dgm:prSet/>
      <dgm:spPr/>
      <dgm:t>
        <a:bodyPr/>
        <a:lstStyle/>
        <a:p>
          <a:endParaRPr lang="en-US"/>
        </a:p>
      </dgm:t>
    </dgm:pt>
    <dgm:pt modelId="{57E4835F-46CA-4196-BB18-FC6BBE10A99F}" type="sibTrans" cxnId="{8114F66F-5998-4EFF-8BF3-715BEB7E0EDB}">
      <dgm:prSet/>
      <dgm:spPr/>
      <dgm:t>
        <a:bodyPr/>
        <a:lstStyle/>
        <a:p>
          <a:endParaRPr lang="en-US"/>
        </a:p>
      </dgm:t>
    </dgm:pt>
    <dgm:pt modelId="{99D4888A-1A41-4F36-B5E9-8603CA7A2811}">
      <dgm:prSet/>
      <dgm:spPr/>
      <dgm:t>
        <a:bodyPr/>
        <a:lstStyle/>
        <a:p>
          <a:r>
            <a:rPr lang="en-US"/>
            <a:t>Pre-trained embeddings (GloVe, FastText, BERT for NLP)</a:t>
          </a:r>
        </a:p>
      </dgm:t>
    </dgm:pt>
    <dgm:pt modelId="{5321A4CF-0B2A-4D9D-A334-78B4EB54414A}" type="parTrans" cxnId="{B98B530A-CD89-479D-84BF-DF5ADC0F82F6}">
      <dgm:prSet/>
      <dgm:spPr/>
      <dgm:t>
        <a:bodyPr/>
        <a:lstStyle/>
        <a:p>
          <a:endParaRPr lang="en-US"/>
        </a:p>
      </dgm:t>
    </dgm:pt>
    <dgm:pt modelId="{AB7ED578-CA41-4705-A0DA-6DA2599290C4}" type="sibTrans" cxnId="{B98B530A-CD89-479D-84BF-DF5ADC0F82F6}">
      <dgm:prSet/>
      <dgm:spPr/>
      <dgm:t>
        <a:bodyPr/>
        <a:lstStyle/>
        <a:p>
          <a:endParaRPr lang="en-US"/>
        </a:p>
      </dgm:t>
    </dgm:pt>
    <dgm:pt modelId="{3B9CDCFC-D176-4DC4-9312-32F7FD32CF4F}" type="pres">
      <dgm:prSet presAssocID="{3D4D61F6-8D80-4DA7-AC15-D08B77123604}" presName="vert0" presStyleCnt="0">
        <dgm:presLayoutVars>
          <dgm:dir/>
          <dgm:animOne val="branch"/>
          <dgm:animLvl val="lvl"/>
        </dgm:presLayoutVars>
      </dgm:prSet>
      <dgm:spPr/>
    </dgm:pt>
    <dgm:pt modelId="{C36D74C6-6E9E-4F82-B465-7C1224C95B1B}" type="pres">
      <dgm:prSet presAssocID="{015DED4A-8373-42AE-A509-F0BD358E210B}" presName="thickLine" presStyleLbl="alignNode1" presStyleIdx="0" presStyleCnt="3"/>
      <dgm:spPr/>
    </dgm:pt>
    <dgm:pt modelId="{EC5D4784-0E58-42D5-8294-43419CE53AD3}" type="pres">
      <dgm:prSet presAssocID="{015DED4A-8373-42AE-A509-F0BD358E210B}" presName="horz1" presStyleCnt="0"/>
      <dgm:spPr/>
    </dgm:pt>
    <dgm:pt modelId="{A7671129-6FAE-4F7A-9B8D-FFCBE46A0D9C}" type="pres">
      <dgm:prSet presAssocID="{015DED4A-8373-42AE-A509-F0BD358E210B}" presName="tx1" presStyleLbl="revTx" presStyleIdx="0" presStyleCnt="3"/>
      <dgm:spPr/>
    </dgm:pt>
    <dgm:pt modelId="{92CB30A6-5986-4D5A-BFE7-34EA1F39CA08}" type="pres">
      <dgm:prSet presAssocID="{015DED4A-8373-42AE-A509-F0BD358E210B}" presName="vert1" presStyleCnt="0"/>
      <dgm:spPr/>
    </dgm:pt>
    <dgm:pt modelId="{3DF3D152-BF51-487F-A6BA-A00895456428}" type="pres">
      <dgm:prSet presAssocID="{3589D2D0-29FA-453A-8B5C-E8DF53D0957A}" presName="thickLine" presStyleLbl="alignNode1" presStyleIdx="1" presStyleCnt="3"/>
      <dgm:spPr/>
    </dgm:pt>
    <dgm:pt modelId="{AD912BFD-93D9-4AE2-9BB6-F8595B9DC45B}" type="pres">
      <dgm:prSet presAssocID="{3589D2D0-29FA-453A-8B5C-E8DF53D0957A}" presName="horz1" presStyleCnt="0"/>
      <dgm:spPr/>
    </dgm:pt>
    <dgm:pt modelId="{CE721C80-769F-4327-8646-6E11900E3781}" type="pres">
      <dgm:prSet presAssocID="{3589D2D0-29FA-453A-8B5C-E8DF53D0957A}" presName="tx1" presStyleLbl="revTx" presStyleIdx="1" presStyleCnt="3"/>
      <dgm:spPr/>
    </dgm:pt>
    <dgm:pt modelId="{9AB3E3B1-6936-4FD2-87E9-608AE88D9CDB}" type="pres">
      <dgm:prSet presAssocID="{3589D2D0-29FA-453A-8B5C-E8DF53D0957A}" presName="vert1" presStyleCnt="0"/>
      <dgm:spPr/>
    </dgm:pt>
    <dgm:pt modelId="{A523683D-C57C-4823-A29D-C9681BC1F601}" type="pres">
      <dgm:prSet presAssocID="{99D4888A-1A41-4F36-B5E9-8603CA7A2811}" presName="thickLine" presStyleLbl="alignNode1" presStyleIdx="2" presStyleCnt="3"/>
      <dgm:spPr/>
    </dgm:pt>
    <dgm:pt modelId="{316C7539-27A5-47E0-99DB-9DBBC6186DFD}" type="pres">
      <dgm:prSet presAssocID="{99D4888A-1A41-4F36-B5E9-8603CA7A2811}" presName="horz1" presStyleCnt="0"/>
      <dgm:spPr/>
    </dgm:pt>
    <dgm:pt modelId="{60792856-E681-4356-ADBC-45C0E604765A}" type="pres">
      <dgm:prSet presAssocID="{99D4888A-1A41-4F36-B5E9-8603CA7A2811}" presName="tx1" presStyleLbl="revTx" presStyleIdx="2" presStyleCnt="3"/>
      <dgm:spPr/>
    </dgm:pt>
    <dgm:pt modelId="{8AA50B67-88D3-49B6-950C-872F0091D9E0}" type="pres">
      <dgm:prSet presAssocID="{99D4888A-1A41-4F36-B5E9-8603CA7A2811}" presName="vert1" presStyleCnt="0"/>
      <dgm:spPr/>
    </dgm:pt>
  </dgm:ptLst>
  <dgm:cxnLst>
    <dgm:cxn modelId="{B98B530A-CD89-479D-84BF-DF5ADC0F82F6}" srcId="{3D4D61F6-8D80-4DA7-AC15-D08B77123604}" destId="{99D4888A-1A41-4F36-B5E9-8603CA7A2811}" srcOrd="2" destOrd="0" parTransId="{5321A4CF-0B2A-4D9D-A334-78B4EB54414A}" sibTransId="{AB7ED578-CA41-4705-A0DA-6DA2599290C4}"/>
    <dgm:cxn modelId="{81210723-D88E-44F2-9B23-E38384EAA6F1}" type="presOf" srcId="{015DED4A-8373-42AE-A509-F0BD358E210B}" destId="{A7671129-6FAE-4F7A-9B8D-FFCBE46A0D9C}" srcOrd="0" destOrd="0" presId="urn:microsoft.com/office/officeart/2008/layout/LinedList"/>
    <dgm:cxn modelId="{9DD38633-0C23-4A60-AC89-7384EB86E920}" srcId="{3D4D61F6-8D80-4DA7-AC15-D08B77123604}" destId="{015DED4A-8373-42AE-A509-F0BD358E210B}" srcOrd="0" destOrd="0" parTransId="{01A4B642-11B5-4CDA-A3BD-D8E986D51611}" sibTransId="{4337F6D8-3C99-41ED-AF84-F8CDA393D805}"/>
    <dgm:cxn modelId="{8766A95B-0CC3-4934-9650-006D5388742C}" type="presOf" srcId="{99D4888A-1A41-4F36-B5E9-8603CA7A2811}" destId="{60792856-E681-4356-ADBC-45C0E604765A}" srcOrd="0" destOrd="0" presId="urn:microsoft.com/office/officeart/2008/layout/LinedList"/>
    <dgm:cxn modelId="{8114F66F-5998-4EFF-8BF3-715BEB7E0EDB}" srcId="{3D4D61F6-8D80-4DA7-AC15-D08B77123604}" destId="{3589D2D0-29FA-453A-8B5C-E8DF53D0957A}" srcOrd="1" destOrd="0" parTransId="{4C18121D-3283-406E-A981-2BAC6DD55D04}" sibTransId="{57E4835F-46CA-4196-BB18-FC6BBE10A99F}"/>
    <dgm:cxn modelId="{C7D9C174-C978-40AF-B351-D14C3BC60501}" type="presOf" srcId="{3589D2D0-29FA-453A-8B5C-E8DF53D0957A}" destId="{CE721C80-769F-4327-8646-6E11900E3781}" srcOrd="0" destOrd="0" presId="urn:microsoft.com/office/officeart/2008/layout/LinedList"/>
    <dgm:cxn modelId="{5015A1C9-5437-48A9-9A22-5B0B59A8AB92}" type="presOf" srcId="{3D4D61F6-8D80-4DA7-AC15-D08B77123604}" destId="{3B9CDCFC-D176-4DC4-9312-32F7FD32CF4F}" srcOrd="0" destOrd="0" presId="urn:microsoft.com/office/officeart/2008/layout/LinedList"/>
    <dgm:cxn modelId="{122BEC01-4007-4B8A-94AD-6EC907B8B35A}" type="presParOf" srcId="{3B9CDCFC-D176-4DC4-9312-32F7FD32CF4F}" destId="{C36D74C6-6E9E-4F82-B465-7C1224C95B1B}" srcOrd="0" destOrd="0" presId="urn:microsoft.com/office/officeart/2008/layout/LinedList"/>
    <dgm:cxn modelId="{C66AA01A-20BE-42BB-BCAF-EED4EDC4BAC1}" type="presParOf" srcId="{3B9CDCFC-D176-4DC4-9312-32F7FD32CF4F}" destId="{EC5D4784-0E58-42D5-8294-43419CE53AD3}" srcOrd="1" destOrd="0" presId="urn:microsoft.com/office/officeart/2008/layout/LinedList"/>
    <dgm:cxn modelId="{94708FA6-C6E1-468A-BE58-CA6812F2F172}" type="presParOf" srcId="{EC5D4784-0E58-42D5-8294-43419CE53AD3}" destId="{A7671129-6FAE-4F7A-9B8D-FFCBE46A0D9C}" srcOrd="0" destOrd="0" presId="urn:microsoft.com/office/officeart/2008/layout/LinedList"/>
    <dgm:cxn modelId="{D6E1A45D-4A2C-4662-8510-401D6DBE2B5B}" type="presParOf" srcId="{EC5D4784-0E58-42D5-8294-43419CE53AD3}" destId="{92CB30A6-5986-4D5A-BFE7-34EA1F39CA08}" srcOrd="1" destOrd="0" presId="urn:microsoft.com/office/officeart/2008/layout/LinedList"/>
    <dgm:cxn modelId="{25E6D3E1-6213-4E8F-B782-9E7A7BF0E48B}" type="presParOf" srcId="{3B9CDCFC-D176-4DC4-9312-32F7FD32CF4F}" destId="{3DF3D152-BF51-487F-A6BA-A00895456428}" srcOrd="2" destOrd="0" presId="urn:microsoft.com/office/officeart/2008/layout/LinedList"/>
    <dgm:cxn modelId="{9BE1D5E4-DE4E-4EB5-BCA0-851851643DFF}" type="presParOf" srcId="{3B9CDCFC-D176-4DC4-9312-32F7FD32CF4F}" destId="{AD912BFD-93D9-4AE2-9BB6-F8595B9DC45B}" srcOrd="3" destOrd="0" presId="urn:microsoft.com/office/officeart/2008/layout/LinedList"/>
    <dgm:cxn modelId="{8758D606-04AE-4358-B1C6-92B0E4654E7A}" type="presParOf" srcId="{AD912BFD-93D9-4AE2-9BB6-F8595B9DC45B}" destId="{CE721C80-769F-4327-8646-6E11900E3781}" srcOrd="0" destOrd="0" presId="urn:microsoft.com/office/officeart/2008/layout/LinedList"/>
    <dgm:cxn modelId="{16723543-8EA5-46C4-80E3-6D2120AD7855}" type="presParOf" srcId="{AD912BFD-93D9-4AE2-9BB6-F8595B9DC45B}" destId="{9AB3E3B1-6936-4FD2-87E9-608AE88D9CDB}" srcOrd="1" destOrd="0" presId="urn:microsoft.com/office/officeart/2008/layout/LinedList"/>
    <dgm:cxn modelId="{B8F2C83D-26C8-4AF3-BBD0-B83CED1B3121}" type="presParOf" srcId="{3B9CDCFC-D176-4DC4-9312-32F7FD32CF4F}" destId="{A523683D-C57C-4823-A29D-C9681BC1F601}" srcOrd="4" destOrd="0" presId="urn:microsoft.com/office/officeart/2008/layout/LinedList"/>
    <dgm:cxn modelId="{2AE8388F-1D7D-474F-8F5D-20473C21AC47}" type="presParOf" srcId="{3B9CDCFC-D176-4DC4-9312-32F7FD32CF4F}" destId="{316C7539-27A5-47E0-99DB-9DBBC6186DFD}" srcOrd="5" destOrd="0" presId="urn:microsoft.com/office/officeart/2008/layout/LinedList"/>
    <dgm:cxn modelId="{FC7E4448-98E4-4B49-96D6-5260C61839D6}" type="presParOf" srcId="{316C7539-27A5-47E0-99DB-9DBBC6186DFD}" destId="{60792856-E681-4356-ADBC-45C0E604765A}" srcOrd="0" destOrd="0" presId="urn:microsoft.com/office/officeart/2008/layout/LinedList"/>
    <dgm:cxn modelId="{A91545E7-FA27-4110-979B-98F4C9FB1067}" type="presParOf" srcId="{316C7539-27A5-47E0-99DB-9DBBC6186DFD}" destId="{8AA50B67-88D3-49B6-950C-872F0091D9E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6D74C6-6E9E-4F82-B465-7C1224C95B1B}">
      <dsp:nvSpPr>
        <dsp:cNvPr id="0" name=""/>
        <dsp:cNvSpPr/>
      </dsp:nvSpPr>
      <dsp:spPr>
        <a:xfrm>
          <a:off x="0" y="2723"/>
          <a:ext cx="63964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671129-6FAE-4F7A-9B8D-FFCBE46A0D9C}">
      <dsp:nvSpPr>
        <dsp:cNvPr id="0" name=""/>
        <dsp:cNvSpPr/>
      </dsp:nvSpPr>
      <dsp:spPr>
        <a:xfrm>
          <a:off x="0" y="2723"/>
          <a:ext cx="6396484" cy="18571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BatchNorm, Learning Rate Schedulers</a:t>
          </a:r>
        </a:p>
      </dsp:txBody>
      <dsp:txXfrm>
        <a:off x="0" y="2723"/>
        <a:ext cx="6396484" cy="1857107"/>
      </dsp:txXfrm>
    </dsp:sp>
    <dsp:sp modelId="{3DF3D152-BF51-487F-A6BA-A00895456428}">
      <dsp:nvSpPr>
        <dsp:cNvPr id="0" name=""/>
        <dsp:cNvSpPr/>
      </dsp:nvSpPr>
      <dsp:spPr>
        <a:xfrm>
          <a:off x="0" y="1859831"/>
          <a:ext cx="63964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21C80-769F-4327-8646-6E11900E3781}">
      <dsp:nvSpPr>
        <dsp:cNvPr id="0" name=""/>
        <dsp:cNvSpPr/>
      </dsp:nvSpPr>
      <dsp:spPr>
        <a:xfrm>
          <a:off x="0" y="1859831"/>
          <a:ext cx="6396484" cy="18571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Better architectures (e.g., ResNet, BERT)</a:t>
          </a:r>
        </a:p>
      </dsp:txBody>
      <dsp:txXfrm>
        <a:off x="0" y="1859831"/>
        <a:ext cx="6396484" cy="1857107"/>
      </dsp:txXfrm>
    </dsp:sp>
    <dsp:sp modelId="{A523683D-C57C-4823-A29D-C9681BC1F601}">
      <dsp:nvSpPr>
        <dsp:cNvPr id="0" name=""/>
        <dsp:cNvSpPr/>
      </dsp:nvSpPr>
      <dsp:spPr>
        <a:xfrm>
          <a:off x="0" y="3716938"/>
          <a:ext cx="63964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792856-E681-4356-ADBC-45C0E604765A}">
      <dsp:nvSpPr>
        <dsp:cNvPr id="0" name=""/>
        <dsp:cNvSpPr/>
      </dsp:nvSpPr>
      <dsp:spPr>
        <a:xfrm>
          <a:off x="0" y="3716938"/>
          <a:ext cx="6396484" cy="18571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Pre-trained embeddings (GloVe, FastText, BERT for NLP)</a:t>
          </a:r>
        </a:p>
      </dsp:txBody>
      <dsp:txXfrm>
        <a:off x="0" y="3716938"/>
        <a:ext cx="6396484" cy="18571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F8537-C4F1-3D6E-9F48-501C43E23C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1EA44-DF3C-D1E5-087F-82A50D7880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21C74-2774-2865-A56D-972359F82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F2AF-01CE-4773-BE22-0E2B24ED2260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EB1F-7611-27CD-6E22-2BDD8A8BB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158AB-A709-1ECD-90CE-20E5C77F0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13F3-2801-4637-8E2F-303622952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86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5C332-D80F-8A66-36BF-1FAA43E66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72C0F-9918-E04D-3BC8-E663FB191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3AE83-46DF-AC2A-F55E-A9BF47002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F2AF-01CE-4773-BE22-0E2B24ED2260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8ED13-6F48-C8FA-EFA6-65D5B4618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D3E50-B512-D328-05D7-7A5B7EF6C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13F3-2801-4637-8E2F-303622952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563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29932-3BC6-B061-908D-EBDC22D4F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A328D-9E55-5842-B227-56D44C8A3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C22F4-EC3B-F4B2-179B-82688F89A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F2AF-01CE-4773-BE22-0E2B24ED2260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5F410-2C78-4B6D-34F8-2C9C3D07A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7B3F6-74B8-049B-2830-039662D8C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13F3-2801-4637-8E2F-303622952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2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E5558-D82C-FD39-62AC-E894825B2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6DDD7-56B1-1EC1-C316-400F7861E5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342EC-27A8-63DA-A7B1-CD524D110E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ED1CE-15F6-FEFE-CB9C-D2EE3D634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F2AF-01CE-4773-BE22-0E2B24ED2260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78D3BF-1713-8D31-1C72-34E009BDB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DD0CC-2C21-DE3F-4298-3AA04DEBA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13F3-2801-4637-8E2F-303622952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579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94935-7AC8-D38E-35C8-33F5CC591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0650A-C649-DE1E-7AB5-D8886CE5A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7BDBE8-09BB-FEFF-7FF0-10E9D501A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8456BF-BD1C-EB56-725D-A3E7553078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20A115-16C3-ACC2-53CD-698683573F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A1EB29-2F11-B337-B88C-49080C38D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F2AF-01CE-4773-BE22-0E2B24ED2260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B4A32-8093-6C36-D187-9AA5CEE57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D1C594-DE2E-032F-F8F6-8C800C7C6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13F3-2801-4637-8E2F-303622952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863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2D6CD-DD4C-1716-2B0F-D84F43F68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14BC2-C537-24D5-3BE2-2CB60D605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F2AF-01CE-4773-BE22-0E2B24ED2260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CED55-82DB-2B80-0D1C-1A5471707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1D407E-0E51-7AA0-7D6A-D1661861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13F3-2801-4637-8E2F-303622952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180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E339-97C3-7338-A55B-0EFA4272E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F2AF-01CE-4773-BE22-0E2B24ED2260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AB0AA4-28B2-888E-574C-4D4D42E4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3C288-FB13-7F27-95C9-A31610CE1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13F3-2801-4637-8E2F-303622952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79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761FB-474A-EE1E-8A9C-7D823CD03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A4342-E0FB-778F-7F8D-4613799BB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918F5-2518-3539-952C-8C2E58F47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FCC43-DC8F-15E5-B2D9-0BBB7646A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F2AF-01CE-4773-BE22-0E2B24ED2260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E4CBF-9657-B12D-0747-27350E5E2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AA231-C3D8-C292-456C-7BF6C9B9A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13F3-2801-4637-8E2F-303622952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519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EEAF1-2C67-EE41-CD05-E4D6040E7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5E16B2-846F-A5B2-1529-E88B24BDBA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C45410-D46A-0070-2174-B4A64E545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2590E-DDFE-C879-4930-78557A772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F2AF-01CE-4773-BE22-0E2B24ED2260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DD94D-8258-CF0B-56B7-C7F7DAC42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09451-51C5-D608-A8A4-671B8C171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13F3-2801-4637-8E2F-303622952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619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8A7E7-5BF2-645F-C59A-0A59FC0BA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A6148A-0A7B-6513-490D-357777AA0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1AE55-97B6-08A1-E0CF-81F1D3360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F2AF-01CE-4773-BE22-0E2B24ED2260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7D9EF-F8A3-820F-3997-613025E32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230C3-BBC5-30FF-4F9F-B6B52D986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13F3-2801-4637-8E2F-303622952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958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59F4DD-E805-D60E-CED3-B9478316E3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91FCB-38F9-3D2B-E933-56A9DE3AF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41970-3196-DF8A-7D7F-8FD0B8914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9F2AF-01CE-4773-BE22-0E2B24ED2260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D735B-3F7F-8001-314B-84930EB75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EFD90-E8E8-EDBF-136B-74195EF0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C13F3-2801-4637-8E2F-303622952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141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3F888-6943-BAFA-DEB2-D1B7DC91A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1E71E-D678-99A5-5487-2A654C3E0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C963E-FEEE-DC8D-37BB-57198733A2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69F2AF-01CE-4773-BE22-0E2B24ED2260}" type="datetimeFigureOut">
              <a:rPr lang="en-IN" smtClean="0"/>
              <a:t>01-07-2025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81A59-0C07-E11A-5643-654A658D7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C4BCF5-359D-5DED-AFC3-70B187E3C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C13F3-2801-4637-8E2F-303622952D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55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79C72-77B1-A025-4BFD-29048B84A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461" y="728664"/>
            <a:ext cx="4984813" cy="3157080"/>
          </a:xfrm>
          <a:noFill/>
        </p:spPr>
        <p:txBody>
          <a:bodyPr>
            <a:normAutofit/>
          </a:bodyPr>
          <a:lstStyle/>
          <a:p>
            <a:pPr algn="l"/>
            <a:r>
              <a:rPr lang="en-IN" sz="5200"/>
              <a:t>Increasing model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76CFE-FBBB-D15E-DCCA-BDBA128F6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7461" y="4072045"/>
            <a:ext cx="4984813" cy="2057289"/>
          </a:xfrm>
          <a:noFill/>
        </p:spPr>
        <p:txBody>
          <a:bodyPr>
            <a:normAutofit/>
          </a:bodyPr>
          <a:lstStyle/>
          <a:p>
            <a:pPr algn="l"/>
            <a:r>
              <a:rPr lang="en-IN" dirty="0"/>
              <a:t>Mahipal Singh</a:t>
            </a:r>
            <a:endParaRPr lang="en-IN"/>
          </a:p>
        </p:txBody>
      </p:sp>
      <p:pic>
        <p:nvPicPr>
          <p:cNvPr id="5" name="Picture 4" descr="3D stairs design">
            <a:extLst>
              <a:ext uri="{FF2B5EF4-FFF2-40B4-BE49-F238E27FC236}">
                <a16:creationId xmlns:a16="http://schemas.microsoft.com/office/drawing/2014/main" id="{0EE6BE5B-1005-822A-480A-4FC5EEBABE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93" r="13829"/>
          <a:stretch>
            <a:fillRect/>
          </a:stretch>
        </p:blipFill>
        <p:spPr>
          <a:xfrm>
            <a:off x="1" y="10"/>
            <a:ext cx="600551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74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839166-3E15-8F33-631B-4745FBF7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IN" sz="2500">
                <a:solidFill>
                  <a:schemeClr val="bg1"/>
                </a:solidFill>
              </a:rPr>
              <a:t>1. Data Quality &amp; Preprocessing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44683E7A-CFF1-1017-012F-F50F74A8D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r>
              <a:rPr lang="en-IN" sz="2400" b="1"/>
              <a:t>Garbage in → Garbage out</a:t>
            </a:r>
            <a:endParaRPr lang="en-IN" sz="2400"/>
          </a:p>
          <a:p>
            <a:r>
              <a:rPr lang="en-IN" sz="2400"/>
              <a:t> </a:t>
            </a:r>
            <a:r>
              <a:rPr lang="en-IN" sz="2400" b="1"/>
              <a:t>Handle Missing Values</a:t>
            </a:r>
            <a:r>
              <a:rPr lang="en-IN" sz="2400"/>
              <a:t> (imputation or removal)</a:t>
            </a:r>
          </a:p>
          <a:p>
            <a:r>
              <a:rPr lang="en-IN" sz="2400"/>
              <a:t> </a:t>
            </a:r>
            <a:r>
              <a:rPr lang="en-IN" sz="2400" b="1"/>
              <a:t>Remove Outliers</a:t>
            </a:r>
            <a:r>
              <a:rPr lang="en-IN" sz="2400"/>
              <a:t> (IQR, z-score, or visual methods)</a:t>
            </a:r>
          </a:p>
          <a:p>
            <a:r>
              <a:rPr lang="en-IN" sz="2400" b="1"/>
              <a:t>Feature Scaling</a:t>
            </a:r>
            <a:r>
              <a:rPr lang="en-IN" sz="2400"/>
              <a:t> (StandardScaler, MinMaxScaler)</a:t>
            </a:r>
          </a:p>
          <a:p>
            <a:r>
              <a:rPr lang="en-IN" sz="2400" b="1"/>
              <a:t>Encoding Categorical Variables</a:t>
            </a:r>
            <a:r>
              <a:rPr lang="en-IN" sz="2400"/>
              <a:t> (OneHot, Label, Target encoding)</a:t>
            </a:r>
          </a:p>
          <a:p>
            <a:r>
              <a:rPr lang="en-IN" sz="2400" b="1"/>
              <a:t>Balance Classes</a:t>
            </a:r>
            <a:r>
              <a:rPr lang="en-IN" sz="2400"/>
              <a:t> (SMOTE, undersampling, class weights)</a:t>
            </a:r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46815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7D85B-AA97-BF75-AD22-F371BF94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US" sz="3100" b="1">
                <a:solidFill>
                  <a:schemeClr val="bg1"/>
                </a:solidFill>
              </a:rPr>
              <a:t>Feature Engineering</a:t>
            </a:r>
            <a:br>
              <a:rPr lang="en-US" sz="3100" b="1">
                <a:solidFill>
                  <a:schemeClr val="bg1"/>
                </a:solidFill>
              </a:rPr>
            </a:br>
            <a:endParaRPr lang="en-IN" sz="31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06BC0D-5872-C294-FF04-AA5289EFF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r>
              <a:rPr lang="en-US" b="1" dirty="0"/>
              <a:t>Smart features can beat complex models</a:t>
            </a:r>
            <a:endParaRPr lang="en-US" dirty="0"/>
          </a:p>
          <a:p>
            <a:r>
              <a:rPr lang="en-US" dirty="0"/>
              <a:t> Create new features using domain knowledge</a:t>
            </a:r>
          </a:p>
          <a:p>
            <a:r>
              <a:rPr lang="en-US" dirty="0"/>
              <a:t> Polynomial or interaction terms (e.g., x1 * x2)</a:t>
            </a:r>
          </a:p>
          <a:p>
            <a:r>
              <a:rPr lang="en-US" dirty="0"/>
              <a:t> Log transform skewed features</a:t>
            </a:r>
          </a:p>
          <a:p>
            <a:r>
              <a:rPr lang="en-US" dirty="0"/>
              <a:t> Bin numerical features (age → </a:t>
            </a:r>
            <a:r>
              <a:rPr lang="en-US" dirty="0" err="1"/>
              <a:t>age_group</a:t>
            </a:r>
            <a:r>
              <a:rPr lang="en-US" dirty="0"/>
              <a:t>)</a:t>
            </a:r>
          </a:p>
          <a:p>
            <a:r>
              <a:rPr lang="en-US" dirty="0"/>
              <a:t> Extract features from date/time or text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75411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2A31E-E11F-DA93-AF11-0CA40D819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IN" sz="3600" b="1">
                <a:solidFill>
                  <a:schemeClr val="bg1"/>
                </a:solidFill>
              </a:rPr>
              <a:t>Feature Selection</a:t>
            </a:r>
            <a:br>
              <a:rPr lang="en-IN" sz="3600" b="1">
                <a:solidFill>
                  <a:schemeClr val="bg1"/>
                </a:solidFill>
              </a:rPr>
            </a:br>
            <a:endParaRPr lang="en-IN" sz="36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916C6-8543-227B-AEEF-289EC4DF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r>
              <a:rPr lang="en-IN" b="1" dirty="0"/>
              <a:t>Reduce noise, overfitting, and training time</a:t>
            </a:r>
            <a:endParaRPr lang="en-IN" dirty="0"/>
          </a:p>
          <a:p>
            <a:r>
              <a:rPr lang="en-IN" dirty="0"/>
              <a:t> Correlation matrix (remove highly correlated features)</a:t>
            </a:r>
          </a:p>
          <a:p>
            <a:r>
              <a:rPr lang="en-IN" dirty="0"/>
              <a:t> Recursive Feature Elimination (RFE)</a:t>
            </a:r>
          </a:p>
          <a:p>
            <a:r>
              <a:rPr lang="en-IN" dirty="0"/>
              <a:t> Tree-based feature importance (</a:t>
            </a:r>
            <a:r>
              <a:rPr lang="en-IN" dirty="0" err="1"/>
              <a:t>RandomForest</a:t>
            </a:r>
            <a:r>
              <a:rPr lang="en-IN" dirty="0"/>
              <a:t>, </a:t>
            </a:r>
            <a:r>
              <a:rPr lang="en-IN" dirty="0" err="1"/>
              <a:t>XGBoost</a:t>
            </a:r>
            <a:r>
              <a:rPr lang="en-IN" dirty="0"/>
              <a:t>)</a:t>
            </a:r>
          </a:p>
          <a:p>
            <a:r>
              <a:rPr lang="en-IN" dirty="0"/>
              <a:t> </a:t>
            </a:r>
            <a:r>
              <a:rPr lang="en-IN" dirty="0" err="1"/>
              <a:t>SelectKBest</a:t>
            </a:r>
            <a:r>
              <a:rPr lang="en-IN" dirty="0"/>
              <a:t>, L1 (Lasso) regularization for sparsity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46919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F4E17-380E-1833-25FE-6B61D701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IN" sz="3100" b="1">
                <a:solidFill>
                  <a:schemeClr val="bg1"/>
                </a:solidFill>
              </a:rPr>
              <a:t>Model Choice &amp; Complexity</a:t>
            </a:r>
            <a:br>
              <a:rPr lang="en-IN" sz="3100" b="1">
                <a:solidFill>
                  <a:schemeClr val="bg1"/>
                </a:solidFill>
              </a:rPr>
            </a:br>
            <a:endParaRPr lang="en-IN" sz="31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EE56E-00A4-5377-8C8D-652378DFB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r>
              <a:rPr lang="en-IN" b="1" dirty="0"/>
              <a:t>Try multiple models and compare</a:t>
            </a:r>
            <a:endParaRPr lang="en-IN" dirty="0"/>
          </a:p>
          <a:p>
            <a:r>
              <a:rPr lang="en-IN" dirty="0"/>
              <a:t> Try both simple (</a:t>
            </a:r>
            <a:r>
              <a:rPr lang="en-IN" dirty="0" err="1"/>
              <a:t>LogReg</a:t>
            </a:r>
            <a:r>
              <a:rPr lang="en-IN" dirty="0"/>
              <a:t>, </a:t>
            </a:r>
            <a:r>
              <a:rPr lang="en-IN" dirty="0" err="1"/>
              <a:t>DecisionTree</a:t>
            </a:r>
            <a:r>
              <a:rPr lang="en-IN" dirty="0"/>
              <a:t>) and complex (RF, XGB, NN) models</a:t>
            </a:r>
          </a:p>
          <a:p>
            <a:r>
              <a:rPr lang="en-IN" dirty="0"/>
              <a:t> Use ensemble methods:</a:t>
            </a:r>
          </a:p>
          <a:p>
            <a:pPr lvl="1"/>
            <a:r>
              <a:rPr lang="en-IN" sz="2800" dirty="0"/>
              <a:t>Random Forest, </a:t>
            </a:r>
            <a:r>
              <a:rPr lang="en-IN" sz="2800" dirty="0" err="1"/>
              <a:t>XGBoost</a:t>
            </a:r>
            <a:r>
              <a:rPr lang="en-IN" sz="2800" dirty="0"/>
              <a:t>, </a:t>
            </a:r>
            <a:r>
              <a:rPr lang="en-IN" sz="2800" dirty="0" err="1"/>
              <a:t>LightGBM</a:t>
            </a:r>
            <a:endParaRPr lang="en-IN" sz="2800" dirty="0"/>
          </a:p>
          <a:p>
            <a:pPr lvl="1"/>
            <a:r>
              <a:rPr lang="en-IN" sz="2800" dirty="0" err="1"/>
              <a:t>VotingClassifier</a:t>
            </a:r>
            <a:r>
              <a:rPr lang="en-IN" sz="2800" dirty="0"/>
              <a:t>, Stacking</a:t>
            </a:r>
          </a:p>
          <a:p>
            <a:r>
              <a:rPr lang="en-IN" dirty="0"/>
              <a:t> Tune depth/complexity to avoid overfitting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6802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821501-860A-FFF5-6D8D-6C2BAE06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US" altLang="en-US" sz="2000" b="1">
                <a:solidFill>
                  <a:schemeClr val="bg1"/>
                </a:solidFill>
                <a:latin typeface="Arial" panose="020B0604020202020204" pitchFamily="34" charset="0"/>
              </a:rPr>
              <a:t>Hyperparameter Tuning</a:t>
            </a:r>
            <a:br>
              <a:rPr lang="en-US" altLang="en-US" sz="2000" b="1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IN" sz="200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568C8D-98BE-EE55-F71F-5A705D961D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732" y="850052"/>
            <a:ext cx="6390623" cy="532691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Most overlooked, biggest gains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GridSearchCV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(exhaustive)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RandomizedSearchCV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(faster)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Optuna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,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 Unicode MS"/>
              </a:rPr>
              <a:t>BayesianOptimization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(advanced)</a:t>
            </a: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Tune: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Tree depth, learning rate, regularization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Number of estimators (n_estimators)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Neural network layers, dropout, batch size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316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2AF3B-2DFE-66E1-ED47-A3F7375B1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US" sz="2500" b="1">
                <a:solidFill>
                  <a:schemeClr val="bg1"/>
                </a:solidFill>
              </a:rPr>
              <a:t>Regularization</a:t>
            </a:r>
            <a:br>
              <a:rPr lang="en-US" sz="2500" b="1">
                <a:solidFill>
                  <a:schemeClr val="bg1"/>
                </a:solidFill>
              </a:rPr>
            </a:br>
            <a:endParaRPr lang="en-IN" sz="25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9CFEA-8F18-2D4A-B29D-D171B715A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Prevent overfitting</a:t>
            </a:r>
            <a:endParaRPr lang="en-US" dirty="0"/>
          </a:p>
          <a:p>
            <a:r>
              <a:rPr lang="en-US" dirty="0"/>
              <a:t>L1 (Lasso): feature selection (sparse weights)</a:t>
            </a:r>
          </a:p>
          <a:p>
            <a:r>
              <a:rPr lang="en-US" dirty="0"/>
              <a:t>L2 (Ridge): shrink large weights</a:t>
            </a:r>
          </a:p>
          <a:p>
            <a:r>
              <a:rPr lang="en-US" dirty="0"/>
              <a:t>Dropout (in neural nets)</a:t>
            </a:r>
          </a:p>
          <a:p>
            <a:r>
              <a:rPr lang="en-US" dirty="0"/>
              <a:t>Early stopping (stop training if </a:t>
            </a:r>
            <a:r>
              <a:rPr lang="en-US" dirty="0" err="1"/>
              <a:t>val_loss</a:t>
            </a:r>
            <a:r>
              <a:rPr lang="en-US" dirty="0"/>
              <a:t> increases)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68444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5043E-8334-32C7-5128-CD9546BB3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US" altLang="en-US" sz="3300" b="1">
                <a:solidFill>
                  <a:schemeClr val="bg1"/>
                </a:solidFill>
                <a:latin typeface="Arial" panose="020B0604020202020204" pitchFamily="34" charset="0"/>
              </a:rPr>
              <a:t>Cross-Validation</a:t>
            </a:r>
            <a:br>
              <a:rPr lang="en-US" altLang="en-US" sz="3300" b="1">
                <a:solidFill>
                  <a:schemeClr val="bg1"/>
                </a:solidFill>
                <a:latin typeface="Arial" panose="020B0604020202020204" pitchFamily="34" charset="0"/>
              </a:rPr>
            </a:br>
            <a:endParaRPr lang="en-IN" sz="330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FD97F9-8CA0-41BE-3789-0BEBFF6C4F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54732" y="850052"/>
            <a:ext cx="6390623" cy="532691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Estimate model generalization properly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StratifiedKFold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for classification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Avoid over-relying on single train-test split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Evaluate on validation set before test set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605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C4A5DD-0001-BB16-F5CD-BF89D6F18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IN" sz="3600" b="1">
                <a:solidFill>
                  <a:schemeClr val="bg1"/>
                </a:solidFill>
              </a:rPr>
              <a:t>Ensemble Learning</a:t>
            </a:r>
            <a:br>
              <a:rPr lang="en-IN" sz="3600" b="1">
                <a:solidFill>
                  <a:schemeClr val="bg1"/>
                </a:solidFill>
              </a:rPr>
            </a:br>
            <a:endParaRPr lang="en-IN" sz="36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EBAA4-3001-A5C8-7E97-0EB00F9F8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r>
              <a:rPr lang="en-IN" b="1" dirty="0"/>
              <a:t>Wisdom of models</a:t>
            </a:r>
            <a:endParaRPr lang="en-IN" dirty="0"/>
          </a:p>
          <a:p>
            <a:r>
              <a:rPr lang="en-IN" dirty="0"/>
              <a:t> Bagging (</a:t>
            </a:r>
            <a:r>
              <a:rPr lang="en-IN" dirty="0" err="1"/>
              <a:t>RandomForest</a:t>
            </a:r>
            <a:r>
              <a:rPr lang="en-IN" dirty="0"/>
              <a:t>)</a:t>
            </a:r>
          </a:p>
          <a:p>
            <a:r>
              <a:rPr lang="en-IN" dirty="0"/>
              <a:t> Boosting (</a:t>
            </a:r>
            <a:r>
              <a:rPr lang="en-IN" dirty="0" err="1"/>
              <a:t>XGBoost</a:t>
            </a:r>
            <a:r>
              <a:rPr lang="en-IN" dirty="0"/>
              <a:t>, </a:t>
            </a:r>
            <a:r>
              <a:rPr lang="en-IN" dirty="0" err="1"/>
              <a:t>LightGBM</a:t>
            </a:r>
            <a:r>
              <a:rPr lang="en-IN" dirty="0"/>
              <a:t>, </a:t>
            </a:r>
            <a:r>
              <a:rPr lang="en-IN" dirty="0" err="1"/>
              <a:t>CatBoost</a:t>
            </a:r>
            <a:r>
              <a:rPr lang="en-IN" dirty="0"/>
              <a:t>)</a:t>
            </a:r>
          </a:p>
          <a:p>
            <a:r>
              <a:rPr lang="en-IN" dirty="0"/>
              <a:t> Stacking (meta-model combining base learners)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6355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C8F10B-0290-67B8-F82F-A1EF08C52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US" sz="3600" b="1">
                <a:solidFill>
                  <a:schemeClr val="bg1"/>
                </a:solidFill>
              </a:rPr>
              <a:t>Training Data Volume</a:t>
            </a:r>
            <a:br>
              <a:rPr lang="en-US" sz="3600" b="1">
                <a:solidFill>
                  <a:schemeClr val="bg1"/>
                </a:solidFill>
              </a:rPr>
            </a:br>
            <a:endParaRPr lang="en-IN" sz="36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96485-486B-AC17-9F7B-8E258EE50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r>
              <a:rPr lang="en-US" sz="2400" dirty="0"/>
              <a:t> </a:t>
            </a:r>
            <a:r>
              <a:rPr lang="en-US" b="1" dirty="0"/>
              <a:t>More good data = better model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Collect more labeled examples if possible</a:t>
            </a:r>
          </a:p>
          <a:p>
            <a:pPr marL="0" indent="0">
              <a:buNone/>
            </a:pPr>
            <a:r>
              <a:rPr lang="en-US" dirty="0"/>
              <a:t>Use data augmentation (especially in images, text)</a:t>
            </a:r>
          </a:p>
          <a:p>
            <a:pPr marL="0" indent="0">
              <a:buNone/>
            </a:pPr>
            <a:r>
              <a:rPr lang="en-US" dirty="0"/>
              <a:t>Use pre-trained models (Transfer Learning)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74671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DC9657-4F99-39D5-731E-80304AC28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IN" sz="2800" b="1">
                <a:solidFill>
                  <a:schemeClr val="bg1"/>
                </a:solidFill>
              </a:rPr>
              <a:t>Model Monitoring (Post-deployment)</a:t>
            </a:r>
            <a:br>
              <a:rPr lang="en-IN" sz="2800" b="1">
                <a:solidFill>
                  <a:schemeClr val="bg1"/>
                </a:solidFill>
              </a:rPr>
            </a:br>
            <a:endParaRPr lang="en-IN" sz="28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B61B4-3E4E-9E4E-6A32-4EFBCA0E2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r>
              <a:rPr lang="en-IN" sz="2400" b="1"/>
              <a:t>Used in industry production systems</a:t>
            </a:r>
            <a:endParaRPr lang="en-IN" sz="2400"/>
          </a:p>
          <a:p>
            <a:r>
              <a:rPr lang="en-IN" sz="2400"/>
              <a:t> Monitor:</a:t>
            </a:r>
          </a:p>
          <a:p>
            <a:pPr lvl="1"/>
            <a:r>
              <a:rPr lang="en-IN" dirty="0"/>
              <a:t>Input drift</a:t>
            </a:r>
          </a:p>
          <a:p>
            <a:pPr lvl="1"/>
            <a:r>
              <a:rPr lang="en-IN" dirty="0"/>
              <a:t>Output drift</a:t>
            </a:r>
          </a:p>
          <a:p>
            <a:pPr lvl="1"/>
            <a:r>
              <a:rPr lang="en-IN" dirty="0"/>
              <a:t>Real-time accuracy</a:t>
            </a:r>
          </a:p>
          <a:p>
            <a:r>
              <a:rPr lang="en-IN" sz="2400"/>
              <a:t> Re-train regularly on new data</a:t>
            </a:r>
          </a:p>
          <a:p>
            <a:r>
              <a:rPr lang="en-IN" sz="2400"/>
              <a:t> A/B testing for model upgrades</a:t>
            </a:r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152954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8229D9-8D34-373D-F86F-3BABAF93A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US" sz="3600" b="1">
                <a:solidFill>
                  <a:schemeClr val="bg1"/>
                </a:solidFill>
              </a:rPr>
              <a:t>Extra: Deep Learning Specific</a:t>
            </a:r>
            <a:br>
              <a:rPr lang="en-US" sz="3600" b="1">
                <a:solidFill>
                  <a:schemeClr val="bg1"/>
                </a:solidFill>
              </a:rPr>
            </a:br>
            <a:endParaRPr lang="en-IN" sz="36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62AB4C-0DA5-118A-AD62-E0A3CFFEE6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1920863"/>
              </p:ext>
            </p:extLst>
          </p:nvPr>
        </p:nvGraphicFramePr>
        <p:xfrm>
          <a:off x="4648871" y="637762"/>
          <a:ext cx="6396484" cy="5576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792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32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A1B1A5-3E35-0FEA-611E-4C9D58A6F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0960" y="643467"/>
            <a:ext cx="9458959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943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461</Words>
  <Application>Microsoft Office PowerPoint</Application>
  <PresentationFormat>Widescreen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Unicode MS</vt:lpstr>
      <vt:lpstr>Aptos</vt:lpstr>
      <vt:lpstr>Aptos Display</vt:lpstr>
      <vt:lpstr>Arial</vt:lpstr>
      <vt:lpstr>Office Theme</vt:lpstr>
      <vt:lpstr>Increasing model performance</vt:lpstr>
      <vt:lpstr>1. Data Quality &amp; Preprocessing</vt:lpstr>
      <vt:lpstr>Feature Engineering </vt:lpstr>
      <vt:lpstr>Feature Selection </vt:lpstr>
      <vt:lpstr>Model Choice &amp; Complexity </vt:lpstr>
      <vt:lpstr>Hyperparameter Tuning </vt:lpstr>
      <vt:lpstr>Regularization </vt:lpstr>
      <vt:lpstr>Cross-Validation </vt:lpstr>
      <vt:lpstr>Ensemble Learning </vt:lpstr>
      <vt:lpstr>Training Data Volume </vt:lpstr>
      <vt:lpstr>Model Monitoring (Post-deployment) </vt:lpstr>
      <vt:lpstr>Extra: Deep Learning Specific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1</cp:revision>
  <dcterms:created xsi:type="dcterms:W3CDTF">2025-07-01T12:58:26Z</dcterms:created>
  <dcterms:modified xsi:type="dcterms:W3CDTF">2025-07-01T13:23:36Z</dcterms:modified>
</cp:coreProperties>
</file>