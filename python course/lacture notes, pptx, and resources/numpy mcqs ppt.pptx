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3" r:id="rId4"/>
    <p:sldId id="264" r:id="rId5"/>
    <p:sldId id="258" r:id="rId6"/>
    <p:sldId id="262" r:id="rId7"/>
    <p:sldId id="260" r:id="rId8"/>
    <p:sldId id="266" r:id="rId9"/>
    <p:sldId id="275" r:id="rId10"/>
    <p:sldId id="274" r:id="rId11"/>
    <p:sldId id="273" r:id="rId12"/>
    <p:sldId id="272" r:id="rId13"/>
    <p:sldId id="271" r:id="rId14"/>
    <p:sldId id="270" r:id="rId15"/>
    <p:sldId id="269" r:id="rId16"/>
    <p:sldId id="268" r:id="rId17"/>
    <p:sldId id="267" r:id="rId18"/>
    <p:sldId id="276" r:id="rId19"/>
    <p:sldId id="279" r:id="rId20"/>
    <p:sldId id="278" r:id="rId21"/>
    <p:sldId id="277" r:id="rId22"/>
    <p:sldId id="281" r:id="rId23"/>
    <p:sldId id="280" r:id="rId24"/>
    <p:sldId id="282" r:id="rId25"/>
    <p:sldId id="283" r:id="rId26"/>
    <p:sldId id="284" r:id="rId27"/>
    <p:sldId id="287" r:id="rId28"/>
    <p:sldId id="285" r:id="rId29"/>
    <p:sldId id="286" r:id="rId30"/>
    <p:sldId id="292" r:id="rId31"/>
    <p:sldId id="293" r:id="rId32"/>
    <p:sldId id="294" r:id="rId33"/>
    <p:sldId id="295" r:id="rId34"/>
    <p:sldId id="296" r:id="rId35"/>
    <p:sldId id="298" r:id="rId36"/>
    <p:sldId id="297" r:id="rId37"/>
    <p:sldId id="29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87EBB1-4073-43D1-ACB8-C501649B020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D96608-576D-4189-B779-74BB94B66F6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Which function flattens a multi-dimensional array into 1D?</a:t>
          </a:r>
          <a:endParaRPr lang="en-US" dirty="0"/>
        </a:p>
      </dgm:t>
    </dgm:pt>
    <dgm:pt modelId="{2AABE703-7FD0-4FD8-A093-DC672D9EC105}" type="parTrans" cxnId="{9FE7C720-3C10-4B85-9242-418FFE26C074}">
      <dgm:prSet/>
      <dgm:spPr/>
      <dgm:t>
        <a:bodyPr/>
        <a:lstStyle/>
        <a:p>
          <a:endParaRPr lang="en-US"/>
        </a:p>
      </dgm:t>
    </dgm:pt>
    <dgm:pt modelId="{2B934C6C-EBC1-4FC9-AAA2-03C85FDC5A9F}" type="sibTrans" cxnId="{9FE7C720-3C10-4B85-9242-418FFE26C074}">
      <dgm:prSet/>
      <dgm:spPr/>
      <dgm:t>
        <a:bodyPr/>
        <a:lstStyle/>
        <a:p>
          <a:endParaRPr lang="en-US"/>
        </a:p>
      </dgm:t>
    </dgm:pt>
    <dgm:pt modelId="{98ABF89E-0861-4FB2-B805-F336643C3B6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A) flatten()</a:t>
          </a:r>
          <a:br>
            <a:rPr lang="en-IN" dirty="0"/>
          </a:br>
          <a:r>
            <a:rPr lang="en-IN" dirty="0"/>
            <a:t>B) ravel()</a:t>
          </a:r>
          <a:br>
            <a:rPr lang="en-IN" dirty="0"/>
          </a:br>
          <a:r>
            <a:rPr lang="en-IN" dirty="0"/>
            <a:t>C) reshape(-1)</a:t>
          </a:r>
          <a:br>
            <a:rPr lang="en-IN" dirty="0"/>
          </a:br>
          <a:r>
            <a:rPr lang="en-IN" dirty="0"/>
            <a:t>D) All of the above</a:t>
          </a:r>
          <a:endParaRPr lang="en-US" dirty="0"/>
        </a:p>
      </dgm:t>
    </dgm:pt>
    <dgm:pt modelId="{8EA10741-82FE-4B82-BA7E-F869E4245766}" type="parTrans" cxnId="{3D95576B-67CA-442F-AFB9-961718DBE30A}">
      <dgm:prSet/>
      <dgm:spPr/>
      <dgm:t>
        <a:bodyPr/>
        <a:lstStyle/>
        <a:p>
          <a:endParaRPr lang="en-US"/>
        </a:p>
      </dgm:t>
    </dgm:pt>
    <dgm:pt modelId="{2B5FCB48-5CE9-4A89-8F11-755DBD70BF61}" type="sibTrans" cxnId="{3D95576B-67CA-442F-AFB9-961718DBE30A}">
      <dgm:prSet/>
      <dgm:spPr/>
      <dgm:t>
        <a:bodyPr/>
        <a:lstStyle/>
        <a:p>
          <a:endParaRPr lang="en-US"/>
        </a:p>
      </dgm:t>
    </dgm:pt>
    <dgm:pt modelId="{376E29DD-A21C-4AAD-AC33-C960575D3109}" type="pres">
      <dgm:prSet presAssocID="{8F87EBB1-4073-43D1-ACB8-C501649B0202}" presName="root" presStyleCnt="0">
        <dgm:presLayoutVars>
          <dgm:dir/>
          <dgm:resizeHandles val="exact"/>
        </dgm:presLayoutVars>
      </dgm:prSet>
      <dgm:spPr/>
    </dgm:pt>
    <dgm:pt modelId="{AD764406-884C-49F4-9BD5-9A861BC61B3E}" type="pres">
      <dgm:prSet presAssocID="{F3D96608-576D-4189-B779-74BB94B66F69}" presName="compNode" presStyleCnt="0"/>
      <dgm:spPr/>
    </dgm:pt>
    <dgm:pt modelId="{8C6ECDFE-4AD7-43B8-8987-1E827E3B00FA}" type="pres">
      <dgm:prSet presAssocID="{F3D96608-576D-4189-B779-74BB94B66F69}" presName="bgRect" presStyleLbl="bgShp" presStyleIdx="0" presStyleCnt="2"/>
      <dgm:spPr/>
    </dgm:pt>
    <dgm:pt modelId="{54CCB765-583B-4862-A4AA-F197F56796C2}" type="pres">
      <dgm:prSet presAssocID="{F3D96608-576D-4189-B779-74BB94B66F6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ttens"/>
        </a:ext>
      </dgm:extLst>
    </dgm:pt>
    <dgm:pt modelId="{A6B11876-F9D7-4A01-AF09-8110BD7529CD}" type="pres">
      <dgm:prSet presAssocID="{F3D96608-576D-4189-B779-74BB94B66F69}" presName="spaceRect" presStyleCnt="0"/>
      <dgm:spPr/>
    </dgm:pt>
    <dgm:pt modelId="{2E438FB4-01DC-41DD-8A3E-2A45DED68CE9}" type="pres">
      <dgm:prSet presAssocID="{F3D96608-576D-4189-B779-74BB94B66F69}" presName="parTx" presStyleLbl="revTx" presStyleIdx="0" presStyleCnt="2">
        <dgm:presLayoutVars>
          <dgm:chMax val="0"/>
          <dgm:chPref val="0"/>
        </dgm:presLayoutVars>
      </dgm:prSet>
      <dgm:spPr/>
    </dgm:pt>
    <dgm:pt modelId="{9B4DF119-150B-4B57-AA45-FB8E037B576A}" type="pres">
      <dgm:prSet presAssocID="{2B934C6C-EBC1-4FC9-AAA2-03C85FDC5A9F}" presName="sibTrans" presStyleCnt="0"/>
      <dgm:spPr/>
    </dgm:pt>
    <dgm:pt modelId="{53F5A0F5-3956-4545-A1F5-CE05C350EAA3}" type="pres">
      <dgm:prSet presAssocID="{98ABF89E-0861-4FB2-B805-F336643C3B69}" presName="compNode" presStyleCnt="0"/>
      <dgm:spPr/>
    </dgm:pt>
    <dgm:pt modelId="{2D83FA13-9A08-401D-9956-2FF1DEC6CB95}" type="pres">
      <dgm:prSet presAssocID="{98ABF89E-0861-4FB2-B805-F336643C3B69}" presName="bgRect" presStyleLbl="bgShp" presStyleIdx="1" presStyleCnt="2"/>
      <dgm:spPr/>
    </dgm:pt>
    <dgm:pt modelId="{8F48E362-615A-49F5-B73D-2C78B70051AF}" type="pres">
      <dgm:prSet presAssocID="{98ABF89E-0861-4FB2-B805-F336643C3B6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5D60290-903A-4693-8437-85D616D9772F}" type="pres">
      <dgm:prSet presAssocID="{98ABF89E-0861-4FB2-B805-F336643C3B69}" presName="spaceRect" presStyleCnt="0"/>
      <dgm:spPr/>
    </dgm:pt>
    <dgm:pt modelId="{E087D6B0-9429-4CED-91D3-431E87F2D4AD}" type="pres">
      <dgm:prSet presAssocID="{98ABF89E-0861-4FB2-B805-F336643C3B6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FE7C720-3C10-4B85-9242-418FFE26C074}" srcId="{8F87EBB1-4073-43D1-ACB8-C501649B0202}" destId="{F3D96608-576D-4189-B779-74BB94B66F69}" srcOrd="0" destOrd="0" parTransId="{2AABE703-7FD0-4FD8-A093-DC672D9EC105}" sibTransId="{2B934C6C-EBC1-4FC9-AAA2-03C85FDC5A9F}"/>
    <dgm:cxn modelId="{56CA5561-B37C-411D-9BAF-E861A98C622A}" type="presOf" srcId="{F3D96608-576D-4189-B779-74BB94B66F69}" destId="{2E438FB4-01DC-41DD-8A3E-2A45DED68CE9}" srcOrd="0" destOrd="0" presId="urn:microsoft.com/office/officeart/2018/2/layout/IconVerticalSolidList"/>
    <dgm:cxn modelId="{3D95576B-67CA-442F-AFB9-961718DBE30A}" srcId="{8F87EBB1-4073-43D1-ACB8-C501649B0202}" destId="{98ABF89E-0861-4FB2-B805-F336643C3B69}" srcOrd="1" destOrd="0" parTransId="{8EA10741-82FE-4B82-BA7E-F869E4245766}" sibTransId="{2B5FCB48-5CE9-4A89-8F11-755DBD70BF61}"/>
    <dgm:cxn modelId="{C0E6BCCF-4A5E-40E5-AA56-1A5CE980E544}" type="presOf" srcId="{98ABF89E-0861-4FB2-B805-F336643C3B69}" destId="{E087D6B0-9429-4CED-91D3-431E87F2D4AD}" srcOrd="0" destOrd="0" presId="urn:microsoft.com/office/officeart/2018/2/layout/IconVerticalSolidList"/>
    <dgm:cxn modelId="{B2FAC8E3-162B-41B8-B38B-6A4C4C559D2C}" type="presOf" srcId="{8F87EBB1-4073-43D1-ACB8-C501649B0202}" destId="{376E29DD-A21C-4AAD-AC33-C960575D3109}" srcOrd="0" destOrd="0" presId="urn:microsoft.com/office/officeart/2018/2/layout/IconVerticalSolidList"/>
    <dgm:cxn modelId="{C68C51E5-3449-4CFD-BD01-B7C95E73EBDE}" type="presParOf" srcId="{376E29DD-A21C-4AAD-AC33-C960575D3109}" destId="{AD764406-884C-49F4-9BD5-9A861BC61B3E}" srcOrd="0" destOrd="0" presId="urn:microsoft.com/office/officeart/2018/2/layout/IconVerticalSolidList"/>
    <dgm:cxn modelId="{12ECF59F-AD53-49AE-8315-3B934E8FAF35}" type="presParOf" srcId="{AD764406-884C-49F4-9BD5-9A861BC61B3E}" destId="{8C6ECDFE-4AD7-43B8-8987-1E827E3B00FA}" srcOrd="0" destOrd="0" presId="urn:microsoft.com/office/officeart/2018/2/layout/IconVerticalSolidList"/>
    <dgm:cxn modelId="{A1AFE5C6-D5F9-459A-8A40-AEB7FBD82C99}" type="presParOf" srcId="{AD764406-884C-49F4-9BD5-9A861BC61B3E}" destId="{54CCB765-583B-4862-A4AA-F197F56796C2}" srcOrd="1" destOrd="0" presId="urn:microsoft.com/office/officeart/2018/2/layout/IconVerticalSolidList"/>
    <dgm:cxn modelId="{A58A9813-1704-4585-AF69-879B96CD2BBF}" type="presParOf" srcId="{AD764406-884C-49F4-9BD5-9A861BC61B3E}" destId="{A6B11876-F9D7-4A01-AF09-8110BD7529CD}" srcOrd="2" destOrd="0" presId="urn:microsoft.com/office/officeart/2018/2/layout/IconVerticalSolidList"/>
    <dgm:cxn modelId="{CE6C1110-EA42-49AC-A3A1-85D8574AEDB0}" type="presParOf" srcId="{AD764406-884C-49F4-9BD5-9A861BC61B3E}" destId="{2E438FB4-01DC-41DD-8A3E-2A45DED68CE9}" srcOrd="3" destOrd="0" presId="urn:microsoft.com/office/officeart/2018/2/layout/IconVerticalSolidList"/>
    <dgm:cxn modelId="{088C3E87-7D7E-434E-8B90-CBAFF2C5FAB5}" type="presParOf" srcId="{376E29DD-A21C-4AAD-AC33-C960575D3109}" destId="{9B4DF119-150B-4B57-AA45-FB8E037B576A}" srcOrd="1" destOrd="0" presId="urn:microsoft.com/office/officeart/2018/2/layout/IconVerticalSolidList"/>
    <dgm:cxn modelId="{FD55993C-36AC-4F24-ADF7-FE59675BF819}" type="presParOf" srcId="{376E29DD-A21C-4AAD-AC33-C960575D3109}" destId="{53F5A0F5-3956-4545-A1F5-CE05C350EAA3}" srcOrd="2" destOrd="0" presId="urn:microsoft.com/office/officeart/2018/2/layout/IconVerticalSolidList"/>
    <dgm:cxn modelId="{C57CD72B-48D3-4E59-BB76-590F4C575B9C}" type="presParOf" srcId="{53F5A0F5-3956-4545-A1F5-CE05C350EAA3}" destId="{2D83FA13-9A08-401D-9956-2FF1DEC6CB95}" srcOrd="0" destOrd="0" presId="urn:microsoft.com/office/officeart/2018/2/layout/IconVerticalSolidList"/>
    <dgm:cxn modelId="{FF4CD8F7-EB83-4777-9140-08649FA98862}" type="presParOf" srcId="{53F5A0F5-3956-4545-A1F5-CE05C350EAA3}" destId="{8F48E362-615A-49F5-B73D-2C78B70051AF}" srcOrd="1" destOrd="0" presId="urn:microsoft.com/office/officeart/2018/2/layout/IconVerticalSolidList"/>
    <dgm:cxn modelId="{8ADEFCD1-39E6-45D0-A92C-F5F20999D180}" type="presParOf" srcId="{53F5A0F5-3956-4545-A1F5-CE05C350EAA3}" destId="{25D60290-903A-4693-8437-85D616D9772F}" srcOrd="2" destOrd="0" presId="urn:microsoft.com/office/officeart/2018/2/layout/IconVerticalSolidList"/>
    <dgm:cxn modelId="{92526692-B816-4E88-8A7A-DE51234ABA2A}" type="presParOf" srcId="{53F5A0F5-3956-4545-A1F5-CE05C350EAA3}" destId="{E087D6B0-9429-4CED-91D3-431E87F2D4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6ECDFE-4AD7-43B8-8987-1E827E3B00FA}">
      <dsp:nvSpPr>
        <dsp:cNvPr id="0" name=""/>
        <dsp:cNvSpPr/>
      </dsp:nvSpPr>
      <dsp:spPr>
        <a:xfrm>
          <a:off x="0" y="771016"/>
          <a:ext cx="10515600" cy="14234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CCB765-583B-4862-A4AA-F197F56796C2}">
      <dsp:nvSpPr>
        <dsp:cNvPr id="0" name=""/>
        <dsp:cNvSpPr/>
      </dsp:nvSpPr>
      <dsp:spPr>
        <a:xfrm>
          <a:off x="430583" y="1091285"/>
          <a:ext cx="782878" cy="7828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38FB4-01DC-41DD-8A3E-2A45DED68CE9}">
      <dsp:nvSpPr>
        <dsp:cNvPr id="0" name=""/>
        <dsp:cNvSpPr/>
      </dsp:nvSpPr>
      <dsp:spPr>
        <a:xfrm>
          <a:off x="1644045" y="771016"/>
          <a:ext cx="8871554" cy="1423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645" tIns="150645" rIns="150645" bIns="15064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Which function flattens a multi-dimensional array into 1D?</a:t>
          </a:r>
          <a:endParaRPr lang="en-US" sz="1800" kern="1200" dirty="0"/>
        </a:p>
      </dsp:txBody>
      <dsp:txXfrm>
        <a:off x="1644045" y="771016"/>
        <a:ext cx="8871554" cy="1423416"/>
      </dsp:txXfrm>
    </dsp:sp>
    <dsp:sp modelId="{2D83FA13-9A08-401D-9956-2FF1DEC6CB95}">
      <dsp:nvSpPr>
        <dsp:cNvPr id="0" name=""/>
        <dsp:cNvSpPr/>
      </dsp:nvSpPr>
      <dsp:spPr>
        <a:xfrm>
          <a:off x="0" y="2550286"/>
          <a:ext cx="10515600" cy="14234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48E362-615A-49F5-B73D-2C78B70051AF}">
      <dsp:nvSpPr>
        <dsp:cNvPr id="0" name=""/>
        <dsp:cNvSpPr/>
      </dsp:nvSpPr>
      <dsp:spPr>
        <a:xfrm>
          <a:off x="430583" y="2870555"/>
          <a:ext cx="782878" cy="7828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87D6B0-9429-4CED-91D3-431E87F2D4AD}">
      <dsp:nvSpPr>
        <dsp:cNvPr id="0" name=""/>
        <dsp:cNvSpPr/>
      </dsp:nvSpPr>
      <dsp:spPr>
        <a:xfrm>
          <a:off x="1644045" y="2550286"/>
          <a:ext cx="8871554" cy="1423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645" tIns="150645" rIns="150645" bIns="15064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A) flatten()</a:t>
          </a:r>
          <a:br>
            <a:rPr lang="en-IN" sz="1800" kern="1200" dirty="0"/>
          </a:br>
          <a:r>
            <a:rPr lang="en-IN" sz="1800" kern="1200" dirty="0"/>
            <a:t>B) ravel()</a:t>
          </a:r>
          <a:br>
            <a:rPr lang="en-IN" sz="1800" kern="1200" dirty="0"/>
          </a:br>
          <a:r>
            <a:rPr lang="en-IN" sz="1800" kern="1200" dirty="0"/>
            <a:t>C) reshape(-1)</a:t>
          </a:r>
          <a:br>
            <a:rPr lang="en-IN" sz="1800" kern="1200" dirty="0"/>
          </a:br>
          <a:r>
            <a:rPr lang="en-IN" sz="1800" kern="1200" dirty="0"/>
            <a:t>D) All of the above</a:t>
          </a:r>
          <a:endParaRPr lang="en-US" sz="1800" kern="1200" dirty="0"/>
        </a:p>
      </dsp:txBody>
      <dsp:txXfrm>
        <a:off x="1644045" y="2550286"/>
        <a:ext cx="8871554" cy="14234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F832-3810-CEBF-831A-04C0FCE5E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44D6D-3099-A121-DCBB-89065DC74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12E8F-0A27-5C3E-37B8-DC64E6843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4FA-53FF-4A1B-8B16-0C4A53A3F50A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7E05A-FAA2-7574-9952-6B4C3662B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2807A-800D-D265-F70E-FE79D7EA4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9929-3CC8-498D-B1D6-7393B95C7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128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6C738-466F-D1AC-2328-BFC59CD8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20711-64F7-E35F-AC7C-6DCB198D5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3A40D-6BD8-7871-A54F-52D57C9AB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4FA-53FF-4A1B-8B16-0C4A53A3F50A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D905F-D17A-F0E4-49CF-45F899B44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81955-4EFD-D2E9-9697-56E43AE5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9929-3CC8-498D-B1D6-7393B95C7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35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8975C-F4B0-92D5-6D74-AC034557B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F2392-B829-550F-6C51-671706E50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4D15D-E320-FBF8-2BA2-0CCBC3E15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4FA-53FF-4A1B-8B16-0C4A53A3F50A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94AE0-C6A7-80C5-6F1A-ADD218C5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0E58E-D869-5121-799C-D68BE4E1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9929-3CC8-498D-B1D6-7393B95C7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78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7DC01-F3E4-04F8-1E3B-6CEDE339D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673DF-0192-D1EF-D6A1-CBF202E60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C7F9D-4D16-E712-CC23-676F40840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D8DFF-6B8A-5289-A56E-CDC95C9F7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4FA-53FF-4A1B-8B16-0C4A53A3F50A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FC8B1-5925-85CB-BA16-7A5080082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97E80-EF7D-D884-98F0-D161B1D9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9929-3CC8-498D-B1D6-7393B95C7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20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0CC52-3B28-DFB6-1504-AFB6FF460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7444D-46F1-CC5C-B9A1-FB136971A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B69E9-DEE3-17B6-3916-F6CCFB4CC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0EA920-FEA8-521F-7EA4-02E4F041D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50D26D-DFDE-2A1F-AB4D-14AA37494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4D2821-0963-D89C-599E-7ADDC0D3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4FA-53FF-4A1B-8B16-0C4A53A3F50A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E93B2C-17B1-3A2A-CC6F-B195B8854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75BAB8-65DF-6DE4-BF41-FB0A0BB2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9929-3CC8-498D-B1D6-7393B95C7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99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9EC02-62AE-34EE-08B9-91F0FDCE3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44B66F-544E-C0BA-2261-544B81BF5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4FA-53FF-4A1B-8B16-0C4A53A3F50A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2DDFA0-9FD3-882E-D721-3243F3AC2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A0E33-A411-53EE-4BF5-0337EE14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9929-3CC8-498D-B1D6-7393B95C7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803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785A16-BE72-095B-1F80-E16B27F66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4FA-53FF-4A1B-8B16-0C4A53A3F50A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1565F-1B74-9A7C-C2EE-8596667E5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1DAAD-1D0E-DBD3-3C4A-09E5E1BD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9929-3CC8-498D-B1D6-7393B95C7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501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2294A-D0A3-7F4F-1904-E680A68FB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92A27-1C23-2024-4EB5-12E03EDF6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B871A-D89E-AB4E-0997-EC78685B8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1E202-3BF7-DBA0-3CCA-7B438727A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4FA-53FF-4A1B-8B16-0C4A53A3F50A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2B28D-BC5F-C8F0-C924-2F382271B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45BC2-6108-1543-BBEE-1FFBF185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9929-3CC8-498D-B1D6-7393B95C7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501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CA7A-F059-20A5-D851-FF0B634A7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4558E-8DF5-5426-6FAE-2E9EACFBE9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84292-C1E5-62EB-0D3A-A84BF1FB3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C13A9-D109-8500-9B20-ABBA82BCA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4FA-53FF-4A1B-8B16-0C4A53A3F50A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CA302-6773-8E65-1502-90C5D67E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190C7-9A53-17CD-3F5C-94C762F4D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9929-3CC8-498D-B1D6-7393B95C7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492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7022-EC40-E2EF-238B-EFBED3F9E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B6434-A6F1-7E99-1BAE-B9C60ED91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F3F32-EF93-9C00-5DC3-5A87D8A32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4FA-53FF-4A1B-8B16-0C4A53A3F50A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F3A1D-AEE5-25F7-5428-89BD54AAE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22A5E-E60A-2545-D42D-C46070D0F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9929-3CC8-498D-B1D6-7393B95C7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620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7683D1-0A26-E902-3E8A-452117E20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98D8EA-E6C0-59C3-FB18-3AD7F3438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D56FC-ADCB-78AD-8E0A-1D69DE646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D4FA-53FF-4A1B-8B16-0C4A53A3F50A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86D57-5C68-8F06-B295-C3AF317C8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70D25-9F30-90F0-7F08-C0F56332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9929-3CC8-498D-B1D6-7393B95C7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248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3A0E83-0BEE-2507-41B9-5572894D7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1393B-927E-1CF1-390A-0EF493E77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2A206-BA17-84F1-C42F-05BF42F44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5D4FA-53FF-4A1B-8B16-0C4A53A3F50A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043CE-26A6-18C2-C3DC-12F86567E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F69BC-945F-681F-1E96-28294B496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59929-3CC8-498D-B1D6-7393B95C71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086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8E72EB-F53A-E4F1-EBF9-402928AC8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609" y="679731"/>
            <a:ext cx="4171994" cy="3736540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NumPy mcqs</a:t>
            </a:r>
            <a:br>
              <a:rPr lang="en-IN" dirty="0"/>
            </a:b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C02F7-2029-6115-85F6-B6F242B23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609" y="4685288"/>
            <a:ext cx="4171994" cy="1035781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Created by: Mahipal Singh</a:t>
            </a:r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68BF15DA-DB4E-D176-6030-1FF60AD74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0572" y="569297"/>
            <a:ext cx="5608830" cy="560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2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A099C-3BEA-C31A-676D-B3EF7F2D6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dirty="0"/>
              <a:t>import </a:t>
            </a:r>
            <a:r>
              <a:rPr lang="en-IN" sz="2400" dirty="0" err="1"/>
              <a:t>numpy</a:t>
            </a:r>
            <a:r>
              <a:rPr lang="en-IN" sz="2400" dirty="0"/>
              <a:t> as np  </a:t>
            </a:r>
          </a:p>
          <a:p>
            <a:pPr marL="0" indent="0">
              <a:buNone/>
            </a:pPr>
            <a:r>
              <a:rPr lang="en-IN" sz="2400" dirty="0"/>
              <a:t>a = </a:t>
            </a:r>
            <a:r>
              <a:rPr lang="en-IN" sz="2400" dirty="0" err="1"/>
              <a:t>np.array</a:t>
            </a:r>
            <a:r>
              <a:rPr lang="en-IN" sz="2400" dirty="0"/>
              <a:t>([[1, 2], [3, 4]])</a:t>
            </a:r>
          </a:p>
          <a:p>
            <a:pPr marL="0" indent="0">
              <a:buNone/>
            </a:pPr>
            <a:r>
              <a:rPr lang="en-IN" sz="2400" dirty="0"/>
              <a:t>print(a[:,1][1])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A) 2</a:t>
            </a:r>
            <a:br>
              <a:rPr lang="en-IN" sz="2400" dirty="0"/>
            </a:br>
            <a:r>
              <a:rPr lang="en-IN" sz="2400" dirty="0"/>
              <a:t>B) 3</a:t>
            </a:r>
            <a:br>
              <a:rPr lang="en-IN" sz="2400" dirty="0"/>
            </a:br>
            <a:r>
              <a:rPr lang="en-IN" sz="2400" dirty="0"/>
              <a:t>C) 4</a:t>
            </a:r>
            <a:br>
              <a:rPr lang="en-IN" sz="2400" dirty="0"/>
            </a:br>
            <a:r>
              <a:rPr lang="en-IN" sz="2400" dirty="0"/>
              <a:t>D) </a:t>
            </a:r>
            <a:r>
              <a:rPr lang="en-IN" sz="2400" dirty="0" err="1"/>
              <a:t>IndexError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87415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385B8-3F16-1B50-BDBE-F22EB63C8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666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sz="1200" dirty="0"/>
              <a:t>Option C</a:t>
            </a:r>
          </a:p>
        </p:txBody>
      </p:sp>
    </p:spTree>
    <p:extLst>
      <p:ext uri="{BB962C8B-B14F-4D97-AF65-F5344CB8AC3E}">
        <p14:creationId xmlns:p14="http://schemas.microsoft.com/office/powerpoint/2010/main" val="155714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89D5-FFDC-E7EB-A812-953639BC9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IN" sz="2400" b="1"/>
              <a:t>2. Which of the following NumPy operations will give a deep copy of an array?</a:t>
            </a:r>
            <a:endParaRPr lang="en-IN" sz="2400"/>
          </a:p>
          <a:p>
            <a:r>
              <a:rPr lang="en-IN" sz="2400"/>
              <a:t>A) arr.copy()</a:t>
            </a:r>
            <a:br>
              <a:rPr lang="en-IN" sz="2400"/>
            </a:br>
            <a:r>
              <a:rPr lang="en-IN" sz="2400"/>
              <a:t>B) arr[:]</a:t>
            </a:r>
            <a:br>
              <a:rPr lang="en-IN" sz="2400"/>
            </a:br>
            <a:r>
              <a:rPr lang="en-IN" sz="2400"/>
              <a:t>C) arr.view()</a:t>
            </a:r>
            <a:br>
              <a:rPr lang="en-IN" sz="2400"/>
            </a:br>
            <a:r>
              <a:rPr lang="en-IN" sz="2400"/>
              <a:t>D) arr.reshape()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363877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B6E02-C494-D492-A316-F909811B9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400" b="1" dirty="0"/>
              <a:t>Answer:</a:t>
            </a:r>
            <a:r>
              <a:rPr lang="en-IN" sz="1400" dirty="0"/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1693624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C44CA-2ABE-0CD3-C405-84E77498B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IN" sz="2400" b="1" dirty="0"/>
              <a:t>3. What will </a:t>
            </a:r>
            <a:r>
              <a:rPr lang="en-IN" sz="2400" b="1" dirty="0" err="1"/>
              <a:t>np.arange</a:t>
            </a:r>
            <a:r>
              <a:rPr lang="en-IN" sz="2400" b="1" dirty="0"/>
              <a:t>(1, 10, 2).reshape(3,2) return?</a:t>
            </a:r>
            <a:endParaRPr lang="en-IN" sz="2400" dirty="0"/>
          </a:p>
          <a:p>
            <a:r>
              <a:rPr lang="en-IN" sz="2400" dirty="0"/>
              <a:t>A) A 3x2 array from 1 to 9 with step 2</a:t>
            </a:r>
            <a:br>
              <a:rPr lang="en-IN" sz="2400" dirty="0"/>
            </a:br>
            <a:r>
              <a:rPr lang="en-IN" sz="2400" dirty="0"/>
              <a:t>B) Error</a:t>
            </a:r>
            <a:br>
              <a:rPr lang="en-IN" sz="2400" dirty="0"/>
            </a:br>
            <a:r>
              <a:rPr lang="en-IN" sz="2400" dirty="0"/>
              <a:t>C) A 2x3 matrix</a:t>
            </a:r>
            <a:br>
              <a:rPr lang="en-IN" sz="2400" dirty="0"/>
            </a:br>
            <a:r>
              <a:rPr lang="en-IN" sz="2400" dirty="0"/>
              <a:t>D) [[1, 3], [5, 7], [9, 11]]</a:t>
            </a:r>
          </a:p>
        </p:txBody>
      </p:sp>
    </p:spTree>
    <p:extLst>
      <p:ext uri="{BB962C8B-B14F-4D97-AF65-F5344CB8AC3E}">
        <p14:creationId xmlns:p14="http://schemas.microsoft.com/office/powerpoint/2010/main" val="2509131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F4FCC-57EA-F875-6178-D5C09939F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Answer:</a:t>
            </a:r>
            <a:r>
              <a:rPr lang="en-IN" sz="2000" dirty="0"/>
              <a:t> 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522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6EDFC-7955-33A1-B623-FE082A83C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203079"/>
            <a:ext cx="10143668" cy="3831961"/>
          </a:xfrm>
        </p:spPr>
        <p:txBody>
          <a:bodyPr anchor="ctr">
            <a:normAutofit/>
          </a:bodyPr>
          <a:lstStyle/>
          <a:p>
            <a:r>
              <a:rPr lang="en-IN" sz="2400" b="1" dirty="0"/>
              <a:t>Consider </a:t>
            </a:r>
            <a:r>
              <a:rPr lang="en-IN" sz="2400" b="1" dirty="0" err="1"/>
              <a:t>arr</a:t>
            </a:r>
            <a:r>
              <a:rPr lang="en-IN" sz="2400" b="1" dirty="0"/>
              <a:t> = </a:t>
            </a:r>
            <a:r>
              <a:rPr lang="en-IN" sz="2400" b="1" dirty="0" err="1"/>
              <a:t>np.array</a:t>
            </a:r>
            <a:r>
              <a:rPr lang="en-IN" sz="2400" b="1" dirty="0"/>
              <a:t>([10, 20, 30, 40, 50]). What will </a:t>
            </a:r>
            <a:r>
              <a:rPr lang="en-IN" sz="2400" b="1" dirty="0" err="1"/>
              <a:t>arr</a:t>
            </a:r>
            <a:r>
              <a:rPr lang="en-IN" sz="2400" b="1" dirty="0"/>
              <a:t>[</a:t>
            </a:r>
            <a:r>
              <a:rPr lang="en-IN" sz="2400" b="1" dirty="0" err="1"/>
              <a:t>arr</a:t>
            </a:r>
            <a:r>
              <a:rPr lang="en-IN" sz="2400" b="1" dirty="0"/>
              <a:t> &gt; 30] return?</a:t>
            </a:r>
            <a:endParaRPr lang="en-IN" sz="2400" dirty="0"/>
          </a:p>
          <a:p>
            <a:r>
              <a:rPr lang="en-IN" sz="2400" dirty="0"/>
              <a:t>A) [10 20 30 40 50]</a:t>
            </a:r>
            <a:br>
              <a:rPr lang="en-IN" sz="2400" dirty="0"/>
            </a:br>
            <a:r>
              <a:rPr lang="en-IN" sz="2400" dirty="0"/>
              <a:t>B) [40 50]</a:t>
            </a:r>
            <a:br>
              <a:rPr lang="en-IN" sz="2400" dirty="0"/>
            </a:br>
            <a:r>
              <a:rPr lang="en-IN" sz="2400" dirty="0"/>
              <a:t>C) [30 40 50]</a:t>
            </a:r>
            <a:br>
              <a:rPr lang="en-IN" sz="2400" dirty="0"/>
            </a:br>
            <a:r>
              <a:rPr lang="en-IN" sz="2400" dirty="0"/>
              <a:t>D) [50 40]</a:t>
            </a:r>
          </a:p>
        </p:txBody>
      </p:sp>
    </p:spTree>
    <p:extLst>
      <p:ext uri="{BB962C8B-B14F-4D97-AF65-F5344CB8AC3E}">
        <p14:creationId xmlns:p14="http://schemas.microsoft.com/office/powerpoint/2010/main" val="2219057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FDA47-0FE4-AA13-2BA3-972E62801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Answer:</a:t>
            </a:r>
            <a:r>
              <a:rPr lang="en-IN" sz="2000" dirty="0"/>
              <a:t> 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8210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0BF7B-6827-8D2A-6075-96582D4EA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IN" sz="2400" b="1"/>
              <a:t>Which of the following will create a 3x3 identity matrix?</a:t>
            </a:r>
            <a:endParaRPr lang="en-IN" sz="2400"/>
          </a:p>
          <a:p>
            <a:r>
              <a:rPr lang="en-IN" sz="2400"/>
              <a:t>A) np.eye(3)</a:t>
            </a:r>
            <a:br>
              <a:rPr lang="en-IN" sz="2400"/>
            </a:br>
            <a:r>
              <a:rPr lang="en-IN" sz="2400"/>
              <a:t>B) np.identity(3,3)</a:t>
            </a:r>
            <a:br>
              <a:rPr lang="en-IN" sz="2400"/>
            </a:br>
            <a:r>
              <a:rPr lang="en-IN" sz="2400"/>
              <a:t>C) np.ones((3,3))</a:t>
            </a:r>
            <a:br>
              <a:rPr lang="en-IN" sz="2400"/>
            </a:br>
            <a:r>
              <a:rPr lang="en-IN" sz="2400"/>
              <a:t>D) np.diagonal(3)</a:t>
            </a:r>
          </a:p>
        </p:txBody>
      </p:sp>
    </p:spTree>
    <p:extLst>
      <p:ext uri="{BB962C8B-B14F-4D97-AF65-F5344CB8AC3E}">
        <p14:creationId xmlns:p14="http://schemas.microsoft.com/office/powerpoint/2010/main" val="3818037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75B5E-9847-5974-919E-DE03E01B9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Answer:</a:t>
            </a:r>
            <a:r>
              <a:rPr lang="en-IN" sz="1800" dirty="0"/>
              <a:t> 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7955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84DDD-6126-9131-4132-CA363A48A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b="1" dirty="0"/>
              <a:t>Which of the following statements about NumPy broadcasting is TRUE?</a:t>
            </a:r>
            <a:endParaRPr lang="en-IN" dirty="0"/>
          </a:p>
          <a:p>
            <a:r>
              <a:rPr lang="en-IN" dirty="0"/>
              <a:t>A) It allows operations on arrays of different shapes by automatically expanding them</a:t>
            </a:r>
            <a:br>
              <a:rPr lang="en-IN" dirty="0"/>
            </a:br>
            <a:r>
              <a:rPr lang="en-IN" dirty="0"/>
              <a:t>B) It only works for 1D arrays</a:t>
            </a:r>
            <a:br>
              <a:rPr lang="en-IN" dirty="0"/>
            </a:br>
            <a:r>
              <a:rPr lang="en-IN" dirty="0"/>
              <a:t>C) It disables vectorization</a:t>
            </a:r>
            <a:br>
              <a:rPr lang="en-IN" dirty="0"/>
            </a:br>
            <a:r>
              <a:rPr lang="en-IN" dirty="0"/>
              <a:t>D) It requires reshaping arrays to the same size manually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7038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2061-885A-F265-CCF0-1DAE8311A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Answer:</a:t>
            </a:r>
            <a:r>
              <a:rPr lang="en-IN" sz="1800" dirty="0"/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1679914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BF46B-178B-4EE6-F93D-C22702C3C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b="1" dirty="0"/>
              <a:t>What will be the output of the following code?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a = </a:t>
            </a:r>
            <a:r>
              <a:rPr lang="en-IN" sz="2400" dirty="0" err="1"/>
              <a:t>np.array</a:t>
            </a:r>
            <a:r>
              <a:rPr lang="en-IN" sz="2400" dirty="0"/>
              <a:t>([1, 2, 3, 4])</a:t>
            </a:r>
          </a:p>
          <a:p>
            <a:pPr marL="0" indent="0">
              <a:buNone/>
            </a:pPr>
            <a:r>
              <a:rPr lang="en-IN" sz="2400" dirty="0"/>
              <a:t>print(a[::2])</a:t>
            </a:r>
          </a:p>
          <a:p>
            <a:pPr marL="0" indent="0">
              <a:buNone/>
            </a:pPr>
            <a:r>
              <a:rPr lang="en-IN" sz="2400" dirty="0"/>
              <a:t>A) [1 2 3 4]</a:t>
            </a:r>
            <a:br>
              <a:rPr lang="en-IN" sz="2400" dirty="0"/>
            </a:br>
            <a:r>
              <a:rPr lang="en-IN" sz="2400" dirty="0"/>
              <a:t>B) [1 3]</a:t>
            </a:r>
            <a:br>
              <a:rPr lang="en-IN" sz="2400" dirty="0"/>
            </a:br>
            <a:r>
              <a:rPr lang="en-IN" sz="2400" dirty="0"/>
              <a:t>C) [2 4]</a:t>
            </a:r>
            <a:br>
              <a:rPr lang="en-IN" sz="2400" dirty="0"/>
            </a:br>
            <a:r>
              <a:rPr lang="en-IN" sz="2400" dirty="0"/>
              <a:t>D) [4 2]</a:t>
            </a:r>
          </a:p>
        </p:txBody>
      </p:sp>
    </p:spTree>
    <p:extLst>
      <p:ext uri="{BB962C8B-B14F-4D97-AF65-F5344CB8AC3E}">
        <p14:creationId xmlns:p14="http://schemas.microsoft.com/office/powerpoint/2010/main" val="1506469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FC19B-17FD-0B1B-4454-87F26298B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Answer:</a:t>
            </a:r>
            <a:r>
              <a:rPr lang="en-IN" sz="1800" dirty="0"/>
              <a:t> 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146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27EC5-E439-B118-8049-F6B6FA66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IN" sz="2400" b="1" dirty="0"/>
              <a:t>What does </a:t>
            </a:r>
            <a:r>
              <a:rPr lang="en-IN" sz="2400" b="1" dirty="0" err="1"/>
              <a:t>np.random.randint</a:t>
            </a:r>
            <a:r>
              <a:rPr lang="en-IN" sz="2400" b="1" dirty="0"/>
              <a:t>(1, 5, (2, 2)) return?</a:t>
            </a:r>
            <a:endParaRPr lang="en-IN" sz="2400" dirty="0"/>
          </a:p>
          <a:p>
            <a:r>
              <a:rPr lang="en-IN" sz="2400" dirty="0"/>
              <a:t>A) Array of floats</a:t>
            </a:r>
            <a:br>
              <a:rPr lang="en-IN" sz="2400" dirty="0"/>
            </a:br>
            <a:r>
              <a:rPr lang="en-IN" sz="2400" dirty="0"/>
              <a:t>B) 2x2 array of integers from 1 to 4</a:t>
            </a:r>
            <a:br>
              <a:rPr lang="en-IN" sz="2400" dirty="0"/>
            </a:br>
            <a:r>
              <a:rPr lang="en-IN" sz="2400" dirty="0"/>
              <a:t>C) 2x2 array of integers from 1 to 5</a:t>
            </a:r>
            <a:br>
              <a:rPr lang="en-IN" sz="2400" dirty="0"/>
            </a:br>
            <a:r>
              <a:rPr lang="en-IN" sz="2400" dirty="0"/>
              <a:t>D) Error</a:t>
            </a:r>
          </a:p>
        </p:txBody>
      </p:sp>
    </p:spTree>
    <p:extLst>
      <p:ext uri="{BB962C8B-B14F-4D97-AF65-F5344CB8AC3E}">
        <p14:creationId xmlns:p14="http://schemas.microsoft.com/office/powerpoint/2010/main" val="2788794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5A73B-FF64-B343-9AEA-EACC58715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Answer:</a:t>
            </a:r>
            <a:r>
              <a:rPr lang="en-IN" sz="1800" dirty="0"/>
              <a:t> 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146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61165-8C66-06C6-00C6-A130476EC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2400" b="1"/>
              <a:t>Which of these can reverse both rows and columns in a 2D NumPy array arr?</a:t>
            </a:r>
            <a:endParaRPr lang="en-IN" sz="2400"/>
          </a:p>
          <a:p>
            <a:pPr marL="0" indent="0">
              <a:buNone/>
            </a:pPr>
            <a:r>
              <a:rPr lang="pt-PT" sz="2400"/>
              <a:t>A) arr[::-1]</a:t>
            </a:r>
            <a:br>
              <a:rPr lang="pt-PT" sz="2400"/>
            </a:br>
            <a:r>
              <a:rPr lang="pt-PT" sz="2400"/>
              <a:t>B) arr[::-1, ::-1]</a:t>
            </a:r>
            <a:br>
              <a:rPr lang="pt-PT" sz="2400"/>
            </a:br>
            <a:r>
              <a:rPr lang="pt-PT" sz="2400"/>
              <a:t>C) arr[:, ::-1]</a:t>
            </a:r>
            <a:br>
              <a:rPr lang="pt-PT" sz="2400"/>
            </a:br>
            <a:r>
              <a:rPr lang="pt-PT" sz="2400"/>
              <a:t>D) arr[::-1, :]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13277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DC986-3B8F-0ECD-81B8-06EEBB35F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Answer:</a:t>
            </a:r>
            <a:r>
              <a:rPr lang="en-IN" sz="1800" dirty="0"/>
              <a:t> 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6247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B56C0-FB94-97B5-59CA-EED126F52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b="1" dirty="0"/>
              <a:t>What will </a:t>
            </a:r>
            <a:r>
              <a:rPr lang="en-IN" b="1" dirty="0" err="1"/>
              <a:t>np.linspace</a:t>
            </a:r>
            <a:r>
              <a:rPr lang="en-IN" b="1" dirty="0"/>
              <a:t>(1, 5, 5) return?</a:t>
            </a:r>
            <a:endParaRPr lang="en-IN" dirty="0"/>
          </a:p>
          <a:p>
            <a:r>
              <a:rPr lang="en-IN" dirty="0"/>
              <a:t>A) [1, 2, 3, 4, 5]</a:t>
            </a:r>
            <a:br>
              <a:rPr lang="en-IN" dirty="0"/>
            </a:br>
            <a:r>
              <a:rPr lang="en-IN" dirty="0"/>
              <a:t>B) [1. 2. 3. 4. 5.]</a:t>
            </a:r>
            <a:br>
              <a:rPr lang="en-IN" dirty="0"/>
            </a:br>
            <a:r>
              <a:rPr lang="en-IN" dirty="0"/>
              <a:t>C) [1. , 2. , 2.5, 3. , 4.5]</a:t>
            </a:r>
            <a:br>
              <a:rPr lang="en-IN" dirty="0"/>
            </a:br>
            <a:r>
              <a:rPr lang="en-IN" dirty="0"/>
              <a:t>D) Equal interval values from 1 to 5 (inclusive)</a:t>
            </a:r>
          </a:p>
        </p:txBody>
      </p:sp>
    </p:spTree>
    <p:extLst>
      <p:ext uri="{BB962C8B-B14F-4D97-AF65-F5344CB8AC3E}">
        <p14:creationId xmlns:p14="http://schemas.microsoft.com/office/powerpoint/2010/main" val="2134454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7AEC0-E889-FF78-1C09-0E6FAFC20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Answer:</a:t>
            </a:r>
            <a:r>
              <a:rPr lang="en-IN" sz="1800" dirty="0"/>
              <a:t> 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1974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E1880A-A16E-389B-23EA-2A1100F43F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2872349"/>
              </p:ext>
            </p:extLst>
          </p:nvPr>
        </p:nvGraphicFramePr>
        <p:xfrm>
          <a:off x="838200" y="863601"/>
          <a:ext cx="10515600" cy="4744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2417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6D7DB-9F2B-1411-FEBC-BA785CB79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Answer:</a:t>
            </a:r>
            <a:r>
              <a:rPr lang="en-IN" sz="1800" dirty="0"/>
              <a:t> 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777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81B12-E198-F73B-1AAA-711DB572A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1998369"/>
            <a:ext cx="10143668" cy="4036672"/>
          </a:xfrm>
        </p:spPr>
        <p:txBody>
          <a:bodyPr anchor="ctr">
            <a:normAutofit/>
          </a:bodyPr>
          <a:lstStyle/>
          <a:p>
            <a:r>
              <a:rPr lang="en-IN" sz="2400" b="1" dirty="0"/>
              <a:t>. Which NumPy function can be used to randomly shuffle an array in-place?</a:t>
            </a:r>
            <a:endParaRPr lang="en-IN" sz="2400" dirty="0"/>
          </a:p>
          <a:p>
            <a:r>
              <a:rPr lang="en-IN" sz="2400" dirty="0"/>
              <a:t>A) </a:t>
            </a:r>
            <a:r>
              <a:rPr lang="en-IN" sz="2400" dirty="0" err="1"/>
              <a:t>np.shuffle</a:t>
            </a:r>
            <a:r>
              <a:rPr lang="en-IN" sz="2400" dirty="0"/>
              <a:t>(</a:t>
            </a:r>
            <a:r>
              <a:rPr lang="en-IN" sz="2400" dirty="0" err="1"/>
              <a:t>arr</a:t>
            </a:r>
            <a:r>
              <a:rPr lang="en-IN" sz="2400" dirty="0"/>
              <a:t>)</a:t>
            </a:r>
            <a:br>
              <a:rPr lang="en-IN" sz="2400" dirty="0"/>
            </a:br>
            <a:r>
              <a:rPr lang="en-IN" sz="2400" dirty="0"/>
              <a:t>B) </a:t>
            </a:r>
            <a:r>
              <a:rPr lang="en-IN" sz="2400" dirty="0" err="1"/>
              <a:t>np.random.shuffle</a:t>
            </a:r>
            <a:r>
              <a:rPr lang="en-IN" sz="2400" dirty="0"/>
              <a:t>(</a:t>
            </a:r>
            <a:r>
              <a:rPr lang="en-IN" sz="2400" dirty="0" err="1"/>
              <a:t>arr</a:t>
            </a:r>
            <a:r>
              <a:rPr lang="en-IN" sz="2400" dirty="0"/>
              <a:t>)</a:t>
            </a:r>
            <a:br>
              <a:rPr lang="en-IN" sz="2400" dirty="0"/>
            </a:br>
            <a:r>
              <a:rPr lang="en-IN" sz="2400" dirty="0"/>
              <a:t>C) </a:t>
            </a:r>
            <a:r>
              <a:rPr lang="en-IN" sz="2400" dirty="0" err="1"/>
              <a:t>arr.shuffle</a:t>
            </a:r>
            <a:r>
              <a:rPr lang="en-IN" sz="2400" dirty="0"/>
              <a:t>()</a:t>
            </a:r>
            <a:br>
              <a:rPr lang="en-IN" sz="2400" dirty="0"/>
            </a:br>
            <a:r>
              <a:rPr lang="en-IN" sz="2400" dirty="0"/>
              <a:t>D) </a:t>
            </a:r>
            <a:r>
              <a:rPr lang="en-IN" sz="2400" dirty="0" err="1"/>
              <a:t>np.permutation</a:t>
            </a:r>
            <a:r>
              <a:rPr lang="en-IN" sz="2400" dirty="0"/>
              <a:t>(</a:t>
            </a:r>
            <a:r>
              <a:rPr lang="en-IN" sz="2400" dirty="0" err="1"/>
              <a:t>arr</a:t>
            </a:r>
            <a:r>
              <a:rPr lang="en-IN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9346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C5C34-1C12-002B-D2BB-09A74A439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Answer:</a:t>
            </a:r>
            <a:r>
              <a:rPr lang="en-IN" sz="1800" dirty="0"/>
              <a:t> 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0909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741CB-5912-4C96-F194-418D574C6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IN" sz="2000" b="1"/>
              <a:t>What will be the output?</a:t>
            </a:r>
            <a:endParaRPr lang="en-IN" sz="2000"/>
          </a:p>
          <a:p>
            <a:r>
              <a:rPr lang="en-IN" sz="2000"/>
              <a:t>a = np.array([0, 1, 2, 3])</a:t>
            </a:r>
          </a:p>
          <a:p>
            <a:r>
              <a:rPr lang="en-IN" sz="2000"/>
              <a:t>b = a</a:t>
            </a:r>
          </a:p>
          <a:p>
            <a:r>
              <a:rPr lang="en-IN" sz="2000"/>
              <a:t>b[0] = 100</a:t>
            </a:r>
          </a:p>
          <a:p>
            <a:r>
              <a:rPr lang="en-IN" sz="2000"/>
              <a:t>print(a)</a:t>
            </a:r>
          </a:p>
          <a:p>
            <a:r>
              <a:rPr lang="en-IN" sz="2000"/>
              <a:t>A) [0 1 2 3]</a:t>
            </a:r>
            <a:br>
              <a:rPr lang="en-IN" sz="2000"/>
            </a:br>
            <a:r>
              <a:rPr lang="en-IN" sz="2000"/>
              <a:t>B) [100 1 2 3]</a:t>
            </a:r>
            <a:br>
              <a:rPr lang="en-IN" sz="2000"/>
            </a:br>
            <a:r>
              <a:rPr lang="en-IN" sz="2000"/>
              <a:t>C) [0 1 2 100]</a:t>
            </a:r>
            <a:br>
              <a:rPr lang="en-IN" sz="2000"/>
            </a:br>
            <a:r>
              <a:rPr lang="en-IN" sz="2000"/>
              <a:t>D) Error</a:t>
            </a:r>
          </a:p>
        </p:txBody>
      </p:sp>
    </p:spTree>
    <p:extLst>
      <p:ext uri="{BB962C8B-B14F-4D97-AF65-F5344CB8AC3E}">
        <p14:creationId xmlns:p14="http://schemas.microsoft.com/office/powerpoint/2010/main" val="295566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4610D-7C2E-5DF2-1F15-060F4D128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Answer:</a:t>
            </a:r>
            <a:r>
              <a:rPr lang="en-IN" sz="1800" dirty="0"/>
              <a:t> B</a:t>
            </a:r>
            <a:br>
              <a:rPr lang="en-IN" sz="1800" dirty="0"/>
            </a:br>
            <a:r>
              <a:rPr lang="en-IN" sz="1800" b="1" dirty="0"/>
              <a:t>Reasoning:</a:t>
            </a:r>
            <a:r>
              <a:rPr lang="en-IN" sz="1800" dirty="0"/>
              <a:t> b is a reference to a (not a copy). So changing b changes 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613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19198-2CA3-9892-9FC2-AC3B9386A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1574799"/>
            <a:ext cx="10143668" cy="4460241"/>
          </a:xfrm>
        </p:spPr>
        <p:txBody>
          <a:bodyPr anchor="ctr">
            <a:normAutofit/>
          </a:bodyPr>
          <a:lstStyle/>
          <a:p>
            <a:r>
              <a:rPr lang="en-IN" sz="1700" b="1" dirty="0"/>
              <a:t>Given:</a:t>
            </a:r>
            <a:endParaRPr lang="en-IN" sz="1700" dirty="0"/>
          </a:p>
          <a:p>
            <a:r>
              <a:rPr lang="en-IN" sz="1700" dirty="0"/>
              <a:t>a = </a:t>
            </a:r>
            <a:r>
              <a:rPr lang="en-IN" sz="1700" dirty="0" err="1"/>
              <a:t>np.array</a:t>
            </a:r>
            <a:r>
              <a:rPr lang="en-IN" sz="1700" dirty="0"/>
              <a:t>([[1, 2], [3, 4]])</a:t>
            </a:r>
          </a:p>
          <a:p>
            <a:r>
              <a:rPr lang="en-IN" sz="1700" dirty="0"/>
              <a:t>b = </a:t>
            </a:r>
            <a:r>
              <a:rPr lang="en-IN" sz="1700" dirty="0" err="1"/>
              <a:t>a.T</a:t>
            </a:r>
            <a:endParaRPr lang="en-IN" sz="1700" dirty="0"/>
          </a:p>
          <a:p>
            <a:r>
              <a:rPr lang="en-IN" sz="1700" dirty="0"/>
              <a:t>b[0, 1] = 100</a:t>
            </a:r>
          </a:p>
          <a:p>
            <a:r>
              <a:rPr lang="en-IN" sz="1700" dirty="0"/>
              <a:t>print(a)</a:t>
            </a:r>
          </a:p>
          <a:p>
            <a:r>
              <a:rPr lang="en-IN" sz="1700" dirty="0"/>
              <a:t>What is printed?</a:t>
            </a:r>
          </a:p>
          <a:p>
            <a:r>
              <a:rPr lang="en-IN" sz="1700" dirty="0"/>
              <a:t>A) [[1 2], [3 4]]</a:t>
            </a:r>
            <a:br>
              <a:rPr lang="en-IN" sz="1700" dirty="0"/>
            </a:br>
            <a:r>
              <a:rPr lang="en-IN" sz="1700" dirty="0"/>
              <a:t>B) [[1 100], [3 4]]</a:t>
            </a:r>
            <a:br>
              <a:rPr lang="en-IN" sz="1700" dirty="0"/>
            </a:br>
            <a:r>
              <a:rPr lang="en-IN" sz="1700" dirty="0"/>
              <a:t>C) [[1 2], [3 100]] </a:t>
            </a:r>
            <a:br>
              <a:rPr lang="en-IN" sz="1700" dirty="0"/>
            </a:br>
            <a:r>
              <a:rPr lang="en-IN" sz="1700" dirty="0"/>
              <a:t>D) [[1 2], [100 4]]</a:t>
            </a:r>
          </a:p>
        </p:txBody>
      </p:sp>
    </p:spTree>
    <p:extLst>
      <p:ext uri="{BB962C8B-B14F-4D97-AF65-F5344CB8AC3E}">
        <p14:creationId xmlns:p14="http://schemas.microsoft.com/office/powerpoint/2010/main" val="1533328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B7BCD-1F82-64F4-9527-6E9C3B6D1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Answer:</a:t>
            </a:r>
            <a:r>
              <a:rPr lang="en-IN" sz="1800" dirty="0"/>
              <a:t> D</a:t>
            </a:r>
            <a:br>
              <a:rPr lang="en-IN" sz="1800" dirty="0"/>
            </a:br>
            <a:r>
              <a:rPr lang="en-IN" sz="1800" b="1" dirty="0"/>
              <a:t>Reasoning:</a:t>
            </a:r>
            <a:r>
              <a:rPr lang="en-IN" sz="1800" dirty="0"/>
              <a:t> </a:t>
            </a:r>
            <a:r>
              <a:rPr lang="en-IN" sz="1800" dirty="0" err="1"/>
              <a:t>a.T</a:t>
            </a:r>
            <a:r>
              <a:rPr lang="en-IN" sz="1800" dirty="0"/>
              <a:t> is a view. So b[0,1] modifies a[1,0].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64875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82E66-A623-C49B-6FF2-8873298BD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1887197"/>
            <a:ext cx="10143668" cy="4147844"/>
          </a:xfrm>
        </p:spPr>
        <p:txBody>
          <a:bodyPr anchor="ctr">
            <a:normAutofit/>
          </a:bodyPr>
          <a:lstStyle/>
          <a:p>
            <a:r>
              <a:rPr lang="en-IN" sz="2400" b="1" dirty="0"/>
              <a:t>What does this return?</a:t>
            </a:r>
            <a:endParaRPr lang="en-IN" sz="2400" dirty="0"/>
          </a:p>
          <a:p>
            <a:r>
              <a:rPr lang="en-IN" sz="2400" dirty="0"/>
              <a:t>a = </a:t>
            </a:r>
            <a:r>
              <a:rPr lang="en-IN" sz="2400" dirty="0" err="1"/>
              <a:t>np.array</a:t>
            </a:r>
            <a:r>
              <a:rPr lang="en-IN" sz="2400" dirty="0"/>
              <a:t>([1, 2, 3, 4])</a:t>
            </a:r>
          </a:p>
          <a:p>
            <a:r>
              <a:rPr lang="en-IN" sz="2400" dirty="0"/>
              <a:t>print(a[[True, False, False, True]])</a:t>
            </a:r>
          </a:p>
          <a:p>
            <a:r>
              <a:rPr lang="en-IN" sz="2400" dirty="0"/>
              <a:t>A) [1, 2, 3, 4]</a:t>
            </a:r>
            <a:br>
              <a:rPr lang="en-IN" sz="2400" dirty="0"/>
            </a:br>
            <a:r>
              <a:rPr lang="en-IN" sz="2400" dirty="0"/>
              <a:t>B) [1, 4]</a:t>
            </a:r>
            <a:br>
              <a:rPr lang="en-IN" sz="2400" dirty="0"/>
            </a:br>
            <a:r>
              <a:rPr lang="en-IN" sz="2400" dirty="0"/>
              <a:t>C) [False, True]</a:t>
            </a:r>
            <a:br>
              <a:rPr lang="en-IN" sz="2400" dirty="0"/>
            </a:br>
            <a:r>
              <a:rPr lang="en-IN" sz="2400" dirty="0"/>
              <a:t>D) Error</a:t>
            </a:r>
          </a:p>
        </p:txBody>
      </p:sp>
    </p:spTree>
    <p:extLst>
      <p:ext uri="{BB962C8B-B14F-4D97-AF65-F5344CB8AC3E}">
        <p14:creationId xmlns:p14="http://schemas.microsoft.com/office/powerpoint/2010/main" val="3710026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0C52F-2EBB-6506-6EA6-E7F93E623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Answer:</a:t>
            </a:r>
            <a:r>
              <a:rPr lang="en-IN" sz="1800" dirty="0"/>
              <a:t> B</a:t>
            </a:r>
            <a:br>
              <a:rPr lang="en-IN" sz="1800" dirty="0"/>
            </a:br>
            <a:r>
              <a:rPr lang="en-IN" sz="1800" b="1" dirty="0"/>
              <a:t>Reasoning:</a:t>
            </a:r>
            <a:r>
              <a:rPr lang="en-IN" sz="1800" dirty="0"/>
              <a:t> Boolean indexing keeps values where condition is True.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0372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B3C4-7D07-F3CE-2E55-0AFD8E7B9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1998369"/>
            <a:ext cx="10143668" cy="4036672"/>
          </a:xfrm>
        </p:spPr>
        <p:txBody>
          <a:bodyPr anchor="ctr">
            <a:normAutofit/>
          </a:bodyPr>
          <a:lstStyle/>
          <a:p>
            <a:r>
              <a:rPr lang="en-IN" sz="2400" b="1" dirty="0"/>
              <a:t>What is the output?</a:t>
            </a:r>
            <a:endParaRPr lang="en-IN" sz="2400" dirty="0"/>
          </a:p>
          <a:p>
            <a:r>
              <a:rPr lang="en-IN" sz="2400" dirty="0"/>
              <a:t>a = </a:t>
            </a:r>
            <a:r>
              <a:rPr lang="en-IN" sz="2400" dirty="0" err="1"/>
              <a:t>np.array</a:t>
            </a:r>
            <a:r>
              <a:rPr lang="en-IN" sz="2400" dirty="0"/>
              <a:t>([0, 10, 20, 30, 40])</a:t>
            </a:r>
          </a:p>
          <a:p>
            <a:r>
              <a:rPr lang="en-IN" sz="2400" dirty="0"/>
              <a:t>print(a[::2][::-1])</a:t>
            </a:r>
          </a:p>
          <a:p>
            <a:r>
              <a:rPr lang="en-IN" sz="2400" dirty="0"/>
              <a:t>A) [0, 20, 40]</a:t>
            </a:r>
            <a:br>
              <a:rPr lang="en-IN" sz="2400" dirty="0"/>
            </a:br>
            <a:r>
              <a:rPr lang="en-IN" sz="2400" dirty="0"/>
              <a:t>B) [40, 20, 0]</a:t>
            </a:r>
            <a:br>
              <a:rPr lang="en-IN" sz="2400" dirty="0"/>
            </a:br>
            <a:r>
              <a:rPr lang="en-IN" sz="2400" dirty="0"/>
              <a:t>C) [40, 30, 20]</a:t>
            </a:r>
            <a:br>
              <a:rPr lang="en-IN" sz="2400" dirty="0"/>
            </a:br>
            <a:r>
              <a:rPr lang="en-IN" sz="2400" dirty="0"/>
              <a:t>D) [0, 20, 40, 30, 10]</a:t>
            </a:r>
          </a:p>
        </p:txBody>
      </p:sp>
    </p:spTree>
    <p:extLst>
      <p:ext uri="{BB962C8B-B14F-4D97-AF65-F5344CB8AC3E}">
        <p14:creationId xmlns:p14="http://schemas.microsoft.com/office/powerpoint/2010/main" val="13244639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13C73-0DBE-3471-E187-A73F0911F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Answer:</a:t>
            </a:r>
            <a:r>
              <a:rPr lang="en-IN" sz="1800" dirty="0"/>
              <a:t> B</a:t>
            </a:r>
            <a:br>
              <a:rPr lang="en-IN" sz="1800" dirty="0"/>
            </a:br>
            <a:r>
              <a:rPr lang="en-IN" sz="1800" b="1" dirty="0"/>
              <a:t>Reasoning:</a:t>
            </a:r>
            <a:r>
              <a:rPr lang="en-IN" sz="1800" dirty="0"/>
              <a:t> First selects [0, 20, 40] → then reverses.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1549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FFDEC-24F2-F332-4B8C-5BDFFB4EF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082801"/>
            <a:ext cx="10143668" cy="3952240"/>
          </a:xfrm>
        </p:spPr>
        <p:txBody>
          <a:bodyPr anchor="ctr">
            <a:normAutofit/>
          </a:bodyPr>
          <a:lstStyle/>
          <a:p>
            <a:r>
              <a:rPr lang="en-IN" sz="2400" b="1" dirty="0"/>
              <a:t>If a = </a:t>
            </a:r>
            <a:r>
              <a:rPr lang="en-IN" sz="2400" b="1" dirty="0" err="1"/>
              <a:t>np.array</a:t>
            </a:r>
            <a:r>
              <a:rPr lang="en-IN" sz="2400" b="1" dirty="0"/>
              <a:t>([[1, 2], [3, 4], [5, 6]]), what does a[:2, 1:] return?</a:t>
            </a:r>
            <a:endParaRPr lang="en-IN" sz="2400" dirty="0"/>
          </a:p>
          <a:p>
            <a:r>
              <a:rPr lang="en-IN" sz="2400" dirty="0"/>
              <a:t>A) [[2], [4]]</a:t>
            </a:r>
            <a:br>
              <a:rPr lang="en-IN" sz="2400" dirty="0"/>
            </a:br>
            <a:r>
              <a:rPr lang="en-IN" sz="2400" dirty="0"/>
              <a:t>B) [[1, 2], [3, 4]]</a:t>
            </a:r>
            <a:br>
              <a:rPr lang="en-IN" sz="2400" dirty="0"/>
            </a:br>
            <a:r>
              <a:rPr lang="en-IN" sz="2400" dirty="0"/>
              <a:t>C) [[2, 4]]</a:t>
            </a:r>
            <a:br>
              <a:rPr lang="en-IN" sz="2400" dirty="0"/>
            </a:br>
            <a:r>
              <a:rPr lang="en-IN" sz="2400" dirty="0"/>
              <a:t>D) [[2 4], [6 8]]</a:t>
            </a:r>
          </a:p>
        </p:txBody>
      </p:sp>
    </p:spTree>
    <p:extLst>
      <p:ext uri="{BB962C8B-B14F-4D97-AF65-F5344CB8AC3E}">
        <p14:creationId xmlns:p14="http://schemas.microsoft.com/office/powerpoint/2010/main" val="9697897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29B04-3A70-69DE-24CF-206621E85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Answer:</a:t>
            </a:r>
            <a:r>
              <a:rPr lang="en-IN" sz="1800" dirty="0"/>
              <a:t> A</a:t>
            </a:r>
            <a:br>
              <a:rPr lang="en-IN" sz="1800" dirty="0"/>
            </a:br>
            <a:r>
              <a:rPr lang="en-IN" sz="1800" b="1" dirty="0"/>
              <a:t>Reasoning:</a:t>
            </a:r>
            <a:r>
              <a:rPr lang="en-IN" sz="1800" dirty="0"/>
              <a:t> Select first 2 rows, second column only.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6288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C27D5-EF89-041E-6042-50C23C020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203079"/>
            <a:ext cx="10143668" cy="3831961"/>
          </a:xfrm>
        </p:spPr>
        <p:txBody>
          <a:bodyPr anchor="ctr">
            <a:normAutofit/>
          </a:bodyPr>
          <a:lstStyle/>
          <a:p>
            <a:r>
              <a:rPr lang="en-IN" sz="2400" b="1" dirty="0"/>
              <a:t>What is the output of:</a:t>
            </a:r>
            <a:endParaRPr lang="en-IN" sz="2400" dirty="0"/>
          </a:p>
          <a:p>
            <a:r>
              <a:rPr lang="pt-PT" sz="2400" dirty="0" err="1"/>
              <a:t>np.sum</a:t>
            </a:r>
            <a:r>
              <a:rPr lang="pt-PT" sz="2400" dirty="0"/>
              <a:t>([[0, 1], [0, 5]], </a:t>
            </a:r>
            <a:r>
              <a:rPr lang="pt-PT" sz="2400" dirty="0" err="1"/>
              <a:t>axis</a:t>
            </a:r>
            <a:r>
              <a:rPr lang="pt-PT" sz="2400" dirty="0"/>
              <a:t>=0)</a:t>
            </a:r>
            <a:endParaRPr lang="en-IN" sz="2400" dirty="0"/>
          </a:p>
          <a:p>
            <a:r>
              <a:rPr lang="pt-PT" sz="2400" dirty="0"/>
              <a:t>A) [0 1 0 5]</a:t>
            </a:r>
            <a:br>
              <a:rPr lang="pt-PT" sz="2400" dirty="0"/>
            </a:br>
            <a:r>
              <a:rPr lang="pt-PT" sz="2400" dirty="0"/>
              <a:t>B) 6</a:t>
            </a:r>
            <a:br>
              <a:rPr lang="pt-PT" sz="2400" dirty="0"/>
            </a:br>
            <a:r>
              <a:rPr lang="pt-PT" sz="2400" dirty="0"/>
              <a:t>C) [0 6]</a:t>
            </a:r>
            <a:br>
              <a:rPr lang="pt-PT" sz="2400" dirty="0"/>
            </a:br>
            <a:r>
              <a:rPr lang="pt-PT" sz="2400" dirty="0"/>
              <a:t>D) [1 5]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18730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B0405-7377-D3D8-DE33-2DEED3F19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Answer:</a:t>
            </a:r>
            <a:r>
              <a:rPr lang="en-IN" sz="1800" dirty="0"/>
              <a:t> C</a:t>
            </a:r>
            <a:br>
              <a:rPr lang="en-IN" sz="1800" dirty="0"/>
            </a:br>
            <a:r>
              <a:rPr lang="en-IN" sz="1800" b="1" dirty="0"/>
              <a:t>Reasoning:</a:t>
            </a:r>
            <a:r>
              <a:rPr lang="en-IN" sz="1800" dirty="0"/>
              <a:t> Column-wise sum: [0+0, 1+5] → [0, 6]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7192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1166</Words>
  <Application>Microsoft Office PowerPoint</Application>
  <PresentationFormat>Widescreen</PresentationFormat>
  <Paragraphs>76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Aptos</vt:lpstr>
      <vt:lpstr>Aptos Display</vt:lpstr>
      <vt:lpstr>Arial</vt:lpstr>
      <vt:lpstr>Office Theme</vt:lpstr>
      <vt:lpstr>NumPy mcqs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6</cp:revision>
  <dcterms:created xsi:type="dcterms:W3CDTF">2025-06-17T09:15:30Z</dcterms:created>
  <dcterms:modified xsi:type="dcterms:W3CDTF">2025-06-20T05:05:45Z</dcterms:modified>
</cp:coreProperties>
</file>