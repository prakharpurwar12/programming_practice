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9" r:id="rId6"/>
    <p:sldId id="265" r:id="rId7"/>
    <p:sldId id="267" r:id="rId8"/>
    <p:sldId id="270" r:id="rId9"/>
    <p:sldId id="264" r:id="rId10"/>
    <p:sldId id="268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83D454-DE7A-43DF-BAD1-32E1A9FC9E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6E5413-7DC2-4A8C-A7EB-068BB1BD7C31}">
      <dgm:prSet/>
      <dgm:spPr/>
      <dgm:t>
        <a:bodyPr/>
        <a:lstStyle/>
        <a:p>
          <a:r>
            <a:rPr lang="en-US"/>
            <a:t>A model "fits" data by learning patterns</a:t>
          </a:r>
        </a:p>
      </dgm:t>
    </dgm:pt>
    <dgm:pt modelId="{C5E8CC46-8E77-47AA-B6AF-598D6A9372BF}" type="parTrans" cxnId="{09D85B9C-AE31-4318-9423-B7C06A36B648}">
      <dgm:prSet/>
      <dgm:spPr/>
      <dgm:t>
        <a:bodyPr/>
        <a:lstStyle/>
        <a:p>
          <a:endParaRPr lang="en-US"/>
        </a:p>
      </dgm:t>
    </dgm:pt>
    <dgm:pt modelId="{5CBBBB88-EA8C-4923-ACE1-646436CEB49B}" type="sibTrans" cxnId="{09D85B9C-AE31-4318-9423-B7C06A36B648}">
      <dgm:prSet/>
      <dgm:spPr/>
      <dgm:t>
        <a:bodyPr/>
        <a:lstStyle/>
        <a:p>
          <a:endParaRPr lang="en-US"/>
        </a:p>
      </dgm:t>
    </dgm:pt>
    <dgm:pt modelId="{2FDB448B-179A-4BFB-AFF4-DB553856D173}">
      <dgm:prSet/>
      <dgm:spPr/>
      <dgm:t>
        <a:bodyPr/>
        <a:lstStyle/>
        <a:p>
          <a:r>
            <a:rPr lang="en-US"/>
            <a:t>The goal is to learn the general trend, not memorize or miss the data</a:t>
          </a:r>
        </a:p>
      </dgm:t>
    </dgm:pt>
    <dgm:pt modelId="{5C920231-5178-406C-B606-C622B22B6868}" type="parTrans" cxnId="{18CFB2F4-CCA7-4465-B8D2-71249383C47D}">
      <dgm:prSet/>
      <dgm:spPr/>
      <dgm:t>
        <a:bodyPr/>
        <a:lstStyle/>
        <a:p>
          <a:endParaRPr lang="en-US"/>
        </a:p>
      </dgm:t>
    </dgm:pt>
    <dgm:pt modelId="{2B8522D7-49CF-43F1-B65A-19992BE87076}" type="sibTrans" cxnId="{18CFB2F4-CCA7-4465-B8D2-71249383C47D}">
      <dgm:prSet/>
      <dgm:spPr/>
      <dgm:t>
        <a:bodyPr/>
        <a:lstStyle/>
        <a:p>
          <a:endParaRPr lang="en-US"/>
        </a:p>
      </dgm:t>
    </dgm:pt>
    <dgm:pt modelId="{5AADC23B-EB10-4F88-82A2-A56C71A72310}" type="pres">
      <dgm:prSet presAssocID="{C883D454-DE7A-43DF-BAD1-32E1A9FC9EEC}" presName="root" presStyleCnt="0">
        <dgm:presLayoutVars>
          <dgm:dir/>
          <dgm:resizeHandles val="exact"/>
        </dgm:presLayoutVars>
      </dgm:prSet>
      <dgm:spPr/>
    </dgm:pt>
    <dgm:pt modelId="{733F49BC-3C8B-4C46-A0A2-B9CC13BBE895}" type="pres">
      <dgm:prSet presAssocID="{126E5413-7DC2-4A8C-A7EB-068BB1BD7C31}" presName="compNode" presStyleCnt="0"/>
      <dgm:spPr/>
    </dgm:pt>
    <dgm:pt modelId="{1977529F-A4C2-4E8B-B405-39ACE80B619D}" type="pres">
      <dgm:prSet presAssocID="{126E5413-7DC2-4A8C-A7EB-068BB1BD7C31}" presName="bgRect" presStyleLbl="bgShp" presStyleIdx="0" presStyleCnt="2"/>
      <dgm:spPr/>
    </dgm:pt>
    <dgm:pt modelId="{85683664-A5FC-468E-A46E-611A69B2DDE0}" type="pres">
      <dgm:prSet presAssocID="{126E5413-7DC2-4A8C-A7EB-068BB1BD7C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124D85-5C8C-45C9-AD4E-FC765E92EB7E}" type="pres">
      <dgm:prSet presAssocID="{126E5413-7DC2-4A8C-A7EB-068BB1BD7C31}" presName="spaceRect" presStyleCnt="0"/>
      <dgm:spPr/>
    </dgm:pt>
    <dgm:pt modelId="{ECBAD34D-8AA9-40D1-837E-F1C039276AEE}" type="pres">
      <dgm:prSet presAssocID="{126E5413-7DC2-4A8C-A7EB-068BB1BD7C31}" presName="parTx" presStyleLbl="revTx" presStyleIdx="0" presStyleCnt="2">
        <dgm:presLayoutVars>
          <dgm:chMax val="0"/>
          <dgm:chPref val="0"/>
        </dgm:presLayoutVars>
      </dgm:prSet>
      <dgm:spPr/>
    </dgm:pt>
    <dgm:pt modelId="{E5B32640-969D-4985-A177-66137002F2B7}" type="pres">
      <dgm:prSet presAssocID="{5CBBBB88-EA8C-4923-ACE1-646436CEB49B}" presName="sibTrans" presStyleCnt="0"/>
      <dgm:spPr/>
    </dgm:pt>
    <dgm:pt modelId="{537465CD-EEC9-45CD-83F4-1F69482AFA30}" type="pres">
      <dgm:prSet presAssocID="{2FDB448B-179A-4BFB-AFF4-DB553856D173}" presName="compNode" presStyleCnt="0"/>
      <dgm:spPr/>
    </dgm:pt>
    <dgm:pt modelId="{E2E3028D-61C9-4FB0-A562-C81546C036DE}" type="pres">
      <dgm:prSet presAssocID="{2FDB448B-179A-4BFB-AFF4-DB553856D173}" presName="bgRect" presStyleLbl="bgShp" presStyleIdx="1" presStyleCnt="2"/>
      <dgm:spPr/>
    </dgm:pt>
    <dgm:pt modelId="{3E9D2B59-BA44-4ED2-9B8C-758979457F54}" type="pres">
      <dgm:prSet presAssocID="{2FDB448B-179A-4BFB-AFF4-DB553856D17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3C63031-34DD-4254-A875-A04A081F2643}" type="pres">
      <dgm:prSet presAssocID="{2FDB448B-179A-4BFB-AFF4-DB553856D173}" presName="spaceRect" presStyleCnt="0"/>
      <dgm:spPr/>
    </dgm:pt>
    <dgm:pt modelId="{32FF5604-A50D-4E26-901C-7EEB0E859073}" type="pres">
      <dgm:prSet presAssocID="{2FDB448B-179A-4BFB-AFF4-DB553856D17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61FAC23-8727-415E-A36D-4F6475F95CA3}" type="presOf" srcId="{2FDB448B-179A-4BFB-AFF4-DB553856D173}" destId="{32FF5604-A50D-4E26-901C-7EEB0E859073}" srcOrd="0" destOrd="0" presId="urn:microsoft.com/office/officeart/2018/2/layout/IconVerticalSolidList"/>
    <dgm:cxn modelId="{EDF70449-1DF2-4B95-9B42-C2B4A09F8C6F}" type="presOf" srcId="{C883D454-DE7A-43DF-BAD1-32E1A9FC9EEC}" destId="{5AADC23B-EB10-4F88-82A2-A56C71A72310}" srcOrd="0" destOrd="0" presId="urn:microsoft.com/office/officeart/2018/2/layout/IconVerticalSolidList"/>
    <dgm:cxn modelId="{87BDE751-CAFC-43EA-8015-39DA631E0124}" type="presOf" srcId="{126E5413-7DC2-4A8C-A7EB-068BB1BD7C31}" destId="{ECBAD34D-8AA9-40D1-837E-F1C039276AEE}" srcOrd="0" destOrd="0" presId="urn:microsoft.com/office/officeart/2018/2/layout/IconVerticalSolidList"/>
    <dgm:cxn modelId="{09D85B9C-AE31-4318-9423-B7C06A36B648}" srcId="{C883D454-DE7A-43DF-BAD1-32E1A9FC9EEC}" destId="{126E5413-7DC2-4A8C-A7EB-068BB1BD7C31}" srcOrd="0" destOrd="0" parTransId="{C5E8CC46-8E77-47AA-B6AF-598D6A9372BF}" sibTransId="{5CBBBB88-EA8C-4923-ACE1-646436CEB49B}"/>
    <dgm:cxn modelId="{18CFB2F4-CCA7-4465-B8D2-71249383C47D}" srcId="{C883D454-DE7A-43DF-BAD1-32E1A9FC9EEC}" destId="{2FDB448B-179A-4BFB-AFF4-DB553856D173}" srcOrd="1" destOrd="0" parTransId="{5C920231-5178-406C-B606-C622B22B6868}" sibTransId="{2B8522D7-49CF-43F1-B65A-19992BE87076}"/>
    <dgm:cxn modelId="{99D645B0-07C9-4CFE-AA03-5ECA0154C3A4}" type="presParOf" srcId="{5AADC23B-EB10-4F88-82A2-A56C71A72310}" destId="{733F49BC-3C8B-4C46-A0A2-B9CC13BBE895}" srcOrd="0" destOrd="0" presId="urn:microsoft.com/office/officeart/2018/2/layout/IconVerticalSolidList"/>
    <dgm:cxn modelId="{F4A3FF64-3728-4C81-9B9E-5AE429112567}" type="presParOf" srcId="{733F49BC-3C8B-4C46-A0A2-B9CC13BBE895}" destId="{1977529F-A4C2-4E8B-B405-39ACE80B619D}" srcOrd="0" destOrd="0" presId="urn:microsoft.com/office/officeart/2018/2/layout/IconVerticalSolidList"/>
    <dgm:cxn modelId="{61C6B9A8-3DD5-4513-8D35-16F00011BEAD}" type="presParOf" srcId="{733F49BC-3C8B-4C46-A0A2-B9CC13BBE895}" destId="{85683664-A5FC-468E-A46E-611A69B2DDE0}" srcOrd="1" destOrd="0" presId="urn:microsoft.com/office/officeart/2018/2/layout/IconVerticalSolidList"/>
    <dgm:cxn modelId="{3EBD7A76-FBBF-4787-B9A4-4600252C4D1F}" type="presParOf" srcId="{733F49BC-3C8B-4C46-A0A2-B9CC13BBE895}" destId="{48124D85-5C8C-45C9-AD4E-FC765E92EB7E}" srcOrd="2" destOrd="0" presId="urn:microsoft.com/office/officeart/2018/2/layout/IconVerticalSolidList"/>
    <dgm:cxn modelId="{E532CBC2-A99B-4811-8BD6-7D06628E44B4}" type="presParOf" srcId="{733F49BC-3C8B-4C46-A0A2-B9CC13BBE895}" destId="{ECBAD34D-8AA9-40D1-837E-F1C039276AEE}" srcOrd="3" destOrd="0" presId="urn:microsoft.com/office/officeart/2018/2/layout/IconVerticalSolidList"/>
    <dgm:cxn modelId="{88851CB8-FBB3-44BE-A0BC-B6941A46A0C0}" type="presParOf" srcId="{5AADC23B-EB10-4F88-82A2-A56C71A72310}" destId="{E5B32640-969D-4985-A177-66137002F2B7}" srcOrd="1" destOrd="0" presId="urn:microsoft.com/office/officeart/2018/2/layout/IconVerticalSolidList"/>
    <dgm:cxn modelId="{8FEF03BD-2749-433D-9B08-AD7EFB5F570D}" type="presParOf" srcId="{5AADC23B-EB10-4F88-82A2-A56C71A72310}" destId="{537465CD-EEC9-45CD-83F4-1F69482AFA30}" srcOrd="2" destOrd="0" presId="urn:microsoft.com/office/officeart/2018/2/layout/IconVerticalSolidList"/>
    <dgm:cxn modelId="{EB0F6D1A-0DDF-465F-9FE8-C80678E1D85E}" type="presParOf" srcId="{537465CD-EEC9-45CD-83F4-1F69482AFA30}" destId="{E2E3028D-61C9-4FB0-A562-C81546C036DE}" srcOrd="0" destOrd="0" presId="urn:microsoft.com/office/officeart/2018/2/layout/IconVerticalSolidList"/>
    <dgm:cxn modelId="{14272AF4-2B26-4C79-9A9E-CB5ECDFD83AF}" type="presParOf" srcId="{537465CD-EEC9-45CD-83F4-1F69482AFA30}" destId="{3E9D2B59-BA44-4ED2-9B8C-758979457F54}" srcOrd="1" destOrd="0" presId="urn:microsoft.com/office/officeart/2018/2/layout/IconVerticalSolidList"/>
    <dgm:cxn modelId="{850457D2-20EA-4B1B-90EA-3C975186DEF9}" type="presParOf" srcId="{537465CD-EEC9-45CD-83F4-1F69482AFA30}" destId="{D3C63031-34DD-4254-A875-A04A081F2643}" srcOrd="2" destOrd="0" presId="urn:microsoft.com/office/officeart/2018/2/layout/IconVerticalSolidList"/>
    <dgm:cxn modelId="{FDC82230-CB51-4F7C-A3F6-BF61F421699E}" type="presParOf" srcId="{537465CD-EEC9-45CD-83F4-1F69482AFA30}" destId="{32FF5604-A50D-4E26-901C-7EEB0E8590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77529F-A4C2-4E8B-B405-39ACE80B619D}">
      <dsp:nvSpPr>
        <dsp:cNvPr id="0" name=""/>
        <dsp:cNvSpPr/>
      </dsp:nvSpPr>
      <dsp:spPr>
        <a:xfrm>
          <a:off x="0" y="908268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83664-A5FC-468E-A46E-611A69B2DDE0}">
      <dsp:nvSpPr>
        <dsp:cNvPr id="0" name=""/>
        <dsp:cNvSpPr/>
      </dsp:nvSpPr>
      <dsp:spPr>
        <a:xfrm>
          <a:off x="507233" y="1285549"/>
          <a:ext cx="922242" cy="922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AD34D-8AA9-40D1-837E-F1C039276AEE}">
      <dsp:nvSpPr>
        <dsp:cNvPr id="0" name=""/>
        <dsp:cNvSpPr/>
      </dsp:nvSpPr>
      <dsp:spPr>
        <a:xfrm>
          <a:off x="1936708" y="908268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model "fits" data by learning patterns</a:t>
          </a:r>
        </a:p>
      </dsp:txBody>
      <dsp:txXfrm>
        <a:off x="1936708" y="908268"/>
        <a:ext cx="4308556" cy="1676804"/>
      </dsp:txXfrm>
    </dsp:sp>
    <dsp:sp modelId="{E2E3028D-61C9-4FB0-A562-C81546C036DE}">
      <dsp:nvSpPr>
        <dsp:cNvPr id="0" name=""/>
        <dsp:cNvSpPr/>
      </dsp:nvSpPr>
      <dsp:spPr>
        <a:xfrm>
          <a:off x="0" y="3004274"/>
          <a:ext cx="6245265" cy="16768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D2B59-BA44-4ED2-9B8C-758979457F54}">
      <dsp:nvSpPr>
        <dsp:cNvPr id="0" name=""/>
        <dsp:cNvSpPr/>
      </dsp:nvSpPr>
      <dsp:spPr>
        <a:xfrm>
          <a:off x="507233" y="3381554"/>
          <a:ext cx="922242" cy="922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F5604-A50D-4E26-901C-7EEB0E859073}">
      <dsp:nvSpPr>
        <dsp:cNvPr id="0" name=""/>
        <dsp:cNvSpPr/>
      </dsp:nvSpPr>
      <dsp:spPr>
        <a:xfrm>
          <a:off x="1936708" y="3004274"/>
          <a:ext cx="4308556" cy="1676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462" tIns="177462" rIns="177462" bIns="17746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goal is to learn the general trend, not memorize or miss the data</a:t>
          </a:r>
        </a:p>
      </dsp:txBody>
      <dsp:txXfrm>
        <a:off x="1936708" y="3004274"/>
        <a:ext cx="4308556" cy="167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8E3B-D70A-69E1-227F-32B5376B3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24CA0-07C2-22CC-DD2B-BFCA897F4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38282-FEEC-EF79-F706-1A9D262B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BB3F8-6675-FF58-C94E-00CF1F45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09A41-59C0-D8F1-BAC8-B979316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0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8B6B-3E83-9E3F-BF91-D945F4B9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6808F-F006-3CA8-72D7-F19D886AC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A83B3-4766-EFBE-C813-25B9EFBA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421DD-33EE-D20E-8C73-91475756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696E8-EA18-FC26-6FBB-5CC1EC8FC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26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0194-9BD5-A1C4-969B-E455E3A19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5008-F6DE-DE5B-9DFA-FCFCFF7E2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4828A-113C-9A69-AB8D-29C0D34ED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2D0E4-E57A-66F1-F09D-63ED87E1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DB34E-D06D-3714-3E03-85DADD8F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72A1-7937-224C-7EAF-48FCE9B0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79B78-406E-8482-92EF-0F4D81DD3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5C1EA-E0E4-8300-7BE1-0DAF9BD35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AE75-783F-978E-CA72-614FDF1F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47F6E-E98D-5BA6-C08E-C97EFE11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C8357-5326-88BC-D0F9-F29047B1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0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19A0-18C1-B801-0719-D03B6E30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F0480-D697-05CA-60CC-AFCF9DA80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4563A-68A4-3774-89CE-C7CCC3A17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4DB90-4401-3F8E-128F-02DD0589D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A232B-E439-0376-4FB1-7E4DC457B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6EB29-4FF1-D6B3-0D2B-0A52A586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B6EE7-9073-EB26-585C-879AA312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C04D9-03A3-9FF5-FDFB-FC75B885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13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976B-B832-6C67-2D87-CC84C6C03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FA465-5124-3A7A-3F6A-DCF562E3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1AED5-3579-1B60-A8ED-931B8FF5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A4CB7-3F2D-5382-E3B6-AD117703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8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B7841-04D9-5F82-AB7C-E0E0E95C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DE2A6-D3EB-A829-9F60-7E2E78F6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4223E-F5ED-D9C2-6F15-E50EB2CE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35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5A0A-B5B2-2BEE-AA61-EB3B3A9B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9FAF-7A4F-7FF6-6756-AAD7DA015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6BE43-6401-B183-C743-9544EF253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655CA-0C31-CD16-47DA-0BF66BBB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79F5A-D871-B10E-C7B5-77470F12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63D60-EE21-04C4-F6C4-8E420BCF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49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D8C6-28D4-91AA-0818-CD2F2E3D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655E2-3FE0-3871-6BE6-25C045787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753A-7086-5956-399E-89AE0A032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FE8DB-4ACD-9D98-0D9D-B2BAACAA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98EF5-C954-79FC-C0E2-12B37233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BE5A4-EFFF-C4C0-A55B-D456A24D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9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BB1F-89C8-FD72-47CB-D1CCBF68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1AA66-6B9C-17E0-D074-B6B1907DA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1B25-BFFE-3A80-147A-849F93F3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E76A7-70BF-297C-A876-7CB664E3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7C58A-BF8C-5523-5F4C-572232F7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09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E21CC-6F60-B4EB-6045-303EFC8FC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404D0-5EA2-CBC1-6168-159B19120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86D26-EB5C-4F70-DA13-122266CF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E6610-CF9C-A306-B550-40271748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04423-BD3E-8D9D-3A23-7B4B96BA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6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D0DA74-5280-532B-2544-15D84BA7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90BDD-F4D5-B42F-F439-898C796FC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22ABB-284C-0E7D-11B6-FA77612E7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42FF9-1007-4FA7-8100-47B794812025}" type="datetimeFigureOut">
              <a:rPr lang="en-IN" smtClean="0"/>
              <a:t>20-06-2025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7407B-D65D-6F0B-28C2-6F36ACA71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19A31-C9E4-8090-76EA-DC9C24368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BDF12-3F9E-48CE-8FF1-DFC1796B98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23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6AF16-198A-3849-AD27-B51EB91FC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en-US" sz="5200"/>
              <a:t>Overfitting , underfitting, best fit</a:t>
            </a:r>
            <a:endParaRPr lang="en-IN" sz="5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F317-5876-3227-4712-AD8DC8F1F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en-US" dirty="0"/>
              <a:t>Created by: Mahipal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06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1DA9D-1240-6E7B-2694-4B9DD8B0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b="1"/>
              <a:t>What is Model Fitting?</a:t>
            </a:r>
            <a:br>
              <a:rPr lang="en-US" sz="8000" b="1"/>
            </a:br>
            <a:endParaRPr lang="en-IN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24E913-1B38-8904-258C-278D657A0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2056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59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F756-81DB-1D3E-B289-D088CF67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Underfitting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448D-A4A9-E136-3E31-8AF3ED28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Model is too simple, cannot capture the trend</a:t>
            </a:r>
          </a:p>
          <a:p>
            <a:r>
              <a:rPr lang="en-US" b="1" dirty="0"/>
              <a:t>Example</a:t>
            </a:r>
            <a:r>
              <a:rPr lang="en-US" dirty="0"/>
              <a:t>: Linear model on curved data</a:t>
            </a:r>
          </a:p>
          <a:p>
            <a:r>
              <a:rPr lang="en-US" b="1" dirty="0"/>
              <a:t>Result</a:t>
            </a:r>
            <a:r>
              <a:rPr lang="en-US" dirty="0"/>
              <a:t>: High error on training and test data</a:t>
            </a:r>
          </a:p>
          <a:p>
            <a:r>
              <a:rPr lang="en-US" b="1" dirty="0"/>
              <a:t>Analogy</a:t>
            </a:r>
            <a:r>
              <a:rPr lang="en-US" dirty="0"/>
              <a:t>: Student writes very generic answers, ignoring the actual question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47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orange squares and a blue line&#10;&#10;AI-generated content may be incorrect.">
            <a:extLst>
              <a:ext uri="{FF2B5EF4-FFF2-40B4-BE49-F238E27FC236}">
                <a16:creationId xmlns:a16="http://schemas.microsoft.com/office/drawing/2014/main" id="{9D59906B-EC39-A6C7-9DE3-4529B052D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18" y="643466"/>
            <a:ext cx="884296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9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C76555-3CF8-1580-1C37-BD9DD2E49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58" y="643466"/>
            <a:ext cx="89526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47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1F33-05C3-6BCB-78FE-55442462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Overfitting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B5F97-70D6-A25B-9F76-C7E270C38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Model is too complex, memorizes training data</a:t>
            </a:r>
          </a:p>
          <a:p>
            <a:r>
              <a:rPr lang="en-US" b="1" dirty="0"/>
              <a:t>Example</a:t>
            </a:r>
            <a:r>
              <a:rPr lang="en-US" dirty="0"/>
              <a:t>: High-degree polynomial on noisy data</a:t>
            </a:r>
          </a:p>
          <a:p>
            <a:r>
              <a:rPr lang="en-US" b="1" dirty="0"/>
              <a:t>Result</a:t>
            </a:r>
            <a:r>
              <a:rPr lang="en-US" dirty="0"/>
              <a:t>: Low training error, high test error</a:t>
            </a:r>
          </a:p>
          <a:p>
            <a:r>
              <a:rPr lang="en-US" b="1" dirty="0"/>
              <a:t>Analogy</a:t>
            </a:r>
            <a:r>
              <a:rPr lang="en-US" dirty="0"/>
              <a:t>: Student memorizes past paper; fails if questions change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41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3FBE8C70-0195-1026-7CFB-51BBAC94C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229" y="643466"/>
            <a:ext cx="837754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9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9E9BFF85-94B1-13EF-491D-7731D5409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065" y="643468"/>
            <a:ext cx="859347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3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D6F7-730F-208E-BBDC-24DCE5F6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Fit (Good Fit)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5D47-B277-E9FA-F00F-D6D45F161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Model that generalizes well</a:t>
            </a:r>
          </a:p>
          <a:p>
            <a:r>
              <a:rPr lang="en-US" b="1" dirty="0"/>
              <a:t>Example</a:t>
            </a:r>
            <a:r>
              <a:rPr lang="en-US" dirty="0"/>
              <a:t>: Polynomial of suitable degree</a:t>
            </a:r>
          </a:p>
          <a:p>
            <a:r>
              <a:rPr lang="en-US" b="1" dirty="0"/>
              <a:t>Result</a:t>
            </a:r>
            <a:r>
              <a:rPr lang="en-US" dirty="0"/>
              <a:t>: Low training and test error</a:t>
            </a:r>
          </a:p>
          <a:p>
            <a:r>
              <a:rPr lang="en-US" b="1" dirty="0"/>
              <a:t>Analogy</a:t>
            </a:r>
            <a:r>
              <a:rPr lang="en-US" dirty="0"/>
              <a:t>: Student understands concepts, answers correctly even on new questions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561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good fit">
            <a:extLst>
              <a:ext uri="{FF2B5EF4-FFF2-40B4-BE49-F238E27FC236}">
                <a16:creationId xmlns:a16="http://schemas.microsoft.com/office/drawing/2014/main" id="{3D332DE1-0C96-2F84-D0BD-50D08228E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029" y="643466"/>
            <a:ext cx="747794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2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0C0B18-A189-783F-8D0A-A35132A60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933" y="1642534"/>
            <a:ext cx="8170334" cy="3776134"/>
          </a:xfrm>
        </p:spPr>
      </p:pic>
    </p:spTree>
    <p:extLst>
      <p:ext uri="{BB962C8B-B14F-4D97-AF65-F5344CB8AC3E}">
        <p14:creationId xmlns:p14="http://schemas.microsoft.com/office/powerpoint/2010/main" val="354461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159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Overfitting , underfitting, best fit</vt:lpstr>
      <vt:lpstr>What is Model Fitting? </vt:lpstr>
      <vt:lpstr>Underfitting </vt:lpstr>
      <vt:lpstr>PowerPoint Presentation</vt:lpstr>
      <vt:lpstr>PowerPoint Presentation</vt:lpstr>
      <vt:lpstr>Overfitting </vt:lpstr>
      <vt:lpstr>PowerPoint Presentation</vt:lpstr>
      <vt:lpstr>PowerPoint Presentation</vt:lpstr>
      <vt:lpstr>Best Fit (Good Fit)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5</cp:revision>
  <dcterms:created xsi:type="dcterms:W3CDTF">2025-06-19T08:08:30Z</dcterms:created>
  <dcterms:modified xsi:type="dcterms:W3CDTF">2025-06-20T09:32:12Z</dcterms:modified>
</cp:coreProperties>
</file>