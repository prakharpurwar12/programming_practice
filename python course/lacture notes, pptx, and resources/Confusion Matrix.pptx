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0" r:id="rId6"/>
    <p:sldId id="258" r:id="rId7"/>
    <p:sldId id="265" r:id="rId8"/>
    <p:sldId id="264" r:id="rId9"/>
    <p:sldId id="263" r:id="rId10"/>
    <p:sldId id="259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DC51-44B4-B1C8-524D-8642466D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7EDBA-2176-2358-98B7-4081B832D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AD932-D35C-7664-AFAF-DDF44A8B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F1636-994F-3DEC-CBDB-27B628EA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0DC73-506F-16AD-D265-BBC3B926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81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71DF-CB6E-74CC-99AB-ACC7B90F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82C3B-9D6E-8D60-30D7-D556F7933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6E84E-8F34-61A2-482F-B290AC10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9B840-4AA4-462F-F6C1-4C9F702C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B0BE4-17E9-37D1-2B45-AA565F5C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88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67D1-57C4-7C4D-42BC-433907C1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1F16-D39A-35E4-8BE1-A6F153B78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D8B9-5144-B842-79E0-A7B0A7FA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5B770-7B08-1F10-BE4C-CC128A9B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BF7D8-5458-AAD3-54CC-EB473DD7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061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D65C-AF88-C9CE-A8C3-BE21C56D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80830-A190-F13F-BFF3-B293994FE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DDDFF-D07B-0CDF-D2B8-9C4F193DA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05AD8-69EB-36FE-380D-86892EEC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7B540-2B4C-4E6E-CC5F-A557F85F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AFC8A-4A96-A035-0B3E-EAD4CCF52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2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FA7FC-BB26-A9DA-E0F9-178170B2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C7765-9159-C2AC-394A-E222D96F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C918F-C8E2-9A41-D3D9-198CAF0BB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E9142-360D-A200-CD0F-97236FB29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A00AE9-B285-969B-38A9-ADF9742D8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B7F631-6FF9-7DFE-0514-2A2905B90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07E81-D457-0F87-F50A-590F908D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66605-0D5F-B109-F8AD-7EDF45F5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9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D522-F1A2-1167-8629-88A94CB0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34FC4-B45B-B75C-ECBB-757C2F19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A44CC-D62D-67C8-60EC-57CDB906D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BC98-A500-7FA0-E45A-BC77C2CF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4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A29F3E-61F9-73E4-D6D0-4661D0C0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2F081-BBCF-A28D-76C8-010C1917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466F-C43C-3045-5208-B8294877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13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8B7-E2E5-C71D-7F7D-4344A7F4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D16F0-76F3-D5DF-8C2B-241DD4F12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20FD2-803C-7DFA-E34F-921A79783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EE264-C182-B9EF-413B-01EE1D55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175DC-2192-CAC9-BE0E-5C487ED1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64EAF-B1AE-F731-4FA2-3DEBD7E6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2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C58C-9133-A0D7-486E-0F30A963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4BC8F-58B9-80E9-EE6B-FD6076359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112DD-2F49-9ABE-AD3B-F539E08E4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03AEF-EEAF-8E35-1B4D-30DAB645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D26F-EC4B-3AB2-20CD-12CEE55A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D80E3-CB1B-FC79-2E70-7F1CCAAF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96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3621-4533-DC25-CE60-E0028326C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E9A2B-C27F-36B6-562D-FAE9E1904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431C-9065-EC0D-FA8A-E7544F34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9D095-64B1-9DCA-AC00-F1DAD88D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AB297-E03F-0CB0-0A8E-B56E2A6C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53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AC0C94-F92B-46C1-7EEC-4BCFE290C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1F423-F5E4-083E-602D-2D16CA8A0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1EA0F-C52F-C6A8-2F85-B746ED74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7A241-8E4B-549A-AE30-8CA7B811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9471F-396C-43A7-5C60-9926AC77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31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B4680-B725-6071-A6F1-13743B30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196B2-801A-E7BF-B521-7A5A79120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9C3D6-1607-7A98-F270-DF58B94A8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73533-9CE6-477D-8AA5-FF1F05CFC86B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0D884-7253-F777-ECB2-3F72A0DA4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247F3-CF1E-3E72-F7E5-C465FD001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65C80-D954-459A-AB49-EE083546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07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83C6-60A8-E507-34E1-8B011462A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DDD00-C9A0-49D7-6020-16911B72D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Mahipal Singh</a:t>
            </a:r>
          </a:p>
        </p:txBody>
      </p:sp>
    </p:spTree>
    <p:extLst>
      <p:ext uri="{BB962C8B-B14F-4D97-AF65-F5344CB8AC3E}">
        <p14:creationId xmlns:p14="http://schemas.microsoft.com/office/powerpoint/2010/main" val="736104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1B989-1334-7E75-6549-B52C38C8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800"/>
            <a:ext cx="10515600" cy="5672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a Confusion Matrix?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200D-6B95-130B-5192-28B7ACC02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0733"/>
            <a:ext cx="10515600" cy="4966230"/>
          </a:xfrm>
        </p:spPr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confusion matrix</a:t>
            </a:r>
            <a:r>
              <a:rPr lang="en-IN" dirty="0"/>
              <a:t> is a 2×2 table (</a:t>
            </a:r>
            <a:r>
              <a:rPr lang="en-IN" b="1" dirty="0"/>
              <a:t>for binary classification</a:t>
            </a:r>
            <a:r>
              <a:rPr lang="en-IN" dirty="0"/>
              <a:t>) that shows how well your classification model is performing by comparing actual vs. predicted values.</a:t>
            </a:r>
          </a:p>
          <a:p>
            <a:pPr marL="0" indent="0">
              <a:buNone/>
            </a:pPr>
            <a:r>
              <a:rPr lang="en-IN" dirty="0"/>
              <a:t>                                  </a:t>
            </a:r>
            <a:r>
              <a:rPr lang="en-IN" b="1" dirty="0"/>
              <a:t>Predicted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|   </a:t>
            </a:r>
            <a:r>
              <a:rPr lang="en-IN" b="1" dirty="0"/>
              <a:t>0  </a:t>
            </a:r>
            <a:r>
              <a:rPr lang="en-IN" dirty="0"/>
              <a:t>    |      </a:t>
            </a:r>
            <a:r>
              <a:rPr lang="en-IN" b="1" dirty="0"/>
              <a:t> 1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-------------------</a:t>
            </a:r>
          </a:p>
          <a:p>
            <a:pPr marL="0" indent="0">
              <a:buNone/>
            </a:pPr>
            <a:r>
              <a:rPr lang="en-IN" b="1" dirty="0"/>
              <a:t>                     0   </a:t>
            </a:r>
            <a:r>
              <a:rPr lang="en-IN" dirty="0"/>
              <a:t>    | TN     |      FP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Actual</a:t>
            </a:r>
            <a:r>
              <a:rPr lang="en-IN" dirty="0"/>
              <a:t>            -------------------</a:t>
            </a:r>
          </a:p>
          <a:p>
            <a:pPr marL="0" indent="0">
              <a:buNone/>
            </a:pPr>
            <a:r>
              <a:rPr lang="en-IN" dirty="0"/>
              <a:t>                     </a:t>
            </a:r>
            <a:r>
              <a:rPr lang="en-IN" b="1" dirty="0"/>
              <a:t>1 </a:t>
            </a:r>
            <a:r>
              <a:rPr lang="en-IN" dirty="0"/>
              <a:t>      | FN      |      TP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29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C8CFE8-1C92-AC55-BCA0-BD7C328AA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7637602"/>
              </p:ext>
            </p:extLst>
          </p:nvPr>
        </p:nvGraphicFramePr>
        <p:xfrm>
          <a:off x="838200" y="1143000"/>
          <a:ext cx="9855200" cy="4648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4810">
                  <a:extLst>
                    <a:ext uri="{9D8B030D-6E8A-4147-A177-3AD203B41FA5}">
                      <a16:colId xmlns:a16="http://schemas.microsoft.com/office/drawing/2014/main" val="3860505699"/>
                    </a:ext>
                  </a:extLst>
                </a:gridCol>
                <a:gridCol w="1547314">
                  <a:extLst>
                    <a:ext uri="{9D8B030D-6E8A-4147-A177-3AD203B41FA5}">
                      <a16:colId xmlns:a16="http://schemas.microsoft.com/office/drawing/2014/main" val="1594606781"/>
                    </a:ext>
                  </a:extLst>
                </a:gridCol>
                <a:gridCol w="6943076">
                  <a:extLst>
                    <a:ext uri="{9D8B030D-6E8A-4147-A177-3AD203B41FA5}">
                      <a16:colId xmlns:a16="http://schemas.microsoft.com/office/drawing/2014/main" val="3770097322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Term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      Full Form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                                     Meaning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407166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TP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True Positive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Model predicted 1 and actual was 1 (correctly predicted positive)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06222076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TN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True Negative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Model predicted 0 and actual was 0 (correctly predicted negative)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766959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FP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False Positive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Model predicted 1, but actual was 0 (wrongly predicted positive)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7456278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FN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False Negative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Model predicted 0, but actual was 1 (wrongly predicted negative)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4869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72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772C3A-C6D9-A161-0551-37B6C9E4E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09943"/>
              </p:ext>
            </p:extLst>
          </p:nvPr>
        </p:nvGraphicFramePr>
        <p:xfrm>
          <a:off x="702358" y="1105265"/>
          <a:ext cx="10787286" cy="46474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8352">
                  <a:extLst>
                    <a:ext uri="{9D8B030D-6E8A-4147-A177-3AD203B41FA5}">
                      <a16:colId xmlns:a16="http://schemas.microsoft.com/office/drawing/2014/main" val="885900044"/>
                    </a:ext>
                  </a:extLst>
                </a:gridCol>
                <a:gridCol w="8738934">
                  <a:extLst>
                    <a:ext uri="{9D8B030D-6E8A-4147-A177-3AD203B41FA5}">
                      <a16:colId xmlns:a16="http://schemas.microsoft.com/office/drawing/2014/main" val="4161253868"/>
                    </a:ext>
                  </a:extLst>
                </a:gridCol>
              </a:tblGrid>
              <a:tr h="698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Metric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Formula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extLst>
                  <a:ext uri="{0D108BD9-81ED-4DB2-BD59-A6C34878D82A}">
                    <a16:rowId xmlns:a16="http://schemas.microsoft.com/office/drawing/2014/main" val="3729466937"/>
                  </a:ext>
                </a:extLst>
              </a:tr>
              <a:tr h="698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Accuracy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(TP + TN) / (TP + TN + FP + FN)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extLst>
                  <a:ext uri="{0D108BD9-81ED-4DB2-BD59-A6C34878D82A}">
                    <a16:rowId xmlns:a16="http://schemas.microsoft.com/office/drawing/2014/main" val="2987472816"/>
                  </a:ext>
                </a:extLst>
              </a:tr>
              <a:tr h="12765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Precision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TP / (TP + FP) → how many predicted 1s are actually 1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extLst>
                  <a:ext uri="{0D108BD9-81ED-4DB2-BD59-A6C34878D82A}">
                    <a16:rowId xmlns:a16="http://schemas.microsoft.com/office/drawing/2014/main" val="3431547012"/>
                  </a:ext>
                </a:extLst>
              </a:tr>
              <a:tr h="12765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Recall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TP / (TP + FN) → how many actual 1s were caught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extLst>
                  <a:ext uri="{0D108BD9-81ED-4DB2-BD59-A6C34878D82A}">
                    <a16:rowId xmlns:a16="http://schemas.microsoft.com/office/drawing/2014/main" val="1646024382"/>
                  </a:ext>
                </a:extLst>
              </a:tr>
              <a:tr h="698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>
                          <a:effectLst/>
                        </a:rPr>
                        <a:t>F1 Score</a:t>
                      </a:r>
                      <a:endParaRPr lang="en-IN" sz="33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300" kern="100" dirty="0">
                          <a:effectLst/>
                        </a:rPr>
                        <a:t>2 × (Precision × Recall) / (Precision + Recall)</a:t>
                      </a:r>
                      <a:endParaRPr lang="en-IN" sz="33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6194" marR="26194" marT="26194" marB="26194" anchor="ctr"/>
                </a:tc>
                <a:extLst>
                  <a:ext uri="{0D108BD9-81ED-4DB2-BD59-A6C34878D82A}">
                    <a16:rowId xmlns:a16="http://schemas.microsoft.com/office/drawing/2014/main" val="340459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91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2FF0-A5EA-8030-44DA-F73D9937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F4521-DB63-8C58-E1D2-3C387AFF5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this </a:t>
            </a:r>
            <a:r>
              <a:rPr lang="en-IN" b="1" dirty="0"/>
              <a:t>confusion matrix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 [[64,  4],</a:t>
            </a:r>
          </a:p>
          <a:p>
            <a:pPr marL="0" indent="0">
              <a:buNone/>
            </a:pPr>
            <a:r>
              <a:rPr lang="en-IN" dirty="0"/>
              <a:t>   [ 3, 29]]</a:t>
            </a:r>
          </a:p>
          <a:p>
            <a:pPr marL="0" lvl="0" indent="0">
              <a:buNone/>
            </a:pPr>
            <a:r>
              <a:rPr lang="en-IN" b="1" dirty="0"/>
              <a:t>TN = 64</a:t>
            </a:r>
            <a:r>
              <a:rPr lang="en-IN" dirty="0"/>
              <a:t> → Model correctly predicted 64 people would not buy the product.</a:t>
            </a:r>
          </a:p>
          <a:p>
            <a:pPr marL="0" lvl="0" indent="0">
              <a:buNone/>
            </a:pPr>
            <a:r>
              <a:rPr lang="en-IN" b="1" dirty="0"/>
              <a:t>FP = 4</a:t>
            </a:r>
            <a:r>
              <a:rPr lang="en-IN" dirty="0"/>
              <a:t> → Model wrongly predicted 4 would buy, but they didn’t.</a:t>
            </a:r>
          </a:p>
          <a:p>
            <a:pPr marL="0" lvl="0" indent="0">
              <a:buNone/>
            </a:pPr>
            <a:r>
              <a:rPr lang="en-IN" b="1" dirty="0"/>
              <a:t>FN = 3</a:t>
            </a:r>
            <a:r>
              <a:rPr lang="en-IN" dirty="0"/>
              <a:t> → Model wrongly predicted 3 would not buy, but they did.</a:t>
            </a:r>
          </a:p>
          <a:p>
            <a:pPr marL="0" lvl="0" indent="0">
              <a:buNone/>
            </a:pPr>
            <a:r>
              <a:rPr lang="en-IN" b="1" dirty="0"/>
              <a:t>TP = 29</a:t>
            </a:r>
            <a:r>
              <a:rPr lang="en-IN" dirty="0"/>
              <a:t> → Model correctly predicted 29 would buy.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053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4797-B1C5-6552-0DBC-F4499F32F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4627563"/>
          </a:xfrm>
        </p:spPr>
        <p:txBody>
          <a:bodyPr/>
          <a:lstStyle/>
          <a:p>
            <a:r>
              <a:rPr lang="en-IN" dirty="0"/>
              <a:t>To truly </a:t>
            </a:r>
            <a:r>
              <a:rPr lang="en-IN" b="1" dirty="0"/>
              <a:t>master model evaluation</a:t>
            </a:r>
            <a:r>
              <a:rPr lang="en-IN" dirty="0"/>
              <a:t>, it’s essential to go </a:t>
            </a:r>
            <a:r>
              <a:rPr lang="en-IN" b="1" dirty="0"/>
              <a:t>beyond accuracy</a:t>
            </a:r>
            <a:r>
              <a:rPr lang="en-IN" dirty="0"/>
              <a:t> — and that’s where the </a:t>
            </a:r>
            <a:r>
              <a:rPr lang="en-IN" b="1" dirty="0"/>
              <a:t>confusion matrix</a:t>
            </a:r>
            <a:r>
              <a:rPr lang="en-IN" dirty="0"/>
              <a:t>, </a:t>
            </a:r>
            <a:r>
              <a:rPr lang="en-IN" b="1" dirty="0"/>
              <a:t>precision</a:t>
            </a:r>
            <a:r>
              <a:rPr lang="en-IN" dirty="0"/>
              <a:t>, </a:t>
            </a:r>
            <a:r>
              <a:rPr lang="en-IN" b="1" dirty="0"/>
              <a:t>recall</a:t>
            </a:r>
            <a:r>
              <a:rPr lang="en-IN" dirty="0"/>
              <a:t>, and </a:t>
            </a:r>
            <a:r>
              <a:rPr lang="en-IN" b="1" dirty="0"/>
              <a:t>F1 score</a:t>
            </a:r>
            <a:r>
              <a:rPr lang="en-IN" dirty="0"/>
              <a:t> come in. Let’s explore this using </a:t>
            </a:r>
            <a:r>
              <a:rPr lang="en-IN" b="1" dirty="0"/>
              <a:t>real-life, high-stakes examples</a:t>
            </a:r>
            <a:r>
              <a:rPr lang="en-IN" dirty="0"/>
              <a:t>, especially where accuracy can </a:t>
            </a:r>
            <a:r>
              <a:rPr lang="en-IN" b="1" dirty="0"/>
              <a:t>mislead you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68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F74E-C894-347E-DD7A-B75B5D2E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Medical Diagnosis: Cancer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643E4-9897-39A4-23C7-541D8B1BA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Imagine you build an ML model to detect </a:t>
            </a:r>
            <a:r>
              <a:rPr lang="en-IN" b="1" dirty="0"/>
              <a:t>cancer</a:t>
            </a:r>
            <a:r>
              <a:rPr lang="en-IN" dirty="0"/>
              <a:t>. You have:</a:t>
            </a:r>
          </a:p>
          <a:p>
            <a:pPr lvl="0"/>
            <a:r>
              <a:rPr lang="en-IN" dirty="0"/>
              <a:t>990 healthy patients (label 0)</a:t>
            </a:r>
          </a:p>
          <a:p>
            <a:pPr lvl="0"/>
            <a:r>
              <a:rPr lang="en-IN" dirty="0"/>
              <a:t>10 patients with cancer (label 1)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7B25C1-1C85-8C8F-929F-E6EB1D59E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217343"/>
              </p:ext>
            </p:extLst>
          </p:nvPr>
        </p:nvGraphicFramePr>
        <p:xfrm>
          <a:off x="1388532" y="3462825"/>
          <a:ext cx="7044267" cy="27484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6262">
                  <a:extLst>
                    <a:ext uri="{9D8B030D-6E8A-4147-A177-3AD203B41FA5}">
                      <a16:colId xmlns:a16="http://schemas.microsoft.com/office/drawing/2014/main" val="2618796056"/>
                    </a:ext>
                  </a:extLst>
                </a:gridCol>
                <a:gridCol w="993425">
                  <a:extLst>
                    <a:ext uri="{9D8B030D-6E8A-4147-A177-3AD203B41FA5}">
                      <a16:colId xmlns:a16="http://schemas.microsoft.com/office/drawing/2014/main" val="4051197206"/>
                    </a:ext>
                  </a:extLst>
                </a:gridCol>
                <a:gridCol w="923168">
                  <a:extLst>
                    <a:ext uri="{9D8B030D-6E8A-4147-A177-3AD203B41FA5}">
                      <a16:colId xmlns:a16="http://schemas.microsoft.com/office/drawing/2014/main" val="681078296"/>
                    </a:ext>
                  </a:extLst>
                </a:gridCol>
                <a:gridCol w="847233">
                  <a:extLst>
                    <a:ext uri="{9D8B030D-6E8A-4147-A177-3AD203B41FA5}">
                      <a16:colId xmlns:a16="http://schemas.microsoft.com/office/drawing/2014/main" val="2286537825"/>
                    </a:ext>
                  </a:extLst>
                </a:gridCol>
                <a:gridCol w="3124179">
                  <a:extLst>
                    <a:ext uri="{9D8B030D-6E8A-4147-A177-3AD203B41FA5}">
                      <a16:colId xmlns:a16="http://schemas.microsoft.com/office/drawing/2014/main" val="3362315357"/>
                    </a:ext>
                  </a:extLst>
                </a:gridCol>
              </a:tblGrid>
              <a:tr h="282778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9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9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9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Actual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                Predicted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7155"/>
                  </a:ext>
                </a:extLst>
              </a:tr>
              <a:tr h="28277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 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 1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extLst>
                  <a:ext uri="{0D108BD9-81ED-4DB2-BD59-A6C34878D82A}">
                    <a16:rowId xmlns:a16="http://schemas.microsoft.com/office/drawing/2014/main" val="2919302468"/>
                  </a:ext>
                </a:extLst>
              </a:tr>
              <a:tr h="8776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980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 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healthy predicted as having cancer (False Positives)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extLst>
                  <a:ext uri="{0D108BD9-81ED-4DB2-BD59-A6C34878D82A}">
                    <a16:rowId xmlns:a16="http://schemas.microsoft.com/office/drawing/2014/main" val="2208023948"/>
                  </a:ext>
                </a:extLst>
              </a:tr>
              <a:tr h="12709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  5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    5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Only 5 of 10 cancers detected (True Positives)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3982" marR="53982" marT="0" marB="0"/>
                </a:tc>
                <a:extLst>
                  <a:ext uri="{0D108BD9-81ED-4DB2-BD59-A6C34878D82A}">
                    <a16:rowId xmlns:a16="http://schemas.microsoft.com/office/drawing/2014/main" val="2898158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346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A936-6B77-5EE9-6679-575356F2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333"/>
            <a:ext cx="10515600" cy="9482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2. Fraud Detection in Banking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E8042-4F20-89A5-5BF0-85EFB1073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602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Let’s say:</a:t>
            </a:r>
          </a:p>
          <a:p>
            <a:pPr marL="0" lvl="0" indent="0">
              <a:buNone/>
            </a:pPr>
            <a:r>
              <a:rPr lang="en-IN" dirty="0"/>
              <a:t>995 transactions are </a:t>
            </a:r>
            <a:r>
              <a:rPr lang="en-IN" b="1" dirty="0"/>
              <a:t>legit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5 are </a:t>
            </a:r>
            <a:r>
              <a:rPr lang="en-IN" b="1" dirty="0"/>
              <a:t>fraudulent</a:t>
            </a:r>
            <a:endParaRPr lang="en-IN" dirty="0"/>
          </a:p>
          <a:p>
            <a:r>
              <a:rPr lang="en-IN" dirty="0"/>
              <a:t>If a model always predicts “legit,” accuracy = 99.5%  but fraud goes undetected.</a:t>
            </a:r>
          </a:p>
          <a:p>
            <a:pPr marL="0" indent="0">
              <a:buNone/>
            </a:pPr>
            <a:r>
              <a:rPr lang="en-IN" b="1" dirty="0"/>
              <a:t>What matters more here?</a:t>
            </a:r>
            <a:endParaRPr lang="en-IN" dirty="0"/>
          </a:p>
          <a:p>
            <a:pPr lvl="0"/>
            <a:r>
              <a:rPr lang="en-IN" b="1" dirty="0"/>
              <a:t>Recall</a:t>
            </a:r>
            <a:r>
              <a:rPr lang="en-IN" dirty="0"/>
              <a:t>: How many frauds were actually caught</a:t>
            </a:r>
          </a:p>
          <a:p>
            <a:pPr lvl="0"/>
            <a:r>
              <a:rPr lang="en-IN" b="1" dirty="0"/>
              <a:t>Precision</a:t>
            </a:r>
            <a:r>
              <a:rPr lang="en-IN" dirty="0"/>
              <a:t>: Of the predicted frauds, how many were truly fraud</a:t>
            </a:r>
          </a:p>
          <a:p>
            <a:r>
              <a:rPr lang="en-IN" dirty="0"/>
              <a:t>Banks care more about </a:t>
            </a:r>
            <a:r>
              <a:rPr lang="en-IN" b="1" dirty="0"/>
              <a:t>catching all frauds</a:t>
            </a:r>
            <a:r>
              <a:rPr lang="en-IN" dirty="0"/>
              <a:t> (high recall) even if they get a few false alarms (lower precision).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337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6D4D-EA3A-98C2-D101-34D04ECF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Email Spam Filter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207F-9123-D9D9-BDD7-2131C952B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Model labels emails as </a:t>
            </a:r>
            <a:r>
              <a:rPr lang="en-IN" b="1" dirty="0"/>
              <a:t>Spam (1)</a:t>
            </a:r>
            <a:r>
              <a:rPr lang="en-IN" dirty="0"/>
              <a:t> or </a:t>
            </a:r>
            <a:r>
              <a:rPr lang="en-IN" b="1" dirty="0"/>
              <a:t>Not Spam (0)</a:t>
            </a:r>
            <a:endParaRPr lang="en-IN" dirty="0"/>
          </a:p>
          <a:p>
            <a:r>
              <a:rPr lang="en-IN" dirty="0"/>
              <a:t>You’d prefer:</a:t>
            </a:r>
          </a:p>
          <a:p>
            <a:pPr lvl="0"/>
            <a:r>
              <a:rPr lang="en-IN" dirty="0"/>
              <a:t>Catching most spam (high </a:t>
            </a:r>
            <a:r>
              <a:rPr lang="en-IN" b="1" dirty="0"/>
              <a:t>Recall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But you hate when it classifies a real email as spam (low </a:t>
            </a:r>
            <a:r>
              <a:rPr lang="en-IN" b="1" dirty="0"/>
              <a:t>Precision</a:t>
            </a:r>
            <a:r>
              <a:rPr lang="en-IN" dirty="0"/>
              <a:t>)</a:t>
            </a:r>
          </a:p>
          <a:p>
            <a:r>
              <a:rPr lang="en-IN" dirty="0"/>
              <a:t>Depending on user tolerance, you may optimize for:</a:t>
            </a:r>
          </a:p>
          <a:p>
            <a:pPr lvl="0"/>
            <a:r>
              <a:rPr lang="en-IN" b="1" dirty="0"/>
              <a:t>Precision</a:t>
            </a:r>
            <a:r>
              <a:rPr lang="en-IN" dirty="0"/>
              <a:t> (to avoid losing important emails)</a:t>
            </a:r>
          </a:p>
          <a:p>
            <a:pPr lvl="0"/>
            <a:r>
              <a:rPr lang="en-IN" dirty="0"/>
              <a:t>Or </a:t>
            </a:r>
            <a:r>
              <a:rPr lang="en-IN" b="1" dirty="0"/>
              <a:t>Recall</a:t>
            </a:r>
            <a:r>
              <a:rPr lang="en-IN" dirty="0"/>
              <a:t> (to block all junk)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25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567C9-BE0B-ECE8-8024-C4B69F3E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F1 Score: Why It’s So Important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46CED-1765-322A-5CDB-F1F3683DA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IN" dirty="0"/>
              <a:t>When there's a trade-off between </a:t>
            </a:r>
            <a:r>
              <a:rPr lang="en-IN" b="1" dirty="0"/>
              <a:t>Precision</a:t>
            </a:r>
            <a:r>
              <a:rPr lang="en-IN" dirty="0"/>
              <a:t> and </a:t>
            </a:r>
            <a:r>
              <a:rPr lang="en-IN" b="1" dirty="0"/>
              <a:t>Recall</a:t>
            </a:r>
            <a:r>
              <a:rPr lang="en-IN" dirty="0"/>
              <a:t>, we use the </a:t>
            </a:r>
            <a:r>
              <a:rPr lang="en-IN" b="1" dirty="0"/>
              <a:t>F1 score</a:t>
            </a:r>
            <a:r>
              <a:rPr lang="en-IN" dirty="0"/>
              <a:t>:</a:t>
            </a:r>
          </a:p>
          <a:p>
            <a:r>
              <a:rPr lang="en-IN" b="1" dirty="0"/>
              <a:t>F1 </a:t>
            </a:r>
            <a:r>
              <a:rPr lang="en-IN" dirty="0"/>
              <a:t>= 2×(Precision×Recall)/(</a:t>
            </a:r>
            <a:r>
              <a:rPr lang="en-IN" dirty="0" err="1"/>
              <a:t>Precision+Recall</a:t>
            </a:r>
            <a:r>
              <a:rPr lang="en-IN" dirty="0"/>
              <a:t>)  </a:t>
            </a:r>
          </a:p>
          <a:p>
            <a:r>
              <a:rPr lang="en-IN" dirty="0"/>
              <a:t>It is:</a:t>
            </a:r>
          </a:p>
          <a:p>
            <a:pPr lvl="0"/>
            <a:r>
              <a:rPr lang="en-IN" b="1" dirty="0"/>
              <a:t>High</a:t>
            </a:r>
            <a:r>
              <a:rPr lang="en-IN" dirty="0"/>
              <a:t> only when </a:t>
            </a:r>
            <a:r>
              <a:rPr lang="en-IN" b="1" dirty="0"/>
              <a:t>both precision and recall are high</a:t>
            </a:r>
            <a:endParaRPr lang="en-IN" dirty="0"/>
          </a:p>
          <a:p>
            <a:pPr lvl="0"/>
            <a:r>
              <a:rPr lang="en-IN" dirty="0"/>
              <a:t>A good metric for </a:t>
            </a:r>
            <a:r>
              <a:rPr lang="en-IN" b="1" dirty="0"/>
              <a:t>imbalanced datasets</a:t>
            </a:r>
            <a:endParaRPr lang="en-IN" dirty="0"/>
          </a:p>
          <a:p>
            <a:pPr lvl="0"/>
            <a:r>
              <a:rPr lang="en-IN" dirty="0"/>
              <a:t>Especially useful when </a:t>
            </a:r>
            <a:r>
              <a:rPr lang="en-IN" b="1" dirty="0"/>
              <a:t>False Negatives and False Positives</a:t>
            </a:r>
            <a:r>
              <a:rPr lang="en-IN" dirty="0"/>
              <a:t> are equally important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007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08F6-9124-51B1-4FF1-C8E772C2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7942"/>
          </a:xfrm>
        </p:spPr>
        <p:txBody>
          <a:bodyPr/>
          <a:lstStyle/>
          <a:p>
            <a:r>
              <a:rPr lang="en-IN" b="1" dirty="0"/>
              <a:t>Summary Table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28BCA1-4340-9982-A71D-A1A0887CC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444876"/>
              </p:ext>
            </p:extLst>
          </p:nvPr>
        </p:nvGraphicFramePr>
        <p:xfrm>
          <a:off x="838200" y="1608667"/>
          <a:ext cx="10515600" cy="44534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1405790800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286363795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732721806"/>
                    </a:ext>
                  </a:extLst>
                </a:gridCol>
              </a:tblGrid>
              <a:tr h="12677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Metric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                   Best When...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           Not Great When...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5162040"/>
                  </a:ext>
                </a:extLst>
              </a:tr>
              <a:tr h="6740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Accuracy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Data is balanced, all errors are equal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Data is imbalanced, or FN ≠ FP in cost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4897021"/>
                  </a:ext>
                </a:extLst>
              </a:tr>
              <a:tr h="8232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Precision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You want few false positives (e.g., email spam)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Don’t care about missing some positives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79441936"/>
                  </a:ext>
                </a:extLst>
              </a:tr>
              <a:tr h="1109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Recall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You want few false negatives (e.g., cancer)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Don’t care about false alarms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65455765"/>
                  </a:ext>
                </a:extLst>
              </a:tr>
              <a:tr h="5783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F1 Score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Need balance of precision &amp; recall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You want to </a:t>
                      </a:r>
                      <a:r>
                        <a:rPr lang="en-IN" sz="2000" kern="100" dirty="0" err="1">
                          <a:effectLst/>
                        </a:rPr>
                        <a:t>favor</a:t>
                      </a:r>
                      <a:r>
                        <a:rPr lang="en-IN" sz="2000" kern="100" dirty="0">
                          <a:effectLst/>
                        </a:rPr>
                        <a:t> one metric strongly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51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084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695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Confusion Matrix</vt:lpstr>
      <vt:lpstr>What is a Confusion Matrix? </vt:lpstr>
      <vt:lpstr>PowerPoint Presentation</vt:lpstr>
      <vt:lpstr>PowerPoint Presentation</vt:lpstr>
      <vt:lpstr>Example</vt:lpstr>
      <vt:lpstr>PowerPoint Presentation</vt:lpstr>
      <vt:lpstr>1. Medical Diagnosis: Cancer Detection</vt:lpstr>
      <vt:lpstr>2. Fraud Detection in Banking </vt:lpstr>
      <vt:lpstr>3. Email Spam Filter </vt:lpstr>
      <vt:lpstr>F1 Score: Why It’s So Important </vt:lpstr>
      <vt:lpstr>Summary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3</cp:revision>
  <dcterms:created xsi:type="dcterms:W3CDTF">2025-06-27T04:19:02Z</dcterms:created>
  <dcterms:modified xsi:type="dcterms:W3CDTF">2025-06-27T13:29:20Z</dcterms:modified>
</cp:coreProperties>
</file>